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Lexend Light"/>
      <p:regular r:id="rId40"/>
      <p:bold r:id="rId41"/>
    </p:embeddedFont>
    <p:embeddedFont>
      <p:font typeface="Average"/>
      <p:regular r:id="rId42"/>
    </p:embeddedFont>
    <p:embeddedFont>
      <p:font typeface="Lexend"/>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FC03A9-47D9-4AA8-8C62-325A597B4E3A}">
  <a:tblStyle styleId="{32FC03A9-47D9-4AA8-8C62-325A597B4E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F88A327-D300-4858-9E8A-C85DB80E53C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exendLight-regular.fntdata"/><Relationship Id="rId20" Type="http://schemas.openxmlformats.org/officeDocument/2006/relationships/slide" Target="slides/slide14.xml"/><Relationship Id="rId42" Type="http://schemas.openxmlformats.org/officeDocument/2006/relationships/font" Target="fonts/Average-regular.fntdata"/><Relationship Id="rId41" Type="http://schemas.openxmlformats.org/officeDocument/2006/relationships/font" Target="fonts/LexendLight-bold.fntdata"/><Relationship Id="rId22" Type="http://schemas.openxmlformats.org/officeDocument/2006/relationships/slide" Target="slides/slide16.xml"/><Relationship Id="rId44" Type="http://schemas.openxmlformats.org/officeDocument/2006/relationships/font" Target="fonts/Lexend-bold.fntdata"/><Relationship Id="rId21" Type="http://schemas.openxmlformats.org/officeDocument/2006/relationships/slide" Target="slides/slide15.xml"/><Relationship Id="rId43" Type="http://schemas.openxmlformats.org/officeDocument/2006/relationships/font" Target="fonts/Lexend-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aade1381c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7aade1381c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855910d3b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3855910d3bd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855910d3b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855910d3bd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aade1381c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7aade1381c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aade1381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aade1381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7aade1381c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7aade1381c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aade1381c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aade1381c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855910d3b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3855910d3bd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55910d3b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855910d3bd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55910d3b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855910d3bd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55910d3b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855910d3bd_0_1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55910d3b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855910d3bd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55910d3b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g3855910d3bd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667d2859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667d2859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855910d3b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855910d3bd_0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855910d3bd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855910d3bd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55910d3bd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855910d3bd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55910d3bd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g3855910d3bd_0_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55910d3bd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855910d3bd_0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55910d3bd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855910d3bd_0_4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855910d3bd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855910d3bd_0_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55910d3bd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855910d3bd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855910d3bd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855910d3bd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55910d3b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855910d3bd_0_2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855910d3bd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855910d3bd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855910d3bd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3855910d3bd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855910d3bd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855910d3bd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855910d3bd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855910d3bd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55910d3bd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g3855910d3bd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855910d3bd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855910d3bd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55910d3bd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855910d3bd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667d2859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667d2859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7D8FF">
            <a:alpha val="380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hyperlink" Target="http://drive.google.com/file/d/1QKEeogKOKtsvbvULwz06ARmxbIW79uRM/view" TargetMode="External"/><Relationship Id="rId5"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www.youtube.com/watch?v=LAKlmdMHpdE" TargetMode="External"/><Relationship Id="rId4" Type="http://schemas.openxmlformats.org/officeDocument/2006/relationships/image" Target="../media/image17.jpg"/><Relationship Id="rId5" Type="http://schemas.openxmlformats.org/officeDocument/2006/relationships/hyperlink" Target="http://drive.google.com/file/d/1O-FQrkr73lAc0e9JIJ3PY79WtAYL9NEF/view" TargetMode="External"/><Relationship Id="rId6" Type="http://schemas.openxmlformats.org/officeDocument/2006/relationships/image" Target="../media/image4.jpg"/><Relationship Id="rId7" Type="http://schemas.openxmlformats.org/officeDocument/2006/relationships/hyperlink" Target="http://www.youtube.com/watch?v=dloyfUXjJzs" TargetMode="External"/><Relationship Id="rId8"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fE9w6waI_hQx0XcW_siLGjoLHvWLYjSf/view" TargetMode="External"/><Relationship Id="rId4" Type="http://schemas.openxmlformats.org/officeDocument/2006/relationships/image" Target="../media/image1.jpg"/><Relationship Id="rId5" Type="http://schemas.openxmlformats.org/officeDocument/2006/relationships/hyperlink" Target="http://www.youtube.com/watch?v=h7G1r-aU-lI" TargetMode="External"/><Relationship Id="rId6" Type="http://schemas.openxmlformats.org/officeDocument/2006/relationships/image" Target="../media/image7.jpg"/><Relationship Id="rId7" Type="http://schemas.openxmlformats.org/officeDocument/2006/relationships/image" Target="../media/image30.png"/><Relationship Id="rId8"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jwOfX0aIGZaMSboPodyoTwZ2FPczywX4/view" TargetMode="External"/><Relationship Id="rId4" Type="http://schemas.openxmlformats.org/officeDocument/2006/relationships/image" Target="../media/image10.jpg"/><Relationship Id="rId5" Type="http://schemas.openxmlformats.org/officeDocument/2006/relationships/hyperlink" Target="http://www.youtube.com/watch?v=48RbpaWIzfQ" TargetMode="External"/><Relationship Id="rId6" Type="http://schemas.openxmlformats.org/officeDocument/2006/relationships/image" Target="../media/image9.jpg"/><Relationship Id="rId7"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hyperlink" Target="http://www.youtube.com/watch?v=qRlN1OvoNzM" TargetMode="External"/><Relationship Id="rId5" Type="http://schemas.openxmlformats.org/officeDocument/2006/relationships/image" Target="../media/image2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4.png"/><Relationship Id="rId4" Type="http://schemas.openxmlformats.org/officeDocument/2006/relationships/image" Target="../media/image16.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drive.google.com/file/d/1uIr7OEZ6yAUMkQaxxyc_558gUJuZjYR6/view" TargetMode="External"/><Relationship Id="rId4"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drive.google.com/file/d/1mBarCzmy0JNt5yM3wCUTy7JXB5o9IgK_/view" TargetMode="External"/><Relationship Id="rId4" Type="http://schemas.openxmlformats.org/officeDocument/2006/relationships/image" Target="../media/image20.jpg"/><Relationship Id="rId5" Type="http://schemas.openxmlformats.org/officeDocument/2006/relationships/image" Target="../media/image28.png"/><Relationship Id="rId6" Type="http://schemas.openxmlformats.org/officeDocument/2006/relationships/hyperlink" Target="http://drive.google.com/file/d/19LqzPdISHUwyLjPUXvEzs5JuuNka3GQp/view" TargetMode="External"/><Relationship Id="rId7"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drive.google.com/file/d/1_7gwmTlhUaAetoENznZECaQxG4WNfcOV/view" TargetMode="External"/><Relationship Id="rId4" Type="http://schemas.openxmlformats.org/officeDocument/2006/relationships/image" Target="../media/image24.jpg"/><Relationship Id="rId5" Type="http://schemas.openxmlformats.org/officeDocument/2006/relationships/hyperlink" Target="http://drive.google.com/file/d/1GeXtFjPW7jJ5V2DhZ6cjN-MNBkluuD_r/view" TargetMode="External"/><Relationship Id="rId6" Type="http://schemas.openxmlformats.org/officeDocument/2006/relationships/image" Target="../media/image41.jpg"/><Relationship Id="rId7" Type="http://schemas.openxmlformats.org/officeDocument/2006/relationships/hyperlink" Target="http://drive.google.com/file/d/1DeL5kDndUoPWYqShBvYp0xnOjkcDgyAA/view" TargetMode="External"/><Relationship Id="rId8" Type="http://schemas.openxmlformats.org/officeDocument/2006/relationships/image" Target="../media/image3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www.youtube.com/watch?v=A5zlhbmBghI" TargetMode="External"/><Relationship Id="rId4" Type="http://schemas.openxmlformats.org/officeDocument/2006/relationships/image" Target="../media/image3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www.youtube.com/watch?v=FkX-t0Pgzzs" TargetMode="External"/><Relationship Id="rId4" Type="http://schemas.openxmlformats.org/officeDocument/2006/relationships/image" Target="../media/image31.jpg"/><Relationship Id="rId5" Type="http://schemas.openxmlformats.org/officeDocument/2006/relationships/hyperlink" Target="http://www.youtube.com/watch?v=n34OnLnKzIg" TargetMode="External"/><Relationship Id="rId6" Type="http://schemas.openxmlformats.org/officeDocument/2006/relationships/image" Target="../media/image40.jpg"/><Relationship Id="rId7"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6.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www.youtube.com/watch?v=cPiINrpQEgI" TargetMode="External"/><Relationship Id="rId4" Type="http://schemas.openxmlformats.org/officeDocument/2006/relationships/hyperlink" Target="http://drive.google.com/file/d/1GFow5pv84fdvmbCpPkIRF4tC_iKMOyhk/view" TargetMode="External"/><Relationship Id="rId9" Type="http://schemas.openxmlformats.org/officeDocument/2006/relationships/image" Target="../media/image43.jpg"/><Relationship Id="rId5" Type="http://schemas.openxmlformats.org/officeDocument/2006/relationships/image" Target="../media/image52.jpg"/><Relationship Id="rId6" Type="http://schemas.openxmlformats.org/officeDocument/2006/relationships/hyperlink" Target="http://drive.google.com/file/d/1SzlG6Zk1mpN6Eihnenpu0RPLToeiul5Y/view" TargetMode="External"/><Relationship Id="rId7" Type="http://schemas.openxmlformats.org/officeDocument/2006/relationships/image" Target="../media/image47.jpg"/><Relationship Id="rId8" Type="http://schemas.openxmlformats.org/officeDocument/2006/relationships/hyperlink" Target="http://drive.google.com/file/d/1VX3D48AgODoAQVO8x4lTga8BhkdNEy8K/view"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creenshot 2025-09-01 at 3.34.58 PM.png"/>
          <p:cNvPicPr preferRelativeResize="0"/>
          <p:nvPr/>
        </p:nvPicPr>
        <p:blipFill rotWithShape="1">
          <a:blip r:embed="rId3">
            <a:alphaModFix/>
          </a:blip>
          <a:srcRect b="0" l="0" r="0" t="50937"/>
          <a:stretch/>
        </p:blipFill>
        <p:spPr>
          <a:xfrm>
            <a:off x="913475" y="2929575"/>
            <a:ext cx="6174937" cy="652225"/>
          </a:xfrm>
          <a:prstGeom prst="rect">
            <a:avLst/>
          </a:prstGeom>
          <a:noFill/>
          <a:ln>
            <a:noFill/>
          </a:ln>
        </p:spPr>
      </p:pic>
      <p:sp>
        <p:nvSpPr>
          <p:cNvPr id="55" name="Google Shape;55;p13"/>
          <p:cNvSpPr txBox="1"/>
          <p:nvPr/>
        </p:nvSpPr>
        <p:spPr>
          <a:xfrm>
            <a:off x="7226525" y="0"/>
            <a:ext cx="1914600" cy="461700"/>
          </a:xfrm>
          <a:prstGeom prst="rect">
            <a:avLst/>
          </a:prstGeom>
          <a:solidFill>
            <a:srgbClr val="FFFF00"/>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800">
                <a:solidFill>
                  <a:srgbClr val="595959"/>
                </a:solidFill>
                <a:latin typeface="Georgia"/>
                <a:ea typeface="Georgia"/>
                <a:cs typeface="Georgia"/>
                <a:sym typeface="Georgia"/>
              </a:rPr>
              <a:t>Design in theory</a:t>
            </a:r>
            <a:endParaRPr sz="1800">
              <a:solidFill>
                <a:srgbClr val="595959"/>
              </a:solidFill>
              <a:latin typeface="Georgia"/>
              <a:ea typeface="Georgia"/>
              <a:cs typeface="Georgia"/>
              <a:sym typeface="Georgia"/>
            </a:endParaRPr>
          </a:p>
        </p:txBody>
      </p:sp>
      <p:sp>
        <p:nvSpPr>
          <p:cNvPr id="56" name="Google Shape;56;p13"/>
          <p:cNvSpPr txBox="1"/>
          <p:nvPr/>
        </p:nvSpPr>
        <p:spPr>
          <a:xfrm>
            <a:off x="311700" y="614159"/>
            <a:ext cx="8520600" cy="1892100"/>
          </a:xfrm>
          <a:prstGeom prst="rect">
            <a:avLst/>
          </a:prstGeom>
          <a:solidFill>
            <a:srgbClr val="EEFF41"/>
          </a:solidFill>
          <a:ln>
            <a:noFill/>
          </a:ln>
        </p:spPr>
        <p:txBody>
          <a:bodyPr anchorCtr="0" anchor="b" bIns="91425" lIns="91425" spcFirstLastPara="1" rIns="91425" wrap="square" tIns="91425">
            <a:normAutofit/>
          </a:bodyPr>
          <a:lstStyle/>
          <a:p>
            <a:pPr indent="0" lvl="0" marL="0" rtl="0" algn="ctr">
              <a:spcBef>
                <a:spcPts val="0"/>
              </a:spcBef>
              <a:spcAft>
                <a:spcPts val="0"/>
              </a:spcAft>
              <a:buNone/>
            </a:pPr>
            <a:r>
              <a:rPr lang="en-GB" sz="5200"/>
              <a:t>Ergonomics</a:t>
            </a:r>
            <a:endParaRPr sz="5200">
              <a:solidFill>
                <a:srgbClr val="000000"/>
              </a:solidFill>
            </a:endParaRPr>
          </a:p>
        </p:txBody>
      </p:sp>
      <p:pic>
        <p:nvPicPr>
          <p:cNvPr id="57" name="Google Shape;57;p13" title="ques.png"/>
          <p:cNvPicPr preferRelativeResize="0"/>
          <p:nvPr/>
        </p:nvPicPr>
        <p:blipFill>
          <a:blip r:embed="rId4">
            <a:alphaModFix/>
          </a:blip>
          <a:stretch>
            <a:fillRect/>
          </a:stretch>
        </p:blipFill>
        <p:spPr>
          <a:xfrm>
            <a:off x="318200" y="2926136"/>
            <a:ext cx="595274" cy="5794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109178"/>
            <a:ext cx="8520600" cy="572700"/>
          </a:xfrm>
          <a:prstGeom prst="rect">
            <a:avLst/>
          </a:prstGeom>
          <a:solidFill>
            <a:schemeClr val="accent5"/>
          </a:solidFill>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solidFill>
                  <a:schemeClr val="lt1"/>
                </a:solidFill>
                <a:latin typeface="Average"/>
                <a:ea typeface="Average"/>
                <a:cs typeface="Average"/>
                <a:sym typeface="Average"/>
              </a:rPr>
              <a:t>Contents</a:t>
            </a:r>
            <a:endParaRPr>
              <a:solidFill>
                <a:schemeClr val="lt1"/>
              </a:solidFill>
              <a:latin typeface="Average"/>
              <a:ea typeface="Average"/>
              <a:cs typeface="Average"/>
              <a:sym typeface="Average"/>
            </a:endParaRPr>
          </a:p>
        </p:txBody>
      </p:sp>
      <p:graphicFrame>
        <p:nvGraphicFramePr>
          <p:cNvPr id="63" name="Google Shape;63;p14"/>
          <p:cNvGraphicFramePr/>
          <p:nvPr/>
        </p:nvGraphicFramePr>
        <p:xfrm>
          <a:off x="311700" y="747568"/>
          <a:ext cx="3000000" cy="3000000"/>
        </p:xfrm>
        <a:graphic>
          <a:graphicData uri="http://schemas.openxmlformats.org/drawingml/2006/table">
            <a:tbl>
              <a:tblPr>
                <a:noFill/>
                <a:tableStyleId>{32FC03A9-47D9-4AA8-8C62-325A597B4E3A}</a:tableStyleId>
              </a:tblPr>
              <a:tblGrid>
                <a:gridCol w="2487050"/>
                <a:gridCol w="6033550"/>
              </a:tblGrid>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Ergonomics</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Describe how </a:t>
                      </a:r>
                      <a:r>
                        <a:rPr lang="en-GB" sz="1200">
                          <a:latin typeface="Lexend Light"/>
                          <a:ea typeface="Lexend Light"/>
                          <a:cs typeface="Lexend Light"/>
                          <a:sym typeface="Lexend Light"/>
                        </a:rPr>
                        <a:t>ergonomics</a:t>
                      </a:r>
                      <a:r>
                        <a:rPr lang="en-GB" sz="1200">
                          <a:latin typeface="Lexend Light"/>
                          <a:ea typeface="Lexend Light"/>
                          <a:cs typeface="Lexend Light"/>
                          <a:sym typeface="Lexend Light"/>
                        </a:rPr>
                        <a:t> is used to improve the design of a product by making a design more efficient, usable, functional, </a:t>
                      </a:r>
                      <a:r>
                        <a:rPr lang="en-GB" sz="1200">
                          <a:latin typeface="Lexend Light"/>
                          <a:ea typeface="Lexend Light"/>
                          <a:cs typeface="Lexend Light"/>
                          <a:sym typeface="Lexend Light"/>
                        </a:rPr>
                        <a:t>effective</a:t>
                      </a:r>
                      <a:r>
                        <a:rPr lang="en-GB" sz="1200">
                          <a:latin typeface="Lexend Light"/>
                          <a:ea typeface="Lexend Light"/>
                          <a:cs typeface="Lexend Light"/>
                          <a:sym typeface="Lexend Light"/>
                        </a:rPr>
                        <a:t> and safe.</a:t>
                      </a:r>
                      <a:endParaRPr sz="1200">
                        <a:latin typeface="Lexend Light"/>
                        <a:ea typeface="Lexend Light"/>
                        <a:cs typeface="Lexend Light"/>
                        <a:sym typeface="Lexend Light"/>
                      </a:endParaRPr>
                    </a:p>
                  </a:txBody>
                  <a:tcPr marT="91425" marB="91425" marR="91425" marL="91425"/>
                </a:tc>
              </a:tr>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Anthropometrics</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Explain</a:t>
                      </a:r>
                      <a:r>
                        <a:rPr lang="en-GB" sz="1200">
                          <a:latin typeface="Lexend Light"/>
                          <a:ea typeface="Lexend Light"/>
                          <a:cs typeface="Lexend Light"/>
                          <a:sym typeface="Lexend Light"/>
                        </a:rPr>
                        <a:t> and use static and </a:t>
                      </a:r>
                      <a:r>
                        <a:rPr lang="en-GB" sz="1200">
                          <a:latin typeface="Lexend Light"/>
                          <a:ea typeface="Lexend Light"/>
                          <a:cs typeface="Lexend Light"/>
                          <a:sym typeface="Lexend Light"/>
                        </a:rPr>
                        <a:t>dynamic</a:t>
                      </a:r>
                      <a:r>
                        <a:rPr lang="en-GB" sz="1200">
                          <a:latin typeface="Lexend Light"/>
                          <a:ea typeface="Lexend Light"/>
                          <a:cs typeface="Lexend Light"/>
                          <a:sym typeface="Lexend Light"/>
                        </a:rPr>
                        <a:t> </a:t>
                      </a:r>
                      <a:r>
                        <a:rPr lang="en-GB" sz="1200">
                          <a:latin typeface="Lexend Light"/>
                          <a:ea typeface="Lexend Light"/>
                          <a:cs typeface="Lexend Light"/>
                          <a:sym typeface="Lexend Light"/>
                        </a:rPr>
                        <a:t>anthropometric</a:t>
                      </a:r>
                      <a:r>
                        <a:rPr lang="en-GB" sz="1200">
                          <a:latin typeface="Lexend Light"/>
                          <a:ea typeface="Lexend Light"/>
                          <a:cs typeface="Lexend Light"/>
                          <a:sym typeface="Lexend Light"/>
                        </a:rPr>
                        <a:t> data to design for </a:t>
                      </a:r>
                      <a:r>
                        <a:rPr lang="en-GB" sz="1200">
                          <a:latin typeface="Lexend Light"/>
                          <a:ea typeface="Lexend Light"/>
                          <a:cs typeface="Lexend Light"/>
                          <a:sym typeface="Lexend Light"/>
                        </a:rPr>
                        <a:t>different</a:t>
                      </a:r>
                      <a:r>
                        <a:rPr lang="en-GB" sz="1200">
                          <a:latin typeface="Lexend Light"/>
                          <a:ea typeface="Lexend Light"/>
                          <a:cs typeface="Lexend Light"/>
                          <a:sym typeface="Lexend Light"/>
                        </a:rPr>
                        <a:t> people and able to discuss how factors such as age, gender, </a:t>
                      </a:r>
                      <a:r>
                        <a:rPr lang="en-GB" sz="1200">
                          <a:latin typeface="Lexend Light"/>
                          <a:ea typeface="Lexend Light"/>
                          <a:cs typeface="Lexend Light"/>
                          <a:sym typeface="Lexend Light"/>
                        </a:rPr>
                        <a:t>ethnicity and disability affect the anthropometric data.`</a:t>
                      </a:r>
                      <a:r>
                        <a:rPr lang="en-GB" sz="1200">
                          <a:latin typeface="Lexend Light"/>
                          <a:ea typeface="Lexend Light"/>
                          <a:cs typeface="Lexend Light"/>
                          <a:sym typeface="Lexend Light"/>
                        </a:rPr>
                        <a:t> k</a:t>
                      </a:r>
                      <a:endParaRPr sz="1200">
                        <a:latin typeface="Lexend Light"/>
                        <a:ea typeface="Lexend Light"/>
                        <a:cs typeface="Lexend Light"/>
                        <a:sym typeface="Lexend Light"/>
                      </a:endParaRPr>
                    </a:p>
                  </a:txBody>
                  <a:tcPr marT="91425" marB="91425" marR="91425" marL="91425"/>
                </a:tc>
              </a:tr>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Percentile and percentile range</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Identify </a:t>
                      </a:r>
                      <a:r>
                        <a:rPr lang="en-GB" sz="1200">
                          <a:latin typeface="Lexend Light"/>
                          <a:ea typeface="Lexend Light"/>
                          <a:cs typeface="Lexend Light"/>
                          <a:sym typeface="Lexend Light"/>
                        </a:rPr>
                        <a:t>where</a:t>
                      </a:r>
                      <a:r>
                        <a:rPr lang="en-GB" sz="1200">
                          <a:latin typeface="Lexend Light"/>
                          <a:ea typeface="Lexend Light"/>
                          <a:cs typeface="Lexend Light"/>
                          <a:sym typeface="Lexend Light"/>
                        </a:rPr>
                        <a:t> the 5th, 50th and 95th percentiles are appropriate for a design scenario.</a:t>
                      </a:r>
                      <a:endParaRPr sz="1200">
                        <a:latin typeface="Lexend Light"/>
                        <a:ea typeface="Lexend Light"/>
                        <a:cs typeface="Lexend Light"/>
                        <a:sym typeface="Lexend Light"/>
                      </a:endParaRPr>
                    </a:p>
                    <a:p>
                      <a:pPr indent="0" lvl="0" marL="0" rtl="0" algn="l">
                        <a:spcBef>
                          <a:spcPts val="0"/>
                        </a:spcBef>
                        <a:spcAft>
                          <a:spcPts val="0"/>
                        </a:spcAft>
                        <a:buNone/>
                      </a:pPr>
                      <a:r>
                        <a:rPr lang="en-GB" sz="1200">
                          <a:latin typeface="Lexend Light"/>
                          <a:ea typeface="Lexend Light"/>
                          <a:cs typeface="Lexend Light"/>
                          <a:sym typeface="Lexend Light"/>
                        </a:rPr>
                        <a:t>Explain</a:t>
                      </a:r>
                      <a:r>
                        <a:rPr lang="en-GB" sz="1200">
                          <a:latin typeface="Lexend Light"/>
                          <a:ea typeface="Lexend Light"/>
                          <a:cs typeface="Lexend Light"/>
                          <a:sym typeface="Lexend Light"/>
                        </a:rPr>
                        <a:t> the reason why designers choose adjustability and/or range of sizes for a product and identify products that use one or both </a:t>
                      </a:r>
                      <a:r>
                        <a:rPr lang="en-GB" sz="1200">
                          <a:latin typeface="Lexend Light"/>
                          <a:ea typeface="Lexend Light"/>
                          <a:cs typeface="Lexend Light"/>
                          <a:sym typeface="Lexend Light"/>
                        </a:rPr>
                        <a:t>strategies</a:t>
                      </a:r>
                      <a:r>
                        <a:rPr lang="en-GB" sz="1200">
                          <a:latin typeface="Lexend Light"/>
                          <a:ea typeface="Lexend Light"/>
                          <a:cs typeface="Lexend Light"/>
                          <a:sym typeface="Lexend Light"/>
                        </a:rPr>
                        <a:t>.</a:t>
                      </a:r>
                      <a:endParaRPr sz="1200">
                        <a:latin typeface="Lexend Light"/>
                        <a:ea typeface="Lexend Light"/>
                        <a:cs typeface="Lexend Light"/>
                        <a:sym typeface="Lexend Light"/>
                      </a:endParaRPr>
                    </a:p>
                  </a:txBody>
                  <a:tcPr marT="91425" marB="91425" marR="91425" marL="91425"/>
                </a:tc>
              </a:tr>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Workspace </a:t>
                      </a:r>
                      <a:r>
                        <a:rPr b="1" lang="en-GB" sz="1300">
                          <a:solidFill>
                            <a:srgbClr val="0B5394"/>
                          </a:solidFill>
                          <a:latin typeface="Lexend"/>
                          <a:ea typeface="Lexend"/>
                          <a:cs typeface="Lexend"/>
                          <a:sym typeface="Lexend"/>
                        </a:rPr>
                        <a:t>envelope</a:t>
                      </a:r>
                      <a:r>
                        <a:rPr b="1" lang="en-GB" sz="1300">
                          <a:solidFill>
                            <a:srgbClr val="0B5394"/>
                          </a:solidFill>
                          <a:latin typeface="Lexend"/>
                          <a:ea typeface="Lexend"/>
                          <a:cs typeface="Lexend"/>
                          <a:sym typeface="Lexend"/>
                        </a:rPr>
                        <a:t>, </a:t>
                      </a:r>
                      <a:r>
                        <a:rPr b="1" lang="en-GB" sz="1300">
                          <a:solidFill>
                            <a:srgbClr val="0B5394"/>
                          </a:solidFill>
                          <a:latin typeface="Lexend"/>
                          <a:ea typeface="Lexend"/>
                          <a:cs typeface="Lexend"/>
                          <a:sym typeface="Lexend"/>
                        </a:rPr>
                        <a:t>adjustability</a:t>
                      </a:r>
                      <a:r>
                        <a:rPr b="1" lang="en-GB" sz="1300">
                          <a:solidFill>
                            <a:srgbClr val="0B5394"/>
                          </a:solidFill>
                          <a:latin typeface="Lexend"/>
                          <a:ea typeface="Lexend"/>
                          <a:cs typeface="Lexend"/>
                          <a:sym typeface="Lexend"/>
                        </a:rPr>
                        <a:t>, reach, clearance and range of sizes</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Explain the importance of workspace envelope, adjustability, reach and range of sizes </a:t>
                      </a:r>
                      <a:r>
                        <a:rPr lang="en-GB" sz="1200">
                          <a:latin typeface="Lexend Light"/>
                          <a:ea typeface="Lexend Light"/>
                          <a:cs typeface="Lexend Light"/>
                          <a:sym typeface="Lexend Light"/>
                        </a:rPr>
                        <a:t>i</a:t>
                      </a:r>
                      <a:r>
                        <a:rPr lang="en-GB" sz="1200">
                          <a:latin typeface="Lexend Light"/>
                          <a:ea typeface="Lexend Light"/>
                          <a:cs typeface="Lexend Light"/>
                          <a:sym typeface="Lexend Light"/>
                        </a:rPr>
                        <a:t>n </a:t>
                      </a:r>
                      <a:r>
                        <a:rPr lang="en-GB" sz="1200">
                          <a:latin typeface="Lexend Light"/>
                          <a:ea typeface="Lexend Light"/>
                          <a:cs typeface="Lexend Light"/>
                          <a:sym typeface="Lexend Light"/>
                        </a:rPr>
                        <a:t>relation to</a:t>
                      </a:r>
                      <a:r>
                        <a:rPr lang="en-GB" sz="1200">
                          <a:latin typeface="Lexend Light"/>
                          <a:ea typeface="Lexend Light"/>
                          <a:cs typeface="Lexend Light"/>
                          <a:sym typeface="Lexend Light"/>
                        </a:rPr>
                        <a:t> percentiles and how they are used when designing products.</a:t>
                      </a:r>
                      <a:endParaRPr sz="1200">
                        <a:latin typeface="Lexend Light"/>
                        <a:ea typeface="Lexend Light"/>
                        <a:cs typeface="Lexend Light"/>
                        <a:sym typeface="Lexend Light"/>
                      </a:endParaRPr>
                    </a:p>
                  </a:txBody>
                  <a:tcPr marT="91425" marB="91425" marR="91425" marL="91425"/>
                </a:tc>
              </a:tr>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Physiology </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Explain limiting aspects of user’s capabilities, including users’ visual </a:t>
                      </a:r>
                      <a:r>
                        <a:rPr lang="en-GB" sz="1200">
                          <a:latin typeface="Lexend Light"/>
                          <a:ea typeface="Lexend Light"/>
                          <a:cs typeface="Lexend Light"/>
                          <a:sym typeface="Lexend Light"/>
                        </a:rPr>
                        <a:t>accuracy</a:t>
                      </a:r>
                      <a:r>
                        <a:rPr lang="en-GB" sz="1200">
                          <a:latin typeface="Lexend Light"/>
                          <a:ea typeface="Lexend Light"/>
                          <a:cs typeface="Lexend Light"/>
                          <a:sym typeface="Lexend Light"/>
                        </a:rPr>
                        <a:t>, colour perceptions, </a:t>
                      </a:r>
                      <a:r>
                        <a:rPr lang="en-GB" sz="1200">
                          <a:latin typeface="Lexend Light"/>
                          <a:ea typeface="Lexend Light"/>
                          <a:cs typeface="Lexend Light"/>
                          <a:sym typeface="Lexend Light"/>
                        </a:rPr>
                        <a:t>strengths, fatigue, muscle control and hearing thresholds.</a:t>
                      </a:r>
                      <a:endParaRPr sz="1200">
                        <a:latin typeface="Lexend Light"/>
                        <a:ea typeface="Lexend Light"/>
                        <a:cs typeface="Lexend Light"/>
                        <a:sym typeface="Lexend Light"/>
                      </a:endParaRPr>
                    </a:p>
                  </a:txBody>
                  <a:tcPr marT="91425" marB="91425" marR="91425" marL="91425"/>
                </a:tc>
              </a:tr>
              <a:tr h="381000">
                <a:tc>
                  <a:txBody>
                    <a:bodyPr/>
                    <a:lstStyle/>
                    <a:p>
                      <a:pPr indent="0" lvl="0" marL="0" rtl="0" algn="l">
                        <a:spcBef>
                          <a:spcPts val="0"/>
                        </a:spcBef>
                        <a:spcAft>
                          <a:spcPts val="0"/>
                        </a:spcAft>
                        <a:buNone/>
                      </a:pPr>
                      <a:r>
                        <a:rPr b="1" lang="en-GB" sz="1300">
                          <a:solidFill>
                            <a:srgbClr val="0B5394"/>
                          </a:solidFill>
                          <a:latin typeface="Lexend"/>
                          <a:ea typeface="Lexend"/>
                          <a:cs typeface="Lexend"/>
                          <a:sym typeface="Lexend"/>
                        </a:rPr>
                        <a:t>Psychology</a:t>
                      </a:r>
                      <a:r>
                        <a:rPr b="1" lang="en-GB" sz="1300">
                          <a:solidFill>
                            <a:srgbClr val="0B5394"/>
                          </a:solidFill>
                          <a:latin typeface="Lexend"/>
                          <a:ea typeface="Lexend"/>
                          <a:cs typeface="Lexend"/>
                          <a:sym typeface="Lexend"/>
                        </a:rPr>
                        <a:t> </a:t>
                      </a:r>
                      <a:endParaRPr b="1" sz="1300">
                        <a:solidFill>
                          <a:srgbClr val="0B5394"/>
                        </a:solidFill>
                        <a:latin typeface="Lexend"/>
                        <a:ea typeface="Lexend"/>
                        <a:cs typeface="Lexend"/>
                        <a:sym typeface="Lexend"/>
                      </a:endParaRPr>
                    </a:p>
                  </a:txBody>
                  <a:tcPr marT="91425" marB="91425" marR="91425" marL="91425" anchor="ctr"/>
                </a:tc>
                <a:tc>
                  <a:txBody>
                    <a:bodyPr/>
                    <a:lstStyle/>
                    <a:p>
                      <a:pPr indent="0" lvl="0" marL="0" rtl="0" algn="l">
                        <a:spcBef>
                          <a:spcPts val="0"/>
                        </a:spcBef>
                        <a:spcAft>
                          <a:spcPts val="0"/>
                        </a:spcAft>
                        <a:buNone/>
                      </a:pPr>
                      <a:r>
                        <a:rPr lang="en-GB" sz="1200">
                          <a:latin typeface="Lexend Light"/>
                          <a:ea typeface="Lexend Light"/>
                          <a:cs typeface="Lexend Light"/>
                          <a:sym typeface="Lexend Light"/>
                        </a:rPr>
                        <a:t>Discuss how human senses(smell, </a:t>
                      </a:r>
                      <a:r>
                        <a:rPr lang="en-GB" sz="1200">
                          <a:latin typeface="Lexend Light"/>
                          <a:ea typeface="Lexend Light"/>
                          <a:cs typeface="Lexend Light"/>
                          <a:sym typeface="Lexend Light"/>
                        </a:rPr>
                        <a:t>sound</a:t>
                      </a:r>
                      <a:r>
                        <a:rPr lang="en-GB" sz="1200">
                          <a:latin typeface="Lexend Light"/>
                          <a:ea typeface="Lexend Light"/>
                          <a:cs typeface="Lexend Light"/>
                          <a:sym typeface="Lexend Light"/>
                        </a:rPr>
                        <a:t>, touch, taste and vision) are used to influence the design and development of products.</a:t>
                      </a:r>
                      <a:endParaRPr sz="1200">
                        <a:latin typeface="Lexend Light"/>
                        <a:ea typeface="Lexend Light"/>
                        <a:cs typeface="Lexend Light"/>
                        <a:sym typeface="Lexend Light"/>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107800" y="741550"/>
            <a:ext cx="1217700" cy="3375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300"/>
              <a:t>Ergonomics</a:t>
            </a:r>
            <a:endParaRPr sz="1300"/>
          </a:p>
        </p:txBody>
      </p:sp>
      <p:sp>
        <p:nvSpPr>
          <p:cNvPr id="69" name="Google Shape;69;p15"/>
          <p:cNvSpPr txBox="1"/>
          <p:nvPr/>
        </p:nvSpPr>
        <p:spPr>
          <a:xfrm>
            <a:off x="79025" y="1043214"/>
            <a:ext cx="4967700" cy="7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GB" sz="1300">
                <a:solidFill>
                  <a:srgbClr val="434343"/>
                </a:solidFill>
              </a:rPr>
              <a:t>Ergonomics</a:t>
            </a:r>
            <a:r>
              <a:rPr lang="en-GB" sz="1300">
                <a:solidFill>
                  <a:srgbClr val="434343"/>
                </a:solidFill>
              </a:rPr>
              <a:t>: from the Greek word “</a:t>
            </a:r>
            <a:r>
              <a:rPr b="1" lang="en-GB" sz="1300">
                <a:solidFill>
                  <a:srgbClr val="434343"/>
                </a:solidFill>
              </a:rPr>
              <a:t>ergon</a:t>
            </a:r>
            <a:r>
              <a:rPr lang="en-GB" sz="1300">
                <a:solidFill>
                  <a:srgbClr val="434343"/>
                </a:solidFill>
              </a:rPr>
              <a:t>” meaning “</a:t>
            </a:r>
            <a:r>
              <a:rPr b="1" lang="en-GB" sz="1300">
                <a:solidFill>
                  <a:srgbClr val="434343"/>
                </a:solidFill>
              </a:rPr>
              <a:t>work</a:t>
            </a:r>
            <a:r>
              <a:rPr lang="en-GB" sz="1300">
                <a:solidFill>
                  <a:srgbClr val="434343"/>
                </a:solidFill>
              </a:rPr>
              <a:t>” and “</a:t>
            </a:r>
            <a:r>
              <a:rPr b="1" lang="en-GB" sz="1300">
                <a:solidFill>
                  <a:srgbClr val="434343"/>
                </a:solidFill>
              </a:rPr>
              <a:t>nomoi</a:t>
            </a:r>
            <a:r>
              <a:rPr lang="en-GB" sz="1300">
                <a:solidFill>
                  <a:srgbClr val="434343"/>
                </a:solidFill>
              </a:rPr>
              <a:t>” meaning “</a:t>
            </a:r>
            <a:r>
              <a:rPr b="1" lang="en-GB" sz="1300">
                <a:solidFill>
                  <a:srgbClr val="434343"/>
                </a:solidFill>
              </a:rPr>
              <a:t>natural</a:t>
            </a:r>
            <a:r>
              <a:rPr lang="en-GB" sz="1300">
                <a:solidFill>
                  <a:srgbClr val="434343"/>
                </a:solidFill>
              </a:rPr>
              <a:t> </a:t>
            </a:r>
            <a:r>
              <a:rPr b="1" lang="en-GB" sz="1300">
                <a:solidFill>
                  <a:srgbClr val="434343"/>
                </a:solidFill>
              </a:rPr>
              <a:t>laws</a:t>
            </a:r>
            <a:r>
              <a:rPr lang="en-GB" sz="1300">
                <a:solidFill>
                  <a:srgbClr val="434343"/>
                </a:solidFill>
              </a:rPr>
              <a:t>”. Ergonomics is the science of refining the design of products to optimise them for human use.</a:t>
            </a:r>
            <a:endParaRPr sz="1300">
              <a:solidFill>
                <a:srgbClr val="434343"/>
              </a:solidFill>
            </a:endParaRPr>
          </a:p>
        </p:txBody>
      </p:sp>
      <p:pic>
        <p:nvPicPr>
          <p:cNvPr id="70" name="Google Shape;70;p15"/>
          <p:cNvPicPr preferRelativeResize="0"/>
          <p:nvPr/>
        </p:nvPicPr>
        <p:blipFill>
          <a:blip r:embed="rId3">
            <a:alphaModFix/>
          </a:blip>
          <a:stretch>
            <a:fillRect/>
          </a:stretch>
        </p:blipFill>
        <p:spPr>
          <a:xfrm>
            <a:off x="5255325" y="1073175"/>
            <a:ext cx="3693500" cy="1178579"/>
          </a:xfrm>
          <a:prstGeom prst="rect">
            <a:avLst/>
          </a:prstGeom>
          <a:noFill/>
          <a:ln>
            <a:noFill/>
          </a:ln>
        </p:spPr>
      </p:pic>
      <p:pic>
        <p:nvPicPr>
          <p:cNvPr id="71" name="Google Shape;71;p15" title="Ergonomics 101.mp4">
            <a:hlinkClick r:id="rId4"/>
          </p:cNvPr>
          <p:cNvPicPr preferRelativeResize="0"/>
          <p:nvPr/>
        </p:nvPicPr>
        <p:blipFill>
          <a:blip r:embed="rId5">
            <a:alphaModFix/>
          </a:blip>
          <a:stretch>
            <a:fillRect/>
          </a:stretch>
        </p:blipFill>
        <p:spPr>
          <a:xfrm>
            <a:off x="5255325" y="2558600"/>
            <a:ext cx="3635251" cy="2044825"/>
          </a:xfrm>
          <a:prstGeom prst="rect">
            <a:avLst/>
          </a:prstGeom>
          <a:noFill/>
          <a:ln>
            <a:noFill/>
          </a:ln>
        </p:spPr>
      </p:pic>
      <p:sp>
        <p:nvSpPr>
          <p:cNvPr id="72" name="Google Shape;72;p15"/>
          <p:cNvSpPr txBox="1"/>
          <p:nvPr/>
        </p:nvSpPr>
        <p:spPr>
          <a:xfrm>
            <a:off x="79025" y="1954639"/>
            <a:ext cx="49158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GB" sz="1300">
                <a:solidFill>
                  <a:srgbClr val="434343"/>
                </a:solidFill>
              </a:rPr>
              <a:t>Definition</a:t>
            </a:r>
            <a:r>
              <a:rPr lang="en-GB" sz="1300">
                <a:solidFill>
                  <a:srgbClr val="434343"/>
                </a:solidFill>
              </a:rPr>
              <a:t>: Ergonomics is the study of how </a:t>
            </a:r>
            <a:r>
              <a:rPr b="1" lang="en-GB" sz="1300">
                <a:solidFill>
                  <a:srgbClr val="434343"/>
                </a:solidFill>
              </a:rPr>
              <a:t>products</a:t>
            </a:r>
            <a:r>
              <a:rPr lang="en-GB" sz="1300">
                <a:solidFill>
                  <a:srgbClr val="434343"/>
                </a:solidFill>
              </a:rPr>
              <a:t>, </a:t>
            </a:r>
            <a:r>
              <a:rPr b="1" lang="en-GB" sz="1300">
                <a:solidFill>
                  <a:srgbClr val="434343"/>
                </a:solidFill>
              </a:rPr>
              <a:t>systems</a:t>
            </a:r>
            <a:r>
              <a:rPr lang="en-GB" sz="1300">
                <a:solidFill>
                  <a:srgbClr val="434343"/>
                </a:solidFill>
              </a:rPr>
              <a:t>, and </a:t>
            </a:r>
            <a:r>
              <a:rPr b="1" lang="en-GB" sz="1300">
                <a:solidFill>
                  <a:srgbClr val="434343"/>
                </a:solidFill>
              </a:rPr>
              <a:t>environments</a:t>
            </a:r>
            <a:r>
              <a:rPr lang="en-GB" sz="1300">
                <a:solidFill>
                  <a:srgbClr val="434343"/>
                </a:solidFill>
              </a:rPr>
              <a:t> can be designed to fit human needs, abilities, and limitations.</a:t>
            </a:r>
            <a:endParaRPr sz="1300">
              <a:solidFill>
                <a:srgbClr val="434343"/>
              </a:solidFill>
            </a:endParaRPr>
          </a:p>
          <a:p>
            <a:pPr indent="0" lvl="0" marL="0" rtl="0" algn="l">
              <a:spcBef>
                <a:spcPts val="0"/>
              </a:spcBef>
              <a:spcAft>
                <a:spcPts val="0"/>
              </a:spcAft>
              <a:buClr>
                <a:schemeClr val="dk1"/>
              </a:buClr>
              <a:buSzPts val="1100"/>
              <a:buFont typeface="Arial"/>
              <a:buNone/>
            </a:pPr>
            <a:r>
              <a:t/>
            </a:r>
            <a:endParaRPr sz="1300">
              <a:solidFill>
                <a:srgbClr val="434343"/>
              </a:solidFill>
            </a:endParaRPr>
          </a:p>
          <a:p>
            <a:pPr indent="0" lvl="0" marL="0" rtl="0" algn="l">
              <a:spcBef>
                <a:spcPts val="0"/>
              </a:spcBef>
              <a:spcAft>
                <a:spcPts val="0"/>
              </a:spcAft>
              <a:buClr>
                <a:schemeClr val="dk1"/>
              </a:buClr>
              <a:buSzPts val="1100"/>
              <a:buFont typeface="Arial"/>
              <a:buNone/>
            </a:pPr>
            <a:r>
              <a:rPr lang="en-GB" sz="1300">
                <a:solidFill>
                  <a:srgbClr val="434343"/>
                </a:solidFill>
              </a:rPr>
              <a:t>It’s about making things comfortable, safe, and efficient for people to use.</a:t>
            </a:r>
            <a:endParaRPr sz="1300">
              <a:solidFill>
                <a:srgbClr val="434343"/>
              </a:solidFill>
            </a:endParaRPr>
          </a:p>
          <a:p>
            <a:pPr indent="0" lvl="0" marL="0" rtl="0" algn="l">
              <a:spcBef>
                <a:spcPts val="0"/>
              </a:spcBef>
              <a:spcAft>
                <a:spcPts val="0"/>
              </a:spcAft>
              <a:buClr>
                <a:schemeClr val="dk1"/>
              </a:buClr>
              <a:buSzPts val="1100"/>
              <a:buFont typeface="Arial"/>
              <a:buNone/>
            </a:pPr>
            <a:r>
              <a:t/>
            </a:r>
            <a:endParaRPr sz="1300">
              <a:solidFill>
                <a:srgbClr val="434343"/>
              </a:solidFill>
            </a:endParaRPr>
          </a:p>
          <a:p>
            <a:pPr indent="0" lvl="0" marL="0" rtl="0" algn="l">
              <a:spcBef>
                <a:spcPts val="0"/>
              </a:spcBef>
              <a:spcAft>
                <a:spcPts val="0"/>
              </a:spcAft>
              <a:buClr>
                <a:schemeClr val="dk1"/>
              </a:buClr>
              <a:buSzPts val="1100"/>
              <a:buFont typeface="Arial"/>
              <a:buNone/>
            </a:pPr>
            <a:r>
              <a:rPr lang="en-GB" sz="1300">
                <a:solidFill>
                  <a:srgbClr val="434343"/>
                </a:solidFill>
              </a:rPr>
              <a:t>Think of a chair that </a:t>
            </a:r>
            <a:r>
              <a:rPr b="1" lang="en-GB" sz="1300">
                <a:solidFill>
                  <a:srgbClr val="434343"/>
                </a:solidFill>
              </a:rPr>
              <a:t>supports your back</a:t>
            </a:r>
            <a:r>
              <a:rPr lang="en-GB" sz="1300">
                <a:solidFill>
                  <a:srgbClr val="434343"/>
                </a:solidFill>
              </a:rPr>
              <a:t>, a phone that </a:t>
            </a:r>
            <a:r>
              <a:rPr b="1" lang="en-GB" sz="1300">
                <a:solidFill>
                  <a:srgbClr val="434343"/>
                </a:solidFill>
              </a:rPr>
              <a:t>fits in your hand</a:t>
            </a:r>
            <a:r>
              <a:rPr lang="en-GB" sz="1300">
                <a:solidFill>
                  <a:srgbClr val="434343"/>
                </a:solidFill>
              </a:rPr>
              <a:t>, or a </a:t>
            </a:r>
            <a:r>
              <a:rPr b="1" lang="en-GB" sz="1300">
                <a:solidFill>
                  <a:srgbClr val="434343"/>
                </a:solidFill>
              </a:rPr>
              <a:t>car dashboard</a:t>
            </a:r>
            <a:r>
              <a:rPr lang="en-GB" sz="1300">
                <a:solidFill>
                  <a:srgbClr val="434343"/>
                </a:solidFill>
              </a:rPr>
              <a:t> that’s easy to read while driving—that’s ergonomics at work.</a:t>
            </a:r>
            <a:endParaRPr sz="1300">
              <a:solidFill>
                <a:srgbClr val="434343"/>
              </a:solidFill>
            </a:endParaRPr>
          </a:p>
          <a:p>
            <a:pPr indent="0" lvl="0" marL="0" rtl="0" algn="l">
              <a:spcBef>
                <a:spcPts val="0"/>
              </a:spcBef>
              <a:spcAft>
                <a:spcPts val="0"/>
              </a:spcAft>
              <a:buNone/>
            </a:pPr>
            <a:r>
              <a:t/>
            </a:r>
            <a:endParaRPr sz="1300">
              <a:solidFill>
                <a:srgbClr val="434343"/>
              </a:solidFill>
            </a:endParaRPr>
          </a:p>
        </p:txBody>
      </p:sp>
      <p:sp>
        <p:nvSpPr>
          <p:cNvPr id="73" name="Google Shape;73;p15"/>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6"/>
          <p:cNvSpPr txBox="1"/>
          <p:nvPr/>
        </p:nvSpPr>
        <p:spPr>
          <a:xfrm>
            <a:off x="149196" y="576105"/>
            <a:ext cx="9036300" cy="57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GB" sz="1300" u="none" cap="none" strike="noStrike">
                <a:solidFill>
                  <a:srgbClr val="000000"/>
                </a:solidFill>
              </a:rPr>
              <a:t>Ergonomics is the application of scientific information concerning the relationship of human beings and the design of objects (products), systems (processes) and environments (where they are used).</a:t>
            </a:r>
            <a:endParaRPr i="0" sz="13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t/>
            </a:r>
            <a:endParaRPr i="0" sz="130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t/>
            </a:r>
            <a:endParaRPr i="0" sz="1300" u="none" cap="none" strike="noStrike">
              <a:solidFill>
                <a:srgbClr val="000000"/>
              </a:solidFill>
            </a:endParaRPr>
          </a:p>
        </p:txBody>
      </p:sp>
      <p:sp>
        <p:nvSpPr>
          <p:cNvPr id="80" name="Google Shape;80;p16"/>
          <p:cNvSpPr txBox="1"/>
          <p:nvPr/>
        </p:nvSpPr>
        <p:spPr>
          <a:xfrm>
            <a:off x="244100" y="1579400"/>
            <a:ext cx="5354700" cy="2484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GB" u="none" cap="none" strike="noStrike">
                <a:solidFill>
                  <a:srgbClr val="000000"/>
                </a:solidFill>
              </a:rPr>
              <a:t>The relationship between human and product might be related to:</a:t>
            </a:r>
            <a:endParaRPr i="0" u="none" cap="none" strike="noStrike">
              <a:solidFill>
                <a:srgbClr val="000000"/>
              </a:solidFill>
            </a:endParaRPr>
          </a:p>
          <a:p>
            <a:pPr indent="0" lvl="0" marL="0" marR="0" rtl="0" algn="l">
              <a:lnSpc>
                <a:spcPct val="100000"/>
              </a:lnSpc>
              <a:spcBef>
                <a:spcPts val="0"/>
              </a:spcBef>
              <a:spcAft>
                <a:spcPts val="0"/>
              </a:spcAft>
              <a:buClr>
                <a:srgbClr val="000000"/>
              </a:buClr>
              <a:buSzPts val="600"/>
              <a:buFont typeface="Arial"/>
              <a:buNone/>
            </a:pPr>
            <a:r>
              <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Shape, form, colour and texture.</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Ease of use.</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Comfort in use.</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Mapping and user interfaces.</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Affordance and logic of user.</a:t>
            </a:r>
            <a:endParaRPr i="0" u="none" cap="none" strike="noStrike">
              <a:solidFill>
                <a:srgbClr val="000000"/>
              </a:solidFill>
            </a:endParaRPr>
          </a:p>
          <a:p>
            <a:pPr indent="-317500" lvl="0" marL="457200" marR="0" rtl="0" algn="l">
              <a:lnSpc>
                <a:spcPct val="100000"/>
              </a:lnSpc>
              <a:spcBef>
                <a:spcPts val="0"/>
              </a:spcBef>
              <a:spcAft>
                <a:spcPts val="0"/>
              </a:spcAft>
              <a:buClr>
                <a:srgbClr val="000000"/>
              </a:buClr>
              <a:buSzPts val="1400"/>
              <a:buChar char="●"/>
            </a:pPr>
            <a:r>
              <a:rPr i="0" lang="en-GB" u="none" cap="none" strike="noStrike">
                <a:solidFill>
                  <a:srgbClr val="000000"/>
                </a:solidFill>
              </a:rPr>
              <a:t>User experience.</a:t>
            </a:r>
            <a:endParaRPr i="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t/>
            </a:r>
            <a:endParaRPr i="0" u="none" cap="none" strike="noStrike">
              <a:solidFill>
                <a:srgbClr val="000000"/>
              </a:solidFill>
            </a:endParaRPr>
          </a:p>
          <a:p>
            <a:pPr indent="0" lvl="0" marL="0" marR="0" rtl="0" algn="l">
              <a:lnSpc>
                <a:spcPct val="100000"/>
              </a:lnSpc>
              <a:spcBef>
                <a:spcPts val="0"/>
              </a:spcBef>
              <a:spcAft>
                <a:spcPts val="0"/>
              </a:spcAft>
              <a:buClr>
                <a:srgbClr val="000000"/>
              </a:buClr>
              <a:buSzPts val="1200"/>
              <a:buFont typeface="Arial"/>
              <a:buNone/>
            </a:pPr>
            <a:r>
              <a:rPr i="0" lang="en-GB" u="none" cap="none" strike="noStrike">
                <a:solidFill>
                  <a:srgbClr val="000000"/>
                </a:solidFill>
              </a:rPr>
              <a:t>These areas will be covered as we move through this topic.</a:t>
            </a:r>
            <a:endParaRPr i="0" u="none" cap="none" strike="noStrike">
              <a:solidFill>
                <a:srgbClr val="000000"/>
              </a:solidFill>
            </a:endParaRPr>
          </a:p>
        </p:txBody>
      </p:sp>
      <p:sp>
        <p:nvSpPr>
          <p:cNvPr id="81" name="Google Shape;81;p16"/>
          <p:cNvSpPr txBox="1"/>
          <p:nvPr/>
        </p:nvSpPr>
        <p:spPr>
          <a:xfrm>
            <a:off x="109550" y="4454942"/>
            <a:ext cx="8863200" cy="577500"/>
          </a:xfrm>
          <a:prstGeom prst="rect">
            <a:avLst/>
          </a:prstGeom>
          <a:solidFill>
            <a:srgbClr val="674EA7"/>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i="0" lang="en-GB" sz="1200" u="none" cap="none" strike="noStrike">
                <a:solidFill>
                  <a:srgbClr val="FFFFFF"/>
                </a:solidFill>
                <a:latin typeface="Lexend Light"/>
                <a:ea typeface="Lexend Light"/>
                <a:cs typeface="Lexend Light"/>
                <a:sym typeface="Lexend Light"/>
              </a:rPr>
              <a:t>Ergonomics emerged as a scientific discipline in the 1940’s. In 1949, in a meeting of distinguished psychologists and psychologists, they formed the Ergonomics Research Society (ERS) which became the first such society in the world.   </a:t>
            </a:r>
            <a:endParaRPr i="0" sz="1200" u="none" cap="none" strike="noStrike">
              <a:solidFill>
                <a:srgbClr val="FFFFFF"/>
              </a:solidFill>
              <a:latin typeface="Lexend Light"/>
              <a:ea typeface="Lexend Light"/>
              <a:cs typeface="Lexend Light"/>
              <a:sym typeface="Lexend Light"/>
            </a:endParaRPr>
          </a:p>
        </p:txBody>
      </p:sp>
      <p:pic>
        <p:nvPicPr>
          <p:cNvPr descr="For educational use. No copyright infringement.&#10;&#10;A great video that explains the need to consider ergonomics when designing for comfortable human use.&#10;&#10;Ergonomics is a branch of anthropometrics that explores and measures the different sizes, shapes, strengths and other factors that groups of people typically exhibit so that we can design better products that are more 'user-friendly'.&#10;&#10;Search 'Ergonomics' and 'Anthropometrics' online to discover more or click on this link: http://www.ergonomics4schools.com/" id="82" name="Google Shape;82;p16" title="Ergonomics and Design">
            <a:hlinkClick r:id="rId3"/>
          </p:cNvPr>
          <p:cNvPicPr preferRelativeResize="0"/>
          <p:nvPr/>
        </p:nvPicPr>
        <p:blipFill>
          <a:blip r:embed="rId4">
            <a:alphaModFix/>
          </a:blip>
          <a:stretch>
            <a:fillRect/>
          </a:stretch>
        </p:blipFill>
        <p:spPr>
          <a:xfrm>
            <a:off x="5961625" y="2286725"/>
            <a:ext cx="1609675" cy="905452"/>
          </a:xfrm>
          <a:prstGeom prst="rect">
            <a:avLst/>
          </a:prstGeom>
          <a:noFill/>
          <a:ln>
            <a:noFill/>
          </a:ln>
        </p:spPr>
      </p:pic>
      <p:pic>
        <p:nvPicPr>
          <p:cNvPr id="83" name="Google Shape;83;p16" title="Why Ergonomics - Importance &amp; Benefits of Ergonomic Workplace [LUMI].mp4">
            <a:hlinkClick r:id="rId5"/>
          </p:cNvPr>
          <p:cNvPicPr preferRelativeResize="0"/>
          <p:nvPr/>
        </p:nvPicPr>
        <p:blipFill>
          <a:blip r:embed="rId6">
            <a:alphaModFix/>
          </a:blip>
          <a:stretch>
            <a:fillRect/>
          </a:stretch>
        </p:blipFill>
        <p:spPr>
          <a:xfrm>
            <a:off x="5961625" y="1267450"/>
            <a:ext cx="1609674" cy="905425"/>
          </a:xfrm>
          <a:prstGeom prst="rect">
            <a:avLst/>
          </a:prstGeom>
          <a:noFill/>
          <a:ln>
            <a:noFill/>
          </a:ln>
        </p:spPr>
      </p:pic>
      <p:pic>
        <p:nvPicPr>
          <p:cNvPr descr="The aim of ergonomics in manufacturing is to design workstations that encourage healthy work postures and maintain worker comfort and safety. Here are steps employers can take to minimize ergonomic hazards in their facilities.&#10;&#10;Read our full feature on Better MRO: https://bit.ly/3fZt0G2" id="84" name="Google Shape;84;p16" title="The Benefits of Focusing on Ergonomics in The Manufacturing Industry">
            <a:hlinkClick r:id="rId7"/>
          </p:cNvPr>
          <p:cNvPicPr preferRelativeResize="0"/>
          <p:nvPr/>
        </p:nvPicPr>
        <p:blipFill>
          <a:blip r:embed="rId8">
            <a:alphaModFix/>
          </a:blip>
          <a:stretch>
            <a:fillRect/>
          </a:stretch>
        </p:blipFill>
        <p:spPr>
          <a:xfrm>
            <a:off x="5961613" y="3306025"/>
            <a:ext cx="1609689" cy="905450"/>
          </a:xfrm>
          <a:prstGeom prst="rect">
            <a:avLst/>
          </a:prstGeom>
          <a:noFill/>
          <a:ln>
            <a:noFill/>
          </a:ln>
        </p:spPr>
      </p:pic>
      <p:sp>
        <p:nvSpPr>
          <p:cNvPr id="85" name="Google Shape;85;p16"/>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6736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300"/>
              <a:t>Why is Ergonomics Important in Design?</a:t>
            </a:r>
            <a:endParaRPr sz="1300"/>
          </a:p>
        </p:txBody>
      </p:sp>
      <p:sp>
        <p:nvSpPr>
          <p:cNvPr id="91" name="Google Shape;91;p17"/>
          <p:cNvSpPr txBox="1"/>
          <p:nvPr>
            <p:ph idx="1" type="body"/>
          </p:nvPr>
        </p:nvSpPr>
        <p:spPr>
          <a:xfrm>
            <a:off x="311700" y="1401774"/>
            <a:ext cx="8520600" cy="24132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1200"/>
              </a:spcBef>
              <a:spcAft>
                <a:spcPts val="0"/>
              </a:spcAft>
              <a:buClr>
                <a:schemeClr val="dk1"/>
              </a:buClr>
              <a:buSzPts val="1300"/>
              <a:buFont typeface="Lexend Light"/>
              <a:buChar char="●"/>
            </a:pPr>
            <a:r>
              <a:rPr b="1" lang="en-GB" sz="1300">
                <a:solidFill>
                  <a:schemeClr val="dk1"/>
                </a:solidFill>
              </a:rPr>
              <a:t>Prevents</a:t>
            </a:r>
            <a:r>
              <a:rPr lang="en-GB" sz="1300">
                <a:solidFill>
                  <a:schemeClr val="dk1"/>
                </a:solidFill>
              </a:rPr>
              <a:t> discomfort and injury (e.g., wrist pain from a badly designed keyboard).</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Lexend Light"/>
              <a:buChar char="●"/>
            </a:pPr>
            <a:r>
              <a:rPr b="1" lang="en-GB" sz="1300">
                <a:solidFill>
                  <a:schemeClr val="dk1"/>
                </a:solidFill>
              </a:rPr>
              <a:t>Improves</a:t>
            </a:r>
            <a:r>
              <a:rPr lang="en-GB" sz="1300">
                <a:solidFill>
                  <a:schemeClr val="dk1"/>
                </a:solidFill>
              </a:rPr>
              <a:t> efficiency (a tool designed to reduce effort means faster, easier work).</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Lexend Light"/>
              <a:buChar char="●"/>
            </a:pPr>
            <a:r>
              <a:rPr b="1" lang="en-GB" sz="1300">
                <a:solidFill>
                  <a:schemeClr val="dk1"/>
                </a:solidFill>
              </a:rPr>
              <a:t>Enhances</a:t>
            </a:r>
            <a:r>
              <a:rPr lang="en-GB" sz="1300">
                <a:solidFill>
                  <a:schemeClr val="dk1"/>
                </a:solidFill>
              </a:rPr>
              <a:t> user experience (a comfortable handle makes you want to keep using a product).</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Lexend Light"/>
              <a:buChar char="●"/>
            </a:pPr>
            <a:r>
              <a:rPr b="1" lang="en-GB" sz="1300">
                <a:solidFill>
                  <a:schemeClr val="dk1"/>
                </a:solidFill>
              </a:rPr>
              <a:t>Safety</a:t>
            </a:r>
            <a:r>
              <a:rPr lang="en-GB" sz="1300">
                <a:solidFill>
                  <a:schemeClr val="dk1"/>
                </a:solidFill>
              </a:rPr>
              <a:t> (reduces accidents—think of seat belts and car seat designs).</a:t>
            </a:r>
            <a:br>
              <a:rPr lang="en-GB" sz="1300">
                <a:solidFill>
                  <a:schemeClr val="dk1"/>
                </a:solidFill>
              </a:rPr>
            </a:br>
            <a:endParaRPr sz="1300">
              <a:solidFill>
                <a:schemeClr val="dk1"/>
              </a:solidFill>
            </a:endParaRPr>
          </a:p>
          <a:p>
            <a:pPr indent="0" lvl="0" marL="0" rtl="0" algn="l">
              <a:lnSpc>
                <a:spcPct val="150000"/>
              </a:lnSpc>
              <a:spcBef>
                <a:spcPts val="1200"/>
              </a:spcBef>
              <a:spcAft>
                <a:spcPts val="1200"/>
              </a:spcAft>
              <a:buClr>
                <a:schemeClr val="dk1"/>
              </a:buClr>
              <a:buSzPts val="1100"/>
              <a:buFont typeface="Arial"/>
              <a:buNone/>
            </a:pPr>
            <a:r>
              <a:rPr lang="en-GB" sz="1300">
                <a:solidFill>
                  <a:schemeClr val="dk1"/>
                </a:solidFill>
              </a:rPr>
              <a:t>Ergonomics links to Human Factors, Usability, and Design Specifications.</a:t>
            </a:r>
            <a:endParaRPr sz="1300"/>
          </a:p>
        </p:txBody>
      </p:sp>
      <p:sp>
        <p:nvSpPr>
          <p:cNvPr id="92" name="Google Shape;92;p17"/>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83100" y="566378"/>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1820"/>
              <a:t>Types of Ergonomics</a:t>
            </a:r>
            <a:endParaRPr sz="1820"/>
          </a:p>
        </p:txBody>
      </p:sp>
      <p:sp>
        <p:nvSpPr>
          <p:cNvPr id="98" name="Google Shape;98;p18"/>
          <p:cNvSpPr txBox="1"/>
          <p:nvPr/>
        </p:nvSpPr>
        <p:spPr>
          <a:xfrm>
            <a:off x="83100" y="1027352"/>
            <a:ext cx="7148100" cy="3881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rgbClr val="000000"/>
              </a:buClr>
              <a:buSzPts val="1400"/>
              <a:buAutoNum type="arabicPeriod"/>
            </a:pPr>
            <a:r>
              <a:rPr b="1" i="0" lang="en-GB" u="none" cap="none" strike="noStrike">
                <a:solidFill>
                  <a:srgbClr val="000000"/>
                </a:solidFill>
                <a:latin typeface="Arial"/>
                <a:ea typeface="Arial"/>
                <a:cs typeface="Arial"/>
                <a:sym typeface="Arial"/>
              </a:rPr>
              <a:t>Physical</a:t>
            </a:r>
            <a:r>
              <a:rPr b="1" i="0" lang="en-GB" u="none" cap="none" strike="noStrike">
                <a:solidFill>
                  <a:srgbClr val="000000"/>
                </a:solidFill>
              </a:rPr>
              <a:t> ergonomics</a:t>
            </a:r>
            <a:r>
              <a:rPr b="0" i="0" lang="en-GB" sz="1200" u="none" cap="none" strike="noStrike">
                <a:solidFill>
                  <a:srgbClr val="000000"/>
                </a:solidFill>
                <a:latin typeface="Arial"/>
                <a:ea typeface="Arial"/>
                <a:cs typeface="Arial"/>
                <a:sym typeface="Arial"/>
              </a:rPr>
              <a:t> often deals with the related subjects of posture, worksite development, operational layout, material handling, repetitive stress and movement. Repetitive stress injuries and musculoskeletal disorders and occupational health safety. </a:t>
            </a:r>
            <a:endParaRPr b="0" i="0" sz="1200" u="none" cap="none" strike="noStrike">
              <a:solidFill>
                <a:srgbClr val="000000"/>
              </a:solidFill>
              <a:latin typeface="Arial"/>
              <a:ea typeface="Arial"/>
              <a:cs typeface="Arial"/>
              <a:sym typeface="Arial"/>
            </a:endParaRPr>
          </a:p>
          <a:p>
            <a:pPr indent="457200" lvl="0" marL="0" rtl="0" algn="l">
              <a:lnSpc>
                <a:spcPct val="100000"/>
              </a:lnSpc>
              <a:spcBef>
                <a:spcPts val="0"/>
              </a:spcBef>
              <a:spcAft>
                <a:spcPts val="0"/>
              </a:spcAft>
              <a:buNone/>
            </a:pPr>
            <a:r>
              <a:rPr b="1" i="1" lang="en-GB" sz="1200">
                <a:solidFill>
                  <a:srgbClr val="1155CC"/>
                </a:solidFill>
              </a:rPr>
              <a:t>Fit between body and product</a:t>
            </a:r>
            <a:endParaRPr b="1" i="1" sz="1200">
              <a:solidFill>
                <a:srgbClr val="1155CC"/>
              </a:solidFill>
            </a:endParaRPr>
          </a:p>
          <a:p>
            <a:pPr indent="457200" lvl="0" marL="0" rtl="0" algn="l">
              <a:lnSpc>
                <a:spcPct val="100000"/>
              </a:lnSpc>
              <a:spcBef>
                <a:spcPts val="0"/>
              </a:spcBef>
              <a:spcAft>
                <a:spcPts val="0"/>
              </a:spcAft>
              <a:buNone/>
            </a:pPr>
            <a:r>
              <a:rPr lang="en-GB" sz="1200">
                <a:solidFill>
                  <a:schemeClr val="dk1"/>
                </a:solidFill>
              </a:rPr>
              <a:t>Example: Chair height matching desk height. Uses </a:t>
            </a:r>
            <a:r>
              <a:rPr b="1" lang="en-GB" sz="1200">
                <a:solidFill>
                  <a:schemeClr val="dk1"/>
                </a:solidFill>
              </a:rPr>
              <a:t>anthropometric data</a:t>
            </a:r>
            <a:r>
              <a:rPr lang="en-GB" sz="1200">
                <a:solidFill>
                  <a:schemeClr val="dk1"/>
                </a:solidFill>
              </a:rPr>
              <a:t> (measurements of    </a:t>
            </a:r>
            <a:endParaRPr sz="1200">
              <a:solidFill>
                <a:schemeClr val="dk1"/>
              </a:solidFill>
            </a:endParaRPr>
          </a:p>
          <a:p>
            <a:pPr indent="457200" lvl="0" marL="0" rtl="0" algn="l">
              <a:lnSpc>
                <a:spcPct val="100000"/>
              </a:lnSpc>
              <a:spcBef>
                <a:spcPts val="0"/>
              </a:spcBef>
              <a:spcAft>
                <a:spcPts val="0"/>
              </a:spcAft>
              <a:buNone/>
            </a:pPr>
            <a:r>
              <a:rPr lang="en-GB" sz="1200">
                <a:solidFill>
                  <a:schemeClr val="dk1"/>
                </a:solidFill>
              </a:rPr>
              <a:t>human body sizes).</a:t>
            </a:r>
            <a:br>
              <a:rPr lang="en-GB" sz="1200">
                <a:solidFill>
                  <a:schemeClr val="dk1"/>
                </a:solidFill>
              </a:rPr>
            </a:br>
            <a:r>
              <a:rPr b="0" i="0" lang="en-GB"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5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lang="en-GB" sz="1200"/>
              <a:t> 2.       </a:t>
            </a:r>
            <a:r>
              <a:rPr b="1" i="0" lang="en-GB" u="none" cap="none" strike="noStrike">
                <a:solidFill>
                  <a:srgbClr val="000000"/>
                </a:solidFill>
                <a:latin typeface="Arial"/>
                <a:ea typeface="Arial"/>
                <a:cs typeface="Arial"/>
                <a:sym typeface="Arial"/>
              </a:rPr>
              <a:t>Cognitive</a:t>
            </a:r>
            <a:r>
              <a:rPr b="1" i="0" lang="en-GB" u="none" cap="none" strike="noStrike">
                <a:solidFill>
                  <a:srgbClr val="000000"/>
                </a:solidFill>
              </a:rPr>
              <a:t> ergonomics</a:t>
            </a:r>
            <a:r>
              <a:rPr b="0" i="0" lang="en-GB" sz="1200" u="none" cap="none" strike="noStrike">
                <a:solidFill>
                  <a:srgbClr val="000000"/>
                </a:solidFill>
                <a:latin typeface="Arial"/>
                <a:ea typeface="Arial"/>
                <a:cs typeface="Arial"/>
                <a:sym typeface="Arial"/>
              </a:rPr>
              <a:t> is concerned with mental processes such as perception, memory,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lang="en-GB" sz="1200"/>
              <a:t>           </a:t>
            </a:r>
            <a:r>
              <a:rPr b="0" i="0" lang="en-GB" sz="1200" u="none" cap="none" strike="noStrike">
                <a:solidFill>
                  <a:srgbClr val="000000"/>
                </a:solidFill>
                <a:latin typeface="Arial"/>
                <a:ea typeface="Arial"/>
                <a:cs typeface="Arial"/>
                <a:sym typeface="Arial"/>
              </a:rPr>
              <a:t>reasoning and motor responses as they affect the interactions amongst humans and other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lang="en-GB" sz="1200"/>
              <a:t>           </a:t>
            </a:r>
            <a:r>
              <a:rPr b="0" i="0" lang="en-GB" sz="1200" u="none" cap="none" strike="noStrike">
                <a:solidFill>
                  <a:srgbClr val="000000"/>
                </a:solidFill>
                <a:latin typeface="Arial"/>
                <a:ea typeface="Arial"/>
                <a:cs typeface="Arial"/>
                <a:sym typeface="Arial"/>
              </a:rPr>
              <a:t>e</a:t>
            </a:r>
            <a:r>
              <a:rPr b="0" i="0" lang="en-GB" sz="1200" u="none" cap="none" strike="noStrike">
                <a:solidFill>
                  <a:srgbClr val="000000"/>
                </a:solidFill>
                <a:latin typeface="Arial"/>
                <a:ea typeface="Arial"/>
                <a:cs typeface="Arial"/>
                <a:sym typeface="Arial"/>
              </a:rPr>
              <a:t>lements of a system. </a:t>
            </a:r>
            <a:endParaRPr sz="1200"/>
          </a:p>
          <a:p>
            <a:pPr indent="0" lvl="0" marL="457200" marR="0" rtl="0" algn="just">
              <a:lnSpc>
                <a:spcPct val="100000"/>
              </a:lnSpc>
              <a:spcBef>
                <a:spcPts val="0"/>
              </a:spcBef>
              <a:spcAft>
                <a:spcPts val="0"/>
              </a:spcAft>
              <a:buNone/>
            </a:pPr>
            <a:r>
              <a:rPr b="1" i="1" lang="en-GB" sz="1200">
                <a:solidFill>
                  <a:srgbClr val="1155CC"/>
                </a:solidFill>
              </a:rPr>
              <a:t>Fit between mind and product.</a:t>
            </a:r>
            <a:endParaRPr sz="1200">
              <a:solidFill>
                <a:schemeClr val="dk1"/>
              </a:solidFill>
            </a:endParaRPr>
          </a:p>
          <a:p>
            <a:pPr indent="457200" lvl="0" marL="0" rtl="0" algn="l">
              <a:lnSpc>
                <a:spcPct val="100000"/>
              </a:lnSpc>
              <a:spcBef>
                <a:spcPts val="0"/>
              </a:spcBef>
              <a:spcAft>
                <a:spcPts val="0"/>
              </a:spcAft>
              <a:buNone/>
            </a:pPr>
            <a:r>
              <a:rPr lang="en-GB" sz="1200">
                <a:solidFill>
                  <a:schemeClr val="dk1"/>
                </a:solidFill>
              </a:rPr>
              <a:t>Example: A smartphone interface that’s easy to navigate. Involves memory, perception, and  </a:t>
            </a:r>
            <a:endParaRPr sz="1200">
              <a:solidFill>
                <a:schemeClr val="dk1"/>
              </a:solidFill>
            </a:endParaRPr>
          </a:p>
          <a:p>
            <a:pPr indent="457200" lvl="0" marL="0" rtl="0" algn="l">
              <a:lnSpc>
                <a:spcPct val="100000"/>
              </a:lnSpc>
              <a:spcBef>
                <a:spcPts val="0"/>
              </a:spcBef>
              <a:spcAft>
                <a:spcPts val="0"/>
              </a:spcAft>
              <a:buNone/>
            </a:pPr>
            <a:r>
              <a:rPr lang="en-GB" sz="1200">
                <a:solidFill>
                  <a:schemeClr val="dk1"/>
                </a:solidFill>
              </a:rPr>
              <a:t>reaction times.</a:t>
            </a:r>
            <a:br>
              <a:rPr lang="en-GB" sz="1200">
                <a:solidFill>
                  <a:schemeClr val="dk1"/>
                </a:solidFill>
              </a:rPr>
            </a:b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1" lang="en-GB"/>
              <a:t>3. 	Organisational ergonomic</a:t>
            </a:r>
            <a:r>
              <a:rPr b="1" i="0" lang="en-GB" u="none" cap="none" strike="noStrike">
                <a:solidFill>
                  <a:srgbClr val="000000"/>
                </a:solidFill>
              </a:rPr>
              <a:t>s</a:t>
            </a:r>
            <a:r>
              <a:rPr b="0" i="0" lang="en-GB" sz="1200" u="none" cap="none" strike="noStrike">
                <a:solidFill>
                  <a:srgbClr val="000000"/>
                </a:solidFill>
                <a:latin typeface="Arial"/>
                <a:ea typeface="Arial"/>
                <a:cs typeface="Arial"/>
                <a:sym typeface="Arial"/>
              </a:rPr>
              <a:t> includes subjects such as communication, work design, work </a:t>
            </a:r>
            <a:endParaRPr b="0" i="0" sz="1200" u="none" cap="none" strike="noStrike">
              <a:solidFill>
                <a:srgbClr val="000000"/>
              </a:solidFill>
              <a:latin typeface="Arial"/>
              <a:ea typeface="Arial"/>
              <a:cs typeface="Arial"/>
              <a:sym typeface="Arial"/>
            </a:endParaRPr>
          </a:p>
          <a:p>
            <a:pPr indent="457200" lvl="0" marL="0" marR="0" rtl="0" algn="just">
              <a:lnSpc>
                <a:spcPct val="100000"/>
              </a:lnSpc>
              <a:spcBef>
                <a:spcPts val="0"/>
              </a:spcBef>
              <a:spcAft>
                <a:spcPts val="0"/>
              </a:spcAft>
              <a:buNone/>
            </a:pPr>
            <a:r>
              <a:rPr b="0" i="0" lang="en-GB" sz="1200" u="none" cap="none" strike="noStrike">
                <a:solidFill>
                  <a:srgbClr val="000000"/>
                </a:solidFill>
                <a:latin typeface="Arial"/>
                <a:ea typeface="Arial"/>
                <a:cs typeface="Arial"/>
                <a:sym typeface="Arial"/>
              </a:rPr>
              <a:t>hours management, team work, virtual organisation, telework and quality management.</a:t>
            </a:r>
            <a:endParaRPr sz="1200"/>
          </a:p>
          <a:p>
            <a:pPr indent="0" lvl="0" marL="457200" marR="0" rtl="0" algn="just">
              <a:lnSpc>
                <a:spcPct val="100000"/>
              </a:lnSpc>
              <a:spcBef>
                <a:spcPts val="0"/>
              </a:spcBef>
              <a:spcAft>
                <a:spcPts val="0"/>
              </a:spcAft>
              <a:buNone/>
            </a:pPr>
            <a:r>
              <a:rPr b="1" i="1" lang="en-GB" sz="1200">
                <a:solidFill>
                  <a:srgbClr val="1155CC"/>
                </a:solidFill>
              </a:rPr>
              <a:t>Fit between systems and people.</a:t>
            </a:r>
            <a:br>
              <a:rPr lang="en-GB" sz="1200">
                <a:solidFill>
                  <a:schemeClr val="dk1"/>
                </a:solidFill>
              </a:rPr>
            </a:br>
            <a:r>
              <a:rPr lang="en-GB" sz="1200">
                <a:solidFill>
                  <a:schemeClr val="dk1"/>
                </a:solidFill>
              </a:rPr>
              <a:t>Example: Workflow in an office or factory. Reduces stress, improves teamwork and productivity.</a:t>
            </a:r>
            <a:endParaRPr b="0" i="0" sz="1200" u="none" cap="none" strike="noStrike">
              <a:solidFill>
                <a:srgbClr val="000000"/>
              </a:solidFill>
              <a:latin typeface="Arial"/>
              <a:ea typeface="Arial"/>
              <a:cs typeface="Arial"/>
              <a:sym typeface="Arial"/>
            </a:endParaRPr>
          </a:p>
        </p:txBody>
      </p:sp>
      <p:pic>
        <p:nvPicPr>
          <p:cNvPr id="99" name="Google Shape;99;p18" title="Screenshot 2025-09-02 at 10.54.26 AM.png"/>
          <p:cNvPicPr preferRelativeResize="0"/>
          <p:nvPr/>
        </p:nvPicPr>
        <p:blipFill>
          <a:blip r:embed="rId3">
            <a:alphaModFix/>
          </a:blip>
          <a:stretch>
            <a:fillRect/>
          </a:stretch>
        </p:blipFill>
        <p:spPr>
          <a:xfrm>
            <a:off x="7231200" y="465725"/>
            <a:ext cx="1844950" cy="4286775"/>
          </a:xfrm>
          <a:prstGeom prst="rect">
            <a:avLst/>
          </a:prstGeom>
          <a:noFill/>
          <a:ln>
            <a:noFill/>
          </a:ln>
        </p:spPr>
      </p:pic>
      <p:sp>
        <p:nvSpPr>
          <p:cNvPr id="100" name="Google Shape;100;p18"/>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159300" y="5974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1300"/>
              <a:t>Examples</a:t>
            </a:r>
            <a:endParaRPr sz="1300"/>
          </a:p>
        </p:txBody>
      </p:sp>
      <p:sp>
        <p:nvSpPr>
          <p:cNvPr id="106" name="Google Shape;106;p19"/>
          <p:cNvSpPr txBox="1"/>
          <p:nvPr>
            <p:ph idx="1" type="body"/>
          </p:nvPr>
        </p:nvSpPr>
        <p:spPr>
          <a:xfrm>
            <a:off x="159300" y="1093925"/>
            <a:ext cx="8520600" cy="239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300"/>
              <a:t>School chairs and desks (why some feel comfortable, others don’t).</a:t>
            </a:r>
            <a:endParaRPr sz="1300"/>
          </a:p>
          <a:p>
            <a:pPr indent="0" lvl="0" marL="0" rtl="0" algn="l">
              <a:spcBef>
                <a:spcPts val="1200"/>
              </a:spcBef>
              <a:spcAft>
                <a:spcPts val="0"/>
              </a:spcAft>
              <a:buClr>
                <a:schemeClr val="dk1"/>
              </a:buClr>
              <a:buSzPts val="1100"/>
              <a:buFont typeface="Arial"/>
              <a:buNone/>
            </a:pPr>
            <a:r>
              <a:rPr lang="en-GB" sz="1300"/>
              <a:t>Smartphones (size of buttons, screen readability).</a:t>
            </a:r>
            <a:endParaRPr sz="1300"/>
          </a:p>
          <a:p>
            <a:pPr indent="0" lvl="0" marL="0" rtl="0" algn="l">
              <a:spcBef>
                <a:spcPts val="1200"/>
              </a:spcBef>
              <a:spcAft>
                <a:spcPts val="0"/>
              </a:spcAft>
              <a:buClr>
                <a:schemeClr val="dk1"/>
              </a:buClr>
              <a:buSzPts val="1100"/>
              <a:buFont typeface="Arial"/>
              <a:buNone/>
            </a:pPr>
            <a:r>
              <a:rPr lang="en-GB" sz="1300"/>
              <a:t>Game controllers (designed for long use without strain).</a:t>
            </a:r>
            <a:endParaRPr sz="1300"/>
          </a:p>
          <a:p>
            <a:pPr indent="0" lvl="0" marL="0" rtl="0" algn="l">
              <a:spcBef>
                <a:spcPts val="1200"/>
              </a:spcBef>
              <a:spcAft>
                <a:spcPts val="0"/>
              </a:spcAft>
              <a:buNone/>
            </a:pPr>
            <a:r>
              <a:rPr lang="en-GB" sz="1300"/>
              <a:t>Kitchen utensils (handles shaped for grip).</a:t>
            </a:r>
            <a:endParaRPr sz="1300"/>
          </a:p>
          <a:p>
            <a:pPr indent="0" lvl="0" marL="0" rtl="0" algn="l">
              <a:spcBef>
                <a:spcPts val="1200"/>
              </a:spcBef>
              <a:spcAft>
                <a:spcPts val="0"/>
              </a:spcAft>
              <a:buNone/>
            </a:pPr>
            <a:r>
              <a:rPr lang="en-GB" sz="1300"/>
              <a:t>Software interfaces (buttons, navigation bar layout)</a:t>
            </a:r>
            <a:endParaRPr sz="1300"/>
          </a:p>
          <a:p>
            <a:pPr indent="0" lvl="0" marL="0" rtl="0" algn="l">
              <a:spcBef>
                <a:spcPts val="1200"/>
              </a:spcBef>
              <a:spcAft>
                <a:spcPts val="1200"/>
              </a:spcAft>
              <a:buNone/>
            </a:pPr>
            <a:r>
              <a:rPr lang="en-GB" sz="1300"/>
              <a:t>Airplane cockpits (controls, levers, power lever) </a:t>
            </a:r>
            <a:endParaRPr sz="1300"/>
          </a:p>
        </p:txBody>
      </p:sp>
      <p:pic>
        <p:nvPicPr>
          <p:cNvPr id="107" name="Google Shape;107;p19"/>
          <p:cNvPicPr preferRelativeResize="0"/>
          <p:nvPr/>
        </p:nvPicPr>
        <p:blipFill>
          <a:blip r:embed="rId3">
            <a:alphaModFix/>
          </a:blip>
          <a:stretch>
            <a:fillRect/>
          </a:stretch>
        </p:blipFill>
        <p:spPr>
          <a:xfrm>
            <a:off x="1302300" y="3546821"/>
            <a:ext cx="1297915" cy="1129950"/>
          </a:xfrm>
          <a:prstGeom prst="rect">
            <a:avLst/>
          </a:prstGeom>
          <a:noFill/>
          <a:ln>
            <a:noFill/>
          </a:ln>
        </p:spPr>
      </p:pic>
      <p:pic>
        <p:nvPicPr>
          <p:cNvPr id="108" name="Google Shape;108;p19"/>
          <p:cNvPicPr preferRelativeResize="0"/>
          <p:nvPr/>
        </p:nvPicPr>
        <p:blipFill>
          <a:blip r:embed="rId4">
            <a:alphaModFix/>
          </a:blip>
          <a:stretch>
            <a:fillRect/>
          </a:stretch>
        </p:blipFill>
        <p:spPr>
          <a:xfrm>
            <a:off x="2705181" y="3546821"/>
            <a:ext cx="1129950" cy="1129950"/>
          </a:xfrm>
          <a:prstGeom prst="rect">
            <a:avLst/>
          </a:prstGeom>
          <a:noFill/>
          <a:ln>
            <a:noFill/>
          </a:ln>
        </p:spPr>
      </p:pic>
      <p:pic>
        <p:nvPicPr>
          <p:cNvPr id="109" name="Google Shape;109;p19"/>
          <p:cNvPicPr preferRelativeResize="0"/>
          <p:nvPr/>
        </p:nvPicPr>
        <p:blipFill>
          <a:blip r:embed="rId5">
            <a:alphaModFix/>
          </a:blip>
          <a:stretch>
            <a:fillRect/>
          </a:stretch>
        </p:blipFill>
        <p:spPr>
          <a:xfrm>
            <a:off x="3940094" y="3546821"/>
            <a:ext cx="1533922" cy="1129950"/>
          </a:xfrm>
          <a:prstGeom prst="rect">
            <a:avLst/>
          </a:prstGeom>
          <a:noFill/>
          <a:ln>
            <a:noFill/>
          </a:ln>
        </p:spPr>
      </p:pic>
      <p:pic>
        <p:nvPicPr>
          <p:cNvPr id="110" name="Google Shape;110;p19"/>
          <p:cNvPicPr preferRelativeResize="0"/>
          <p:nvPr/>
        </p:nvPicPr>
        <p:blipFill rotWithShape="1">
          <a:blip r:embed="rId6">
            <a:alphaModFix/>
          </a:blip>
          <a:srcRect b="43694" l="0" r="0" t="12786"/>
          <a:stretch/>
        </p:blipFill>
        <p:spPr>
          <a:xfrm>
            <a:off x="5578985" y="3641424"/>
            <a:ext cx="1770015" cy="726936"/>
          </a:xfrm>
          <a:prstGeom prst="rect">
            <a:avLst/>
          </a:prstGeom>
          <a:noFill/>
          <a:ln>
            <a:noFill/>
          </a:ln>
        </p:spPr>
      </p:pic>
      <p:sp>
        <p:nvSpPr>
          <p:cNvPr id="111" name="Google Shape;111;p19"/>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11700" y="78180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1720"/>
              <a:t>D</a:t>
            </a:r>
            <a:r>
              <a:rPr lang="en-GB" sz="1720"/>
              <a:t>esigning a cafe an example of which type of ergonomics?</a:t>
            </a:r>
            <a:endParaRPr sz="1720"/>
          </a:p>
        </p:txBody>
      </p:sp>
      <p:sp>
        <p:nvSpPr>
          <p:cNvPr id="117" name="Google Shape;117;p20"/>
          <p:cNvSpPr txBox="1"/>
          <p:nvPr>
            <p:ph idx="1" type="body"/>
          </p:nvPr>
        </p:nvSpPr>
        <p:spPr>
          <a:xfrm>
            <a:off x="311700" y="1271725"/>
            <a:ext cx="8520600" cy="201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sz="1300">
                <a:solidFill>
                  <a:srgbClr val="434343"/>
                </a:solidFill>
              </a:rPr>
              <a:t>Physical ergonomics</a:t>
            </a:r>
            <a:r>
              <a:rPr lang="en-GB" sz="1300">
                <a:solidFill>
                  <a:srgbClr val="434343"/>
                </a:solidFill>
              </a:rPr>
              <a:t> is involved in chair/table height, comfort, and accessibility.</a:t>
            </a:r>
            <a:endParaRPr sz="1300">
              <a:solidFill>
                <a:srgbClr val="434343"/>
              </a:solidFill>
            </a:endParaRPr>
          </a:p>
          <a:p>
            <a:pPr indent="0" lvl="0" marL="0" rtl="0" algn="l">
              <a:spcBef>
                <a:spcPts val="1200"/>
              </a:spcBef>
              <a:spcAft>
                <a:spcPts val="0"/>
              </a:spcAft>
              <a:buClr>
                <a:schemeClr val="dk1"/>
              </a:buClr>
              <a:buSzPts val="1100"/>
              <a:buFont typeface="Arial"/>
              <a:buNone/>
            </a:pPr>
            <a:r>
              <a:rPr b="1" lang="en-GB" sz="1300">
                <a:solidFill>
                  <a:srgbClr val="434343"/>
                </a:solidFill>
              </a:rPr>
              <a:t>Cognitive ergonomics</a:t>
            </a:r>
            <a:r>
              <a:rPr lang="en-GB" sz="1300">
                <a:solidFill>
                  <a:srgbClr val="434343"/>
                </a:solidFill>
              </a:rPr>
              <a:t> is present in menu design, signage, and how easy it is for customers to order and pay.</a:t>
            </a:r>
            <a:endParaRPr sz="1300">
              <a:solidFill>
                <a:srgbClr val="434343"/>
              </a:solidFill>
            </a:endParaRPr>
          </a:p>
          <a:p>
            <a:pPr indent="0" lvl="0" marL="0" rtl="0" algn="l">
              <a:spcBef>
                <a:spcPts val="1200"/>
              </a:spcBef>
              <a:spcAft>
                <a:spcPts val="1200"/>
              </a:spcAft>
              <a:buNone/>
            </a:pPr>
            <a:r>
              <a:rPr b="1" lang="en-GB" sz="1300">
                <a:solidFill>
                  <a:srgbClr val="434343"/>
                </a:solidFill>
              </a:rPr>
              <a:t>Organisational ergonomics</a:t>
            </a:r>
            <a:r>
              <a:rPr lang="en-GB" sz="1300">
                <a:solidFill>
                  <a:srgbClr val="434343"/>
                </a:solidFill>
              </a:rPr>
              <a:t> is present in the layout of the kitchen, coffee machines, and serving counters affects how staff move, interact, and serve customers.Organizing seating for customers, entry/exit paths, and ordering queues.</a:t>
            </a:r>
            <a:endParaRPr sz="1300">
              <a:solidFill>
                <a:srgbClr val="434343"/>
              </a:solidFill>
            </a:endParaRPr>
          </a:p>
        </p:txBody>
      </p:sp>
      <p:pic>
        <p:nvPicPr>
          <p:cNvPr id="118" name="Google Shape;118;p20"/>
          <p:cNvPicPr preferRelativeResize="0"/>
          <p:nvPr/>
        </p:nvPicPr>
        <p:blipFill>
          <a:blip r:embed="rId3">
            <a:alphaModFix/>
          </a:blip>
          <a:stretch>
            <a:fillRect/>
          </a:stretch>
        </p:blipFill>
        <p:spPr>
          <a:xfrm>
            <a:off x="3065650" y="3057500"/>
            <a:ext cx="2936825" cy="1676425"/>
          </a:xfrm>
          <a:prstGeom prst="rect">
            <a:avLst/>
          </a:prstGeom>
          <a:noFill/>
          <a:ln>
            <a:noFill/>
          </a:ln>
        </p:spPr>
      </p:pic>
      <p:sp>
        <p:nvSpPr>
          <p:cNvPr id="119" name="Google Shape;119;p20"/>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1.1.1 Ergonomics is the relationship and interaction between people (aspects of the human body) and the products, systems and environments they use.</a:t>
            </a:r>
            <a:endParaRPr b="1" sz="1100">
              <a:solidFill>
                <a:srgbClr val="351C7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nvSpPr>
        <p:spPr>
          <a:xfrm>
            <a:off x="117075" y="558501"/>
            <a:ext cx="7641900" cy="655500"/>
          </a:xfrm>
          <a:prstGeom prst="rect">
            <a:avLst/>
          </a:prstGeom>
          <a:solidFill>
            <a:srgbClr val="F3F3F3"/>
          </a:solid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i="0" lang="en-GB" sz="1200" u="none" cap="none" strike="noStrike">
                <a:solidFill>
                  <a:srgbClr val="990000"/>
                </a:solidFill>
                <a:latin typeface="Lexend"/>
                <a:ea typeface="Lexend"/>
                <a:cs typeface="Lexend"/>
                <a:sym typeface="Lexend"/>
              </a:rPr>
              <a:t>Anthropometrics is the study of different sizes of people. Knowing the size of people and their body parts, aids designers to develop products and spaces which are comfortable or adjustable and increase the ease of use. </a:t>
            </a:r>
            <a:endParaRPr i="0" sz="1200" u="none" cap="none" strike="noStrike">
              <a:solidFill>
                <a:srgbClr val="990000"/>
              </a:solidFill>
              <a:latin typeface="Lexend"/>
              <a:ea typeface="Lexend"/>
              <a:cs typeface="Lexend"/>
              <a:sym typeface="Lexend"/>
            </a:endParaRPr>
          </a:p>
        </p:txBody>
      </p:sp>
      <p:sp>
        <p:nvSpPr>
          <p:cNvPr id="125" name="Google Shape;125;p21"/>
          <p:cNvSpPr txBox="1"/>
          <p:nvPr/>
        </p:nvSpPr>
        <p:spPr>
          <a:xfrm>
            <a:off x="1654200" y="1187483"/>
            <a:ext cx="7336200" cy="616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Design should be human/user centred so designers need to ensure that the products they design are the right size for the user and comfortable to use - what would happen if this wasn’t taken into consideration?  </a:t>
            </a:r>
            <a:endParaRPr b="0" i="0" sz="1200" u="none" cap="none" strike="noStrike">
              <a:solidFill>
                <a:srgbClr val="000000"/>
              </a:solidFill>
              <a:latin typeface="Arial"/>
              <a:ea typeface="Arial"/>
              <a:cs typeface="Arial"/>
              <a:sym typeface="Arial"/>
            </a:endParaRPr>
          </a:p>
        </p:txBody>
      </p:sp>
      <p:sp>
        <p:nvSpPr>
          <p:cNvPr id="126" name="Google Shape;126;p21"/>
          <p:cNvSpPr txBox="1"/>
          <p:nvPr/>
        </p:nvSpPr>
        <p:spPr>
          <a:xfrm>
            <a:off x="1806600" y="1694775"/>
            <a:ext cx="4506900" cy="4638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Arial"/>
                <a:ea typeface="Arial"/>
                <a:cs typeface="Arial"/>
                <a:sym typeface="Arial"/>
              </a:rPr>
              <a:t>“You don’t think about a </a:t>
            </a:r>
            <a:r>
              <a:rPr lang="en-GB" sz="1100">
                <a:solidFill>
                  <a:schemeClr val="dk1"/>
                </a:solidFill>
              </a:rPr>
              <a:t>chair</a:t>
            </a:r>
            <a:r>
              <a:rPr b="0" i="0" lang="en-GB" sz="1100" u="none" cap="none" strike="noStrike">
                <a:solidFill>
                  <a:schemeClr val="dk1"/>
                </a:solidFill>
                <a:latin typeface="Arial"/>
                <a:ea typeface="Arial"/>
                <a:cs typeface="Arial"/>
                <a:sym typeface="Arial"/>
              </a:rPr>
              <a:t> being a design product until you </a:t>
            </a:r>
            <a:r>
              <a:rPr lang="en-GB" sz="1100">
                <a:solidFill>
                  <a:schemeClr val="dk1"/>
                </a:solidFill>
              </a:rPr>
              <a:t>sit on a badly</a:t>
            </a:r>
            <a:r>
              <a:rPr b="0" i="0" lang="en-GB" sz="1100" u="none" cap="none" strike="noStrike">
                <a:solidFill>
                  <a:schemeClr val="dk1"/>
                </a:solidFill>
                <a:latin typeface="Arial"/>
                <a:ea typeface="Arial"/>
                <a:cs typeface="Arial"/>
                <a:sym typeface="Arial"/>
              </a:rPr>
              <a:t> designed </a:t>
            </a:r>
            <a:r>
              <a:rPr lang="en-GB" sz="1100">
                <a:solidFill>
                  <a:schemeClr val="dk1"/>
                </a:solidFill>
              </a:rPr>
              <a:t>chair</a:t>
            </a:r>
            <a:r>
              <a:rPr b="0" i="0" lang="en-GB"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127" name="Google Shape;127;p21"/>
          <p:cNvSpPr txBox="1"/>
          <p:nvPr/>
        </p:nvSpPr>
        <p:spPr>
          <a:xfrm>
            <a:off x="3105175" y="2311200"/>
            <a:ext cx="3678600" cy="192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Designers have access to data and drawings that state measurements of human beings of all ages and sizes. Designers will need to consider which group will interact with the product or service to use the appropriate data group. Use and misuse of this data is an important consideration. The graph to the left shows a typical “percentile range” of anthropometric data. We will go into more detail later.</a:t>
            </a:r>
            <a:endParaRPr b="0" i="0" sz="1200" u="none" cap="none" strike="noStrike">
              <a:solidFill>
                <a:srgbClr val="000000"/>
              </a:solidFill>
              <a:latin typeface="Arial"/>
              <a:ea typeface="Arial"/>
              <a:cs typeface="Arial"/>
              <a:sym typeface="Arial"/>
            </a:endParaRPr>
          </a:p>
        </p:txBody>
      </p:sp>
      <p:sp>
        <p:nvSpPr>
          <p:cNvPr id="128" name="Google Shape;128;p21"/>
          <p:cNvSpPr txBox="1"/>
          <p:nvPr/>
        </p:nvSpPr>
        <p:spPr>
          <a:xfrm>
            <a:off x="1669725" y="4308825"/>
            <a:ext cx="7092000" cy="655500"/>
          </a:xfrm>
          <a:prstGeom prst="rect">
            <a:avLst/>
          </a:prstGeom>
          <a:solidFill>
            <a:srgbClr val="9FC5E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200" u="none" cap="none" strike="noStrike">
                <a:solidFill>
                  <a:srgbClr val="000000"/>
                </a:solidFill>
                <a:latin typeface="Arial"/>
                <a:ea typeface="Arial"/>
                <a:cs typeface="Arial"/>
                <a:sym typeface="Arial"/>
              </a:rPr>
              <a:t>Percentile range graphs show the proportion of a certain population or ethnic group with a particular dimension. These then detail the “average” range (50th percentile) along with the 5th and 95th percentile. We will go into much further detail later in this topic.</a:t>
            </a:r>
            <a:endParaRPr b="0" i="0" sz="1200" u="none" cap="none" strike="noStrike">
              <a:solidFill>
                <a:srgbClr val="000000"/>
              </a:solidFill>
              <a:latin typeface="Arial"/>
              <a:ea typeface="Arial"/>
              <a:cs typeface="Arial"/>
              <a:sym typeface="Arial"/>
            </a:endParaRPr>
          </a:p>
        </p:txBody>
      </p:sp>
      <p:pic>
        <p:nvPicPr>
          <p:cNvPr id="129" name="Google Shape;129;p21" title="Fundamentals of DfHV- Ep. 2 - Anthropometry.mp4">
            <a:hlinkClick r:id="rId3"/>
          </p:cNvPr>
          <p:cNvPicPr preferRelativeResize="0"/>
          <p:nvPr/>
        </p:nvPicPr>
        <p:blipFill>
          <a:blip r:embed="rId4">
            <a:alphaModFix/>
          </a:blip>
          <a:stretch>
            <a:fillRect/>
          </a:stretch>
        </p:blipFill>
        <p:spPr>
          <a:xfrm>
            <a:off x="135111" y="1282643"/>
            <a:ext cx="1501802" cy="844763"/>
          </a:xfrm>
          <a:prstGeom prst="rect">
            <a:avLst/>
          </a:prstGeom>
          <a:noFill/>
          <a:ln>
            <a:noFill/>
          </a:ln>
        </p:spPr>
      </p:pic>
      <p:pic>
        <p:nvPicPr>
          <p:cNvPr descr="Anthropometrics is the study of human dimensions. This educational video is focused toward interior design students learning how human factors influence design thinking and solutions for a better, more inclusive world.  2017" id="130" name="Google Shape;130;p21" title="Chapter 2 Anthropometrics">
            <a:hlinkClick r:id="rId5"/>
          </p:cNvPr>
          <p:cNvPicPr preferRelativeResize="0"/>
          <p:nvPr/>
        </p:nvPicPr>
        <p:blipFill>
          <a:blip r:embed="rId6">
            <a:alphaModFix/>
          </a:blip>
          <a:stretch>
            <a:fillRect/>
          </a:stretch>
        </p:blipFill>
        <p:spPr>
          <a:xfrm>
            <a:off x="135100" y="4117925"/>
            <a:ext cx="1366700" cy="844775"/>
          </a:xfrm>
          <a:prstGeom prst="rect">
            <a:avLst/>
          </a:prstGeom>
          <a:noFill/>
          <a:ln>
            <a:noFill/>
          </a:ln>
        </p:spPr>
      </p:pic>
      <p:sp>
        <p:nvSpPr>
          <p:cNvPr id="131" name="Google Shape;131;p21"/>
          <p:cNvSpPr txBox="1"/>
          <p:nvPr/>
        </p:nvSpPr>
        <p:spPr>
          <a:xfrm>
            <a:off x="117075" y="2279525"/>
            <a:ext cx="2925000" cy="1762200"/>
          </a:xfrm>
          <a:prstGeom prst="rect">
            <a:avLst/>
          </a:prstGeom>
          <a:solidFill>
            <a:srgbClr val="F3F3F3"/>
          </a:solid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Lexend"/>
                <a:ea typeface="Lexend"/>
                <a:cs typeface="Lexend"/>
                <a:sym typeface="Lexend"/>
              </a:rPr>
              <a:t>Anthropometrics</a:t>
            </a:r>
            <a:r>
              <a:rPr i="0" lang="en-GB" sz="1200" u="none" cap="none" strike="noStrike">
                <a:solidFill>
                  <a:srgbClr val="000000"/>
                </a:solidFill>
                <a:latin typeface="Lexend"/>
                <a:ea typeface="Lexend"/>
                <a:cs typeface="Lexend"/>
                <a:sym typeface="Lexend"/>
              </a:rPr>
              <a:t>: from the Greek word “</a:t>
            </a:r>
            <a:r>
              <a:rPr b="1" i="1" lang="en-GB" sz="1200" u="none" cap="none" strike="noStrike">
                <a:solidFill>
                  <a:srgbClr val="000000"/>
                </a:solidFill>
                <a:latin typeface="Lexend"/>
                <a:ea typeface="Lexend"/>
                <a:cs typeface="Lexend"/>
                <a:sym typeface="Lexend"/>
              </a:rPr>
              <a:t>anthropos</a:t>
            </a:r>
            <a:r>
              <a:rPr i="0" lang="en-GB" sz="1200" u="none" cap="none" strike="noStrike">
                <a:solidFill>
                  <a:srgbClr val="000000"/>
                </a:solidFill>
                <a:latin typeface="Lexend"/>
                <a:ea typeface="Lexend"/>
                <a:cs typeface="Lexend"/>
                <a:sym typeface="Lexend"/>
              </a:rPr>
              <a:t>” meaning “</a:t>
            </a:r>
            <a:r>
              <a:rPr b="1" i="0" lang="en-GB" sz="1200" u="none" cap="none" strike="noStrike">
                <a:solidFill>
                  <a:srgbClr val="000000"/>
                </a:solidFill>
                <a:latin typeface="Lexend"/>
                <a:ea typeface="Lexend"/>
                <a:cs typeface="Lexend"/>
                <a:sym typeface="Lexend"/>
              </a:rPr>
              <a:t>man</a:t>
            </a:r>
            <a:r>
              <a:rPr i="0" lang="en-GB" sz="1200" u="none" cap="none" strike="noStrike">
                <a:solidFill>
                  <a:srgbClr val="000000"/>
                </a:solidFill>
                <a:latin typeface="Lexend"/>
                <a:ea typeface="Lexend"/>
                <a:cs typeface="Lexend"/>
                <a:sym typeface="Lexend"/>
              </a:rPr>
              <a:t>” and “</a:t>
            </a:r>
            <a:r>
              <a:rPr b="1" i="1" lang="en-GB" sz="1200" u="none" cap="none" strike="noStrike">
                <a:solidFill>
                  <a:srgbClr val="000000"/>
                </a:solidFill>
                <a:latin typeface="Lexend"/>
                <a:ea typeface="Lexend"/>
                <a:cs typeface="Lexend"/>
                <a:sym typeface="Lexend"/>
              </a:rPr>
              <a:t>metron</a:t>
            </a:r>
            <a:r>
              <a:rPr i="0" lang="en-GB" sz="1200" u="none" cap="none" strike="noStrike">
                <a:solidFill>
                  <a:srgbClr val="000000"/>
                </a:solidFill>
                <a:latin typeface="Lexend"/>
                <a:ea typeface="Lexend"/>
                <a:cs typeface="Lexend"/>
                <a:sym typeface="Lexend"/>
              </a:rPr>
              <a:t>” meaning “</a:t>
            </a:r>
            <a:r>
              <a:rPr b="1" i="0" lang="en-GB" sz="1200" u="none" cap="none" strike="noStrike">
                <a:solidFill>
                  <a:srgbClr val="000000"/>
                </a:solidFill>
                <a:latin typeface="Lexend"/>
                <a:ea typeface="Lexend"/>
                <a:cs typeface="Lexend"/>
                <a:sym typeface="Lexend"/>
              </a:rPr>
              <a:t>measure</a:t>
            </a:r>
            <a:r>
              <a:rPr i="0" lang="en-GB" sz="1200" u="none" cap="none" strike="noStrike">
                <a:solidFill>
                  <a:srgbClr val="000000"/>
                </a:solidFill>
                <a:latin typeface="Lexend"/>
                <a:ea typeface="Lexend"/>
                <a:cs typeface="Lexend"/>
                <a:sym typeface="Lexend"/>
              </a:rPr>
              <a:t>”. </a:t>
            </a:r>
            <a:r>
              <a:rPr i="0" lang="en-GB" sz="1200" u="none" cap="none" strike="noStrike">
                <a:solidFill>
                  <a:schemeClr val="dk1"/>
                </a:solidFill>
                <a:latin typeface="Lexend"/>
                <a:ea typeface="Lexend"/>
                <a:cs typeface="Lexend"/>
                <a:sym typeface="Lexend"/>
              </a:rPr>
              <a:t>Anthropometry refers the measurement of the human individual. It is an aspect of ergonomics that deals with </a:t>
            </a:r>
            <a:r>
              <a:rPr b="1" i="0" lang="en-GB" sz="1200" u="none" cap="none" strike="noStrike">
                <a:solidFill>
                  <a:schemeClr val="dk1"/>
                </a:solidFill>
                <a:latin typeface="Lexend"/>
                <a:ea typeface="Lexend"/>
                <a:cs typeface="Lexend"/>
                <a:sym typeface="Lexend"/>
              </a:rPr>
              <a:t>body measurements</a:t>
            </a:r>
            <a:r>
              <a:rPr i="0" lang="en-GB" sz="1200" u="none" cap="none" strike="noStrike">
                <a:solidFill>
                  <a:schemeClr val="dk1"/>
                </a:solidFill>
                <a:latin typeface="Lexend"/>
                <a:ea typeface="Lexend"/>
                <a:cs typeface="Lexend"/>
                <a:sym typeface="Lexend"/>
              </a:rPr>
              <a:t>, particularly the areas of size, strength and capacity.</a:t>
            </a:r>
            <a:endParaRPr i="0" sz="1200" u="none" cap="none" strike="noStrike">
              <a:solidFill>
                <a:srgbClr val="000000"/>
              </a:solidFill>
              <a:latin typeface="Lexend"/>
              <a:ea typeface="Lexend"/>
              <a:cs typeface="Lexend"/>
              <a:sym typeface="Lexend"/>
            </a:endParaRPr>
          </a:p>
        </p:txBody>
      </p:sp>
      <p:pic>
        <p:nvPicPr>
          <p:cNvPr id="132" name="Google Shape;132;p21"/>
          <p:cNvPicPr preferRelativeResize="0"/>
          <p:nvPr/>
        </p:nvPicPr>
        <p:blipFill>
          <a:blip r:embed="rId7">
            <a:alphaModFix/>
          </a:blip>
          <a:stretch>
            <a:fillRect/>
          </a:stretch>
        </p:blipFill>
        <p:spPr>
          <a:xfrm>
            <a:off x="7745932" y="531049"/>
            <a:ext cx="1168200" cy="584100"/>
          </a:xfrm>
          <a:prstGeom prst="rect">
            <a:avLst/>
          </a:prstGeom>
          <a:noFill/>
          <a:ln>
            <a:noFill/>
          </a:ln>
        </p:spPr>
      </p:pic>
      <p:sp>
        <p:nvSpPr>
          <p:cNvPr id="133" name="Google Shape;133;p21"/>
          <p:cNvSpPr txBox="1"/>
          <p:nvPr/>
        </p:nvSpPr>
        <p:spPr>
          <a:xfrm>
            <a:off x="7829775" y="1089430"/>
            <a:ext cx="863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700">
                <a:solidFill>
                  <a:srgbClr val="B7B7B7"/>
                </a:solidFill>
              </a:rPr>
              <a:t>freepik.com</a:t>
            </a:r>
            <a:endParaRPr sz="700">
              <a:solidFill>
                <a:srgbClr val="B7B7B7"/>
              </a:solidFill>
            </a:endParaRPr>
          </a:p>
        </p:txBody>
      </p:sp>
      <p:sp>
        <p:nvSpPr>
          <p:cNvPr id="134" name="Google Shape;134;p21"/>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1.1.2 Anthropometrics involves the measurement of human physical dimensions expressed in the percentile range. This method specifically focuses on determining and presenting the range of individuals’ physical characteristics.</a:t>
            </a:r>
            <a:endParaRPr b="1" sz="1100">
              <a:solidFill>
                <a:srgbClr val="351C75"/>
              </a:solidFill>
            </a:endParaRPr>
          </a:p>
        </p:txBody>
      </p:sp>
      <p:pic>
        <p:nvPicPr>
          <p:cNvPr id="135" name="Google Shape;135;p21" title="Screenshot 2026-09-20 at 9.03.42 PM.png"/>
          <p:cNvPicPr preferRelativeResize="0"/>
          <p:nvPr/>
        </p:nvPicPr>
        <p:blipFill rotWithShape="1">
          <a:blip r:embed="rId8">
            <a:alphaModFix/>
          </a:blip>
          <a:srcRect b="0" l="0" r="6094" t="0"/>
          <a:stretch/>
        </p:blipFill>
        <p:spPr>
          <a:xfrm>
            <a:off x="6846875" y="1966703"/>
            <a:ext cx="2183575" cy="11548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nvSpPr>
        <p:spPr>
          <a:xfrm>
            <a:off x="140200" y="560675"/>
            <a:ext cx="8906700" cy="2661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Anthropometric data is more than a simple measurement. It can be subclassed into two categories, </a:t>
            </a:r>
            <a:r>
              <a:rPr b="1" i="0" lang="en-GB" sz="1100" u="none" cap="none" strike="noStrike">
                <a:solidFill>
                  <a:srgbClr val="000000"/>
                </a:solidFill>
                <a:latin typeface="Arial"/>
                <a:ea typeface="Arial"/>
                <a:cs typeface="Arial"/>
                <a:sym typeface="Arial"/>
              </a:rPr>
              <a:t>Static</a:t>
            </a:r>
            <a:r>
              <a:rPr b="0" i="0" lang="en-GB" sz="1100" u="none" cap="none" strike="noStrike">
                <a:solidFill>
                  <a:srgbClr val="000000"/>
                </a:solidFill>
                <a:latin typeface="Arial"/>
                <a:ea typeface="Arial"/>
                <a:cs typeface="Arial"/>
                <a:sym typeface="Arial"/>
              </a:rPr>
              <a:t> and </a:t>
            </a:r>
            <a:r>
              <a:rPr b="1" i="0" lang="en-GB" sz="1100" u="none" cap="none" strike="noStrike">
                <a:solidFill>
                  <a:srgbClr val="000000"/>
                </a:solidFill>
                <a:latin typeface="Arial"/>
                <a:ea typeface="Arial"/>
                <a:cs typeface="Arial"/>
                <a:sym typeface="Arial"/>
              </a:rPr>
              <a:t>Dynamic</a:t>
            </a:r>
            <a:r>
              <a:rPr b="0" i="0" lang="en-GB" sz="1100" u="none" cap="none" strike="noStrike">
                <a:solidFill>
                  <a:srgbClr val="000000"/>
                </a:solidFill>
                <a:latin typeface="Arial"/>
                <a:ea typeface="Arial"/>
                <a:cs typeface="Arial"/>
                <a:sym typeface="Arial"/>
              </a:rPr>
              <a:t> data. </a:t>
            </a:r>
            <a:endParaRPr b="0" i="0" sz="1100" u="none" cap="none" strike="noStrike">
              <a:solidFill>
                <a:srgbClr val="000000"/>
              </a:solidFill>
              <a:latin typeface="Arial"/>
              <a:ea typeface="Arial"/>
              <a:cs typeface="Arial"/>
              <a:sym typeface="Arial"/>
            </a:endParaRPr>
          </a:p>
        </p:txBody>
      </p:sp>
      <p:sp>
        <p:nvSpPr>
          <p:cNvPr id="141" name="Google Shape;141;p22"/>
          <p:cNvSpPr txBox="1"/>
          <p:nvPr/>
        </p:nvSpPr>
        <p:spPr>
          <a:xfrm>
            <a:off x="154225" y="918500"/>
            <a:ext cx="4296900" cy="396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2"/>
          <p:cNvSpPr txBox="1"/>
          <p:nvPr/>
        </p:nvSpPr>
        <p:spPr>
          <a:xfrm>
            <a:off x="154225" y="918500"/>
            <a:ext cx="4296900" cy="414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2"/>
          <p:cNvSpPr txBox="1"/>
          <p:nvPr/>
        </p:nvSpPr>
        <p:spPr>
          <a:xfrm>
            <a:off x="4559500" y="918500"/>
            <a:ext cx="4487400" cy="4149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22"/>
          <p:cNvSpPr txBox="1"/>
          <p:nvPr/>
        </p:nvSpPr>
        <p:spPr>
          <a:xfrm>
            <a:off x="255450" y="1001325"/>
            <a:ext cx="4094400" cy="662400"/>
          </a:xfrm>
          <a:prstGeom prst="rect">
            <a:avLst/>
          </a:prstGeom>
          <a:solidFill>
            <a:srgbClr val="8E7CC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FFFFFF"/>
                </a:solidFill>
                <a:latin typeface="Arial"/>
                <a:ea typeface="Arial"/>
                <a:cs typeface="Arial"/>
                <a:sym typeface="Arial"/>
              </a:rPr>
              <a:t>Static Data</a:t>
            </a:r>
            <a:r>
              <a:rPr b="0" i="0" lang="en-GB" sz="1100" u="none" cap="none" strike="noStrike">
                <a:solidFill>
                  <a:srgbClr val="FFFFFF"/>
                </a:solidFill>
                <a:latin typeface="Arial"/>
                <a:ea typeface="Arial"/>
                <a:cs typeface="Arial"/>
                <a:sym typeface="Arial"/>
              </a:rPr>
              <a:t> (also known as </a:t>
            </a:r>
            <a:r>
              <a:rPr b="1" i="0" lang="en-GB" sz="1100" u="none" cap="none" strike="noStrike">
                <a:solidFill>
                  <a:srgbClr val="FFFFFF"/>
                </a:solidFill>
                <a:latin typeface="Arial"/>
                <a:ea typeface="Arial"/>
                <a:cs typeface="Arial"/>
                <a:sym typeface="Arial"/>
              </a:rPr>
              <a:t>Structural data</a:t>
            </a:r>
            <a:r>
              <a:rPr b="0" i="0" lang="en-GB" sz="1100" u="none" cap="none" strike="noStrike">
                <a:solidFill>
                  <a:srgbClr val="FFFFFF"/>
                </a:solidFill>
                <a:latin typeface="Arial"/>
                <a:ea typeface="Arial"/>
                <a:cs typeface="Arial"/>
                <a:sym typeface="Arial"/>
              </a:rPr>
              <a:t>) refers to measurements taken while the subject is in a fixed or standard position, i.e Height, arm length etc.</a:t>
            </a:r>
            <a:endParaRPr b="0" i="0" sz="1100" u="none" cap="none" strike="noStrike">
              <a:solidFill>
                <a:srgbClr val="FFFFFF"/>
              </a:solidFill>
              <a:latin typeface="Arial"/>
              <a:ea typeface="Arial"/>
              <a:cs typeface="Arial"/>
              <a:sym typeface="Arial"/>
            </a:endParaRPr>
          </a:p>
        </p:txBody>
      </p:sp>
      <p:sp>
        <p:nvSpPr>
          <p:cNvPr id="145" name="Google Shape;145;p22"/>
          <p:cNvSpPr txBox="1"/>
          <p:nvPr/>
        </p:nvSpPr>
        <p:spPr>
          <a:xfrm>
            <a:off x="4660750" y="1001325"/>
            <a:ext cx="4247100" cy="662400"/>
          </a:xfrm>
          <a:prstGeom prst="rect">
            <a:avLst/>
          </a:prstGeom>
          <a:solidFill>
            <a:srgbClr val="6D9EE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FFFFFF"/>
                </a:solidFill>
                <a:latin typeface="Arial"/>
                <a:ea typeface="Arial"/>
                <a:cs typeface="Arial"/>
                <a:sym typeface="Arial"/>
              </a:rPr>
              <a:t>Dynamic data</a:t>
            </a:r>
            <a:r>
              <a:rPr b="0" i="0" lang="en-GB" sz="1100" u="none" cap="none" strike="noStrike">
                <a:solidFill>
                  <a:srgbClr val="FFFFFF"/>
                </a:solidFill>
                <a:latin typeface="Arial"/>
                <a:ea typeface="Arial"/>
                <a:cs typeface="Arial"/>
                <a:sym typeface="Arial"/>
              </a:rPr>
              <a:t> (also known as </a:t>
            </a:r>
            <a:r>
              <a:rPr b="1" i="0" lang="en-GB" sz="1100" u="none" cap="none" strike="noStrike">
                <a:solidFill>
                  <a:srgbClr val="FFFFFF"/>
                </a:solidFill>
                <a:latin typeface="Arial"/>
                <a:ea typeface="Arial"/>
                <a:cs typeface="Arial"/>
                <a:sym typeface="Arial"/>
              </a:rPr>
              <a:t>Functional data</a:t>
            </a:r>
            <a:r>
              <a:rPr b="0" i="0" lang="en-GB" sz="1100" u="none" cap="none" strike="noStrike">
                <a:solidFill>
                  <a:srgbClr val="FFFFFF"/>
                </a:solidFill>
                <a:latin typeface="Arial"/>
                <a:ea typeface="Arial"/>
                <a:cs typeface="Arial"/>
                <a:sym typeface="Arial"/>
              </a:rPr>
              <a:t>) refers to measurements taken during physical activity or movement. I.e crawling height, table reach length, overhead clearance.</a:t>
            </a:r>
            <a:endParaRPr b="0" i="0" sz="1100" u="none" cap="none" strike="noStrike">
              <a:solidFill>
                <a:srgbClr val="FFFFFF"/>
              </a:solidFill>
              <a:latin typeface="Arial"/>
              <a:ea typeface="Arial"/>
              <a:cs typeface="Arial"/>
              <a:sym typeface="Arial"/>
            </a:endParaRPr>
          </a:p>
        </p:txBody>
      </p:sp>
      <p:sp>
        <p:nvSpPr>
          <p:cNvPr id="146" name="Google Shape;146;p22"/>
          <p:cNvSpPr txBox="1"/>
          <p:nvPr/>
        </p:nvSpPr>
        <p:spPr>
          <a:xfrm>
            <a:off x="273850" y="1709825"/>
            <a:ext cx="1435500" cy="12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Static data is </a:t>
            </a:r>
            <a:r>
              <a:rPr b="1" i="0" lang="en-GB" sz="1100" u="none" cap="none" strike="noStrike">
                <a:solidFill>
                  <a:srgbClr val="000000"/>
                </a:solidFill>
                <a:latin typeface="Arial"/>
                <a:ea typeface="Arial"/>
                <a:cs typeface="Arial"/>
                <a:sym typeface="Arial"/>
              </a:rPr>
              <a:t>much </a:t>
            </a:r>
            <a:r>
              <a:rPr b="0" i="0" lang="en-GB" sz="1100" u="none" cap="none" strike="noStrike">
                <a:solidFill>
                  <a:srgbClr val="000000"/>
                </a:solidFill>
                <a:latin typeface="Arial"/>
                <a:ea typeface="Arial"/>
                <a:cs typeface="Arial"/>
                <a:sym typeface="Arial"/>
              </a:rPr>
              <a:t>easier to gather as people are asked to remain still throughout the process. </a:t>
            </a:r>
            <a:endParaRPr b="0" i="0" sz="1100" u="none" cap="none" strike="noStrike">
              <a:solidFill>
                <a:srgbClr val="000000"/>
              </a:solidFill>
              <a:latin typeface="Arial"/>
              <a:ea typeface="Arial"/>
              <a:cs typeface="Arial"/>
              <a:sym typeface="Arial"/>
            </a:endParaRPr>
          </a:p>
        </p:txBody>
      </p:sp>
      <p:sp>
        <p:nvSpPr>
          <p:cNvPr id="147" name="Google Shape;147;p22"/>
          <p:cNvSpPr txBox="1"/>
          <p:nvPr/>
        </p:nvSpPr>
        <p:spPr>
          <a:xfrm>
            <a:off x="4660750" y="1629575"/>
            <a:ext cx="2170800" cy="1409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Dynamic data collection involves subjects performing tasks. People also carry out similar tasks in different ways to each other. While static data is more </a:t>
            </a:r>
            <a:r>
              <a:rPr b="1" i="0" lang="en-GB" sz="1100" u="none" cap="none" strike="noStrike">
                <a:solidFill>
                  <a:srgbClr val="000000"/>
                </a:solidFill>
                <a:latin typeface="Arial"/>
                <a:ea typeface="Arial"/>
                <a:cs typeface="Arial"/>
                <a:sym typeface="Arial"/>
              </a:rPr>
              <a:t>reliable</a:t>
            </a:r>
            <a:r>
              <a:rPr b="0" i="0" lang="en-GB" sz="1100" u="none" cap="none" strike="noStrike">
                <a:solidFill>
                  <a:srgbClr val="000000"/>
                </a:solidFill>
                <a:latin typeface="Arial"/>
                <a:ea typeface="Arial"/>
                <a:cs typeface="Arial"/>
                <a:sym typeface="Arial"/>
              </a:rPr>
              <a:t>, dynamic data can be more </a:t>
            </a:r>
            <a:r>
              <a:rPr b="1" i="0" lang="en-GB" sz="1100" u="none" cap="none" strike="noStrike">
                <a:solidFill>
                  <a:srgbClr val="000000"/>
                </a:solidFill>
                <a:latin typeface="Arial"/>
                <a:ea typeface="Arial"/>
                <a:cs typeface="Arial"/>
                <a:sym typeface="Arial"/>
              </a:rPr>
              <a:t>useful</a:t>
            </a:r>
            <a:r>
              <a:rPr b="0" i="0" lang="en-GB" sz="1100" u="none" cap="none" strike="noStrike">
                <a:solidFill>
                  <a:srgbClr val="000000"/>
                </a:solidFill>
                <a:latin typeface="Arial"/>
                <a:ea typeface="Arial"/>
                <a:cs typeface="Arial"/>
                <a:sym typeface="Arial"/>
              </a:rPr>
              <a:t> to the designer.</a:t>
            </a:r>
            <a:endParaRPr b="0" i="0" sz="1100" u="none" cap="none" strike="noStrike">
              <a:solidFill>
                <a:srgbClr val="000000"/>
              </a:solidFill>
              <a:latin typeface="Arial"/>
              <a:ea typeface="Arial"/>
              <a:cs typeface="Arial"/>
              <a:sym typeface="Arial"/>
            </a:endParaRPr>
          </a:p>
        </p:txBody>
      </p:sp>
      <p:sp>
        <p:nvSpPr>
          <p:cNvPr id="148" name="Google Shape;148;p22"/>
          <p:cNvSpPr txBox="1"/>
          <p:nvPr/>
        </p:nvSpPr>
        <p:spPr>
          <a:xfrm>
            <a:off x="290275" y="3173900"/>
            <a:ext cx="4059600" cy="140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Types</a:t>
            </a:r>
            <a:r>
              <a:rPr b="0" i="0" lang="en-GB" sz="1000" u="none" cap="none" strike="noStrike">
                <a:solidFill>
                  <a:srgbClr val="000000"/>
                </a:solidFill>
                <a:latin typeface="Arial"/>
                <a:ea typeface="Arial"/>
                <a:cs typeface="Arial"/>
                <a:sym typeface="Arial"/>
              </a:rPr>
              <a:t> of Static measurements: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Skeletal dimensions</a:t>
            </a:r>
            <a:r>
              <a:rPr b="0" i="0" lang="en-GB" sz="1000" u="none" cap="none" strike="noStrike">
                <a:solidFill>
                  <a:srgbClr val="000000"/>
                </a:solidFill>
                <a:latin typeface="Arial"/>
                <a:ea typeface="Arial"/>
                <a:cs typeface="Arial"/>
                <a:sym typeface="Arial"/>
              </a:rPr>
              <a:t>: measurements of length of bones between joint centres.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Static or stationary physical measurements</a:t>
            </a:r>
            <a:r>
              <a:rPr b="0" i="0" lang="en-GB" sz="1000" u="none" cap="none" strike="noStrike">
                <a:solidFill>
                  <a:srgbClr val="000000"/>
                </a:solidFill>
                <a:latin typeface="Arial"/>
                <a:ea typeface="Arial"/>
                <a:cs typeface="Arial"/>
                <a:sym typeface="Arial"/>
              </a:rPr>
              <a:t>: weight, height, ear size.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Soft tissue measurement</a:t>
            </a:r>
            <a:r>
              <a:rPr b="0" i="0" lang="en-GB" sz="1000" u="none" cap="none" strike="noStrike">
                <a:solidFill>
                  <a:srgbClr val="000000"/>
                </a:solidFill>
                <a:latin typeface="Arial"/>
                <a:ea typeface="Arial"/>
                <a:cs typeface="Arial"/>
                <a:sym typeface="Arial"/>
              </a:rPr>
              <a:t>: the wobbly stuff that covers our bodies...muscle, fat, skin etc.</a:t>
            </a:r>
            <a:endParaRPr b="0" i="0" sz="1000" u="none" cap="none" strike="noStrike">
              <a:solidFill>
                <a:srgbClr val="000000"/>
              </a:solidFill>
              <a:latin typeface="Arial"/>
              <a:ea typeface="Arial"/>
              <a:cs typeface="Arial"/>
              <a:sym typeface="Arial"/>
            </a:endParaRPr>
          </a:p>
        </p:txBody>
      </p:sp>
      <p:sp>
        <p:nvSpPr>
          <p:cNvPr id="149" name="Google Shape;149;p22"/>
          <p:cNvSpPr txBox="1"/>
          <p:nvPr/>
        </p:nvSpPr>
        <p:spPr>
          <a:xfrm>
            <a:off x="4678150" y="3180600"/>
            <a:ext cx="4247100" cy="1409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Types</a:t>
            </a:r>
            <a:r>
              <a:rPr b="0" i="0" lang="en-GB" sz="1000" u="none" cap="none" strike="noStrike">
                <a:solidFill>
                  <a:srgbClr val="000000"/>
                </a:solidFill>
                <a:latin typeface="Arial"/>
                <a:ea typeface="Arial"/>
                <a:cs typeface="Arial"/>
                <a:sym typeface="Arial"/>
              </a:rPr>
              <a:t> of Dynamic measurements:</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Reach</a:t>
            </a:r>
            <a:r>
              <a:rPr b="0" i="0" lang="en-GB" sz="1000" u="none" cap="none" strike="noStrike">
                <a:solidFill>
                  <a:srgbClr val="000000"/>
                </a:solidFill>
                <a:latin typeface="Arial"/>
                <a:ea typeface="Arial"/>
                <a:cs typeface="Arial"/>
                <a:sym typeface="Arial"/>
              </a:rPr>
              <a:t>: (e.g, could be arm plus extended torso)</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Clearance</a:t>
            </a:r>
            <a:r>
              <a:rPr b="0" i="0" lang="en-GB" sz="1000" u="none" cap="none" strike="noStrike">
                <a:solidFill>
                  <a:srgbClr val="000000"/>
                </a:solidFill>
                <a:latin typeface="Arial"/>
                <a:ea typeface="Arial"/>
                <a:cs typeface="Arial"/>
                <a:sym typeface="Arial"/>
              </a:rPr>
              <a:t>: (two people through a doorway)</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Volumetric data</a:t>
            </a:r>
            <a:r>
              <a:rPr b="0" i="0" lang="en-GB" sz="1000" u="none" cap="none" strike="noStrike">
                <a:solidFill>
                  <a:srgbClr val="000000"/>
                </a:solidFill>
                <a:latin typeface="Arial"/>
                <a:ea typeface="Arial"/>
                <a:cs typeface="Arial"/>
                <a:sym typeface="Arial"/>
              </a:rPr>
              <a:t>: or kinosphere. Defined as “the space that can be reached by easily extending limbs”. This concept has been widely and variously described as “gesture reach” or “zone of reach”.</a:t>
            </a:r>
            <a:endParaRPr b="0" i="0" sz="1000" u="none" cap="none" strike="noStrike">
              <a:solidFill>
                <a:srgbClr val="000000"/>
              </a:solidFill>
              <a:latin typeface="Arial"/>
              <a:ea typeface="Arial"/>
              <a:cs typeface="Arial"/>
              <a:sym typeface="Arial"/>
            </a:endParaRPr>
          </a:p>
        </p:txBody>
      </p:sp>
      <p:sp>
        <p:nvSpPr>
          <p:cNvPr id="150" name="Google Shape;150;p22"/>
          <p:cNvSpPr txBox="1"/>
          <p:nvPr/>
        </p:nvSpPr>
        <p:spPr>
          <a:xfrm>
            <a:off x="314300" y="4648950"/>
            <a:ext cx="4035600" cy="326100"/>
          </a:xfrm>
          <a:prstGeom prst="rect">
            <a:avLst/>
          </a:prstGeom>
          <a:solidFill>
            <a:srgbClr val="134F5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FFFFFF"/>
                </a:solidFill>
                <a:latin typeface="Arial"/>
                <a:ea typeface="Arial"/>
                <a:cs typeface="Arial"/>
                <a:sym typeface="Arial"/>
              </a:rPr>
              <a:t>Static data: the subject at rest or still.</a:t>
            </a:r>
            <a:endParaRPr b="1" i="0" sz="1300" u="none" cap="none" strike="noStrike">
              <a:solidFill>
                <a:srgbClr val="FFFFFF"/>
              </a:solidFill>
              <a:latin typeface="Arial"/>
              <a:ea typeface="Arial"/>
              <a:cs typeface="Arial"/>
              <a:sym typeface="Arial"/>
            </a:endParaRPr>
          </a:p>
        </p:txBody>
      </p:sp>
      <p:sp>
        <p:nvSpPr>
          <p:cNvPr id="151" name="Google Shape;151;p22"/>
          <p:cNvSpPr txBox="1"/>
          <p:nvPr/>
        </p:nvSpPr>
        <p:spPr>
          <a:xfrm>
            <a:off x="4690150" y="4643775"/>
            <a:ext cx="4247100" cy="326100"/>
          </a:xfrm>
          <a:prstGeom prst="rect">
            <a:avLst/>
          </a:prstGeom>
          <a:solidFill>
            <a:srgbClr val="134F5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1" i="0" lang="en-GB" sz="1300" u="none" cap="none" strike="noStrike">
                <a:solidFill>
                  <a:srgbClr val="FFFFFF"/>
                </a:solidFill>
                <a:latin typeface="Arial"/>
                <a:ea typeface="Arial"/>
                <a:cs typeface="Arial"/>
                <a:sym typeface="Arial"/>
              </a:rPr>
              <a:t>Dynamic data: the subject is in motion.</a:t>
            </a:r>
            <a:endParaRPr b="1" i="0" sz="1300" u="none" cap="none" strike="noStrike">
              <a:solidFill>
                <a:srgbClr val="FFFFFF"/>
              </a:solidFill>
              <a:latin typeface="Arial"/>
              <a:ea typeface="Arial"/>
              <a:cs typeface="Arial"/>
              <a:sym typeface="Arial"/>
            </a:endParaRPr>
          </a:p>
        </p:txBody>
      </p:sp>
      <p:pic>
        <p:nvPicPr>
          <p:cNvPr id="152" name="Google Shape;152;p22" title="Screenshot 2025-09-02 at 12.09.14 PM.png"/>
          <p:cNvPicPr preferRelativeResize="0"/>
          <p:nvPr/>
        </p:nvPicPr>
        <p:blipFill>
          <a:blip r:embed="rId3">
            <a:alphaModFix/>
          </a:blip>
          <a:stretch>
            <a:fillRect/>
          </a:stretch>
        </p:blipFill>
        <p:spPr>
          <a:xfrm>
            <a:off x="6900425" y="1709825"/>
            <a:ext cx="1840360" cy="1329150"/>
          </a:xfrm>
          <a:prstGeom prst="rect">
            <a:avLst/>
          </a:prstGeom>
          <a:noFill/>
          <a:ln>
            <a:noFill/>
          </a:ln>
        </p:spPr>
      </p:pic>
      <p:pic>
        <p:nvPicPr>
          <p:cNvPr id="153" name="Google Shape;153;p22"/>
          <p:cNvPicPr preferRelativeResize="0"/>
          <p:nvPr/>
        </p:nvPicPr>
        <p:blipFill rotWithShape="1">
          <a:blip r:embed="rId4">
            <a:alphaModFix/>
          </a:blip>
          <a:srcRect b="0" l="13362" r="11399" t="16248"/>
          <a:stretch/>
        </p:blipFill>
        <p:spPr>
          <a:xfrm>
            <a:off x="1890303" y="1669700"/>
            <a:ext cx="1178289" cy="1329150"/>
          </a:xfrm>
          <a:prstGeom prst="rect">
            <a:avLst/>
          </a:prstGeom>
          <a:noFill/>
          <a:ln>
            <a:noFill/>
          </a:ln>
        </p:spPr>
      </p:pic>
      <p:sp>
        <p:nvSpPr>
          <p:cNvPr id="154" name="Google Shape;154;p22"/>
          <p:cNvSpPr txBox="1"/>
          <p:nvPr/>
        </p:nvSpPr>
        <p:spPr>
          <a:xfrm>
            <a:off x="2900075" y="2815750"/>
            <a:ext cx="11793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700">
                <a:solidFill>
                  <a:srgbClr val="B7B7B7"/>
                </a:solidFill>
              </a:rPr>
              <a:t>stadiometer.com</a:t>
            </a:r>
            <a:endParaRPr sz="700">
              <a:solidFill>
                <a:srgbClr val="B7B7B7"/>
              </a:solidFill>
            </a:endParaRPr>
          </a:p>
        </p:txBody>
      </p:sp>
      <p:sp>
        <p:nvSpPr>
          <p:cNvPr id="155" name="Google Shape;155;p22"/>
          <p:cNvSpPr txBox="1"/>
          <p:nvPr/>
        </p:nvSpPr>
        <p:spPr>
          <a:xfrm>
            <a:off x="113550" y="78650"/>
            <a:ext cx="8916900" cy="4638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1.1.2 Anthropometrics involves the measurement of human physical dimensions expressed in the percentile range. This method specifically focuses on determining and presenting the range of individuals’ physical characteristics.</a:t>
            </a:r>
            <a:endParaRPr b="1" sz="1100">
              <a:solidFill>
                <a:srgbClr val="351C7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3"/>
          <p:cNvSpPr txBox="1"/>
          <p:nvPr/>
        </p:nvSpPr>
        <p:spPr>
          <a:xfrm>
            <a:off x="107800" y="521375"/>
            <a:ext cx="8897700" cy="592200"/>
          </a:xfrm>
          <a:prstGeom prst="rect">
            <a:avLst/>
          </a:prstGeom>
          <a:solidFill>
            <a:srgbClr val="FFF2CC"/>
          </a:solid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n-GB" sz="1200" u="none" cap="none" strike="noStrike">
                <a:solidFill>
                  <a:schemeClr val="dk1"/>
                </a:solidFill>
                <a:latin typeface="Arial"/>
                <a:ea typeface="Arial"/>
                <a:cs typeface="Arial"/>
                <a:sym typeface="Arial"/>
              </a:rPr>
              <a:t>Percentile range: The proportion of the population with a dimension at or less than a given value. For a given demographic (age, gender, race etc) the 50th percentile is the “average” value. </a:t>
            </a:r>
            <a:endParaRPr b="0" i="0" sz="1200" u="none" cap="none" strike="noStrike">
              <a:solidFill>
                <a:schemeClr val="dk1"/>
              </a:solidFill>
              <a:latin typeface="Arial"/>
              <a:ea typeface="Arial"/>
              <a:cs typeface="Arial"/>
              <a:sym typeface="Arial"/>
            </a:endParaRPr>
          </a:p>
        </p:txBody>
      </p:sp>
      <p:sp>
        <p:nvSpPr>
          <p:cNvPr id="162" name="Google Shape;162;p23"/>
          <p:cNvSpPr txBox="1"/>
          <p:nvPr/>
        </p:nvSpPr>
        <p:spPr>
          <a:xfrm>
            <a:off x="107800" y="4718225"/>
            <a:ext cx="8897700" cy="365100"/>
          </a:xfrm>
          <a:prstGeom prst="rect">
            <a:avLst/>
          </a:prstGeom>
          <a:solidFill>
            <a:srgbClr val="B4A7D6"/>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In the study and analysis of anthropometrics the 2.5th, 97.5th and the 5th to 95th percentile range are also considered important.</a:t>
            </a:r>
            <a:endParaRPr b="0" i="0" sz="1200" u="none" cap="none" strike="noStrike">
              <a:solidFill>
                <a:srgbClr val="000000"/>
              </a:solidFill>
              <a:latin typeface="Arial"/>
              <a:ea typeface="Arial"/>
              <a:cs typeface="Arial"/>
              <a:sym typeface="Arial"/>
            </a:endParaRPr>
          </a:p>
        </p:txBody>
      </p:sp>
      <p:sp>
        <p:nvSpPr>
          <p:cNvPr id="163" name="Google Shape;163;p23"/>
          <p:cNvSpPr txBox="1"/>
          <p:nvPr/>
        </p:nvSpPr>
        <p:spPr>
          <a:xfrm>
            <a:off x="107800" y="1179950"/>
            <a:ext cx="4344600" cy="1900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The 5th percentile mark</a:t>
            </a:r>
            <a:r>
              <a:rPr b="0" i="0" lang="en-GB" sz="1100" u="none" cap="none" strike="noStrike">
                <a:solidFill>
                  <a:srgbClr val="000000"/>
                </a:solidFill>
                <a:latin typeface="Arial"/>
                <a:ea typeface="Arial"/>
                <a:cs typeface="Arial"/>
                <a:sym typeface="Arial"/>
              </a:rPr>
              <a:t> is the point below which 5% of the population or study group is represented on the graph.</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For example, if you are designing an airplane cockpit, and need to make sure everyone could reach all the required controls, you would need to choose the 5th percentile arm length.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Why would that be?</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rPr b="0" i="0" lang="en-GB" sz="400" u="none" cap="none" strike="noStrike">
                <a:solidFill>
                  <a:srgbClr val="000000"/>
                </a:solidFill>
                <a:latin typeface="Arial"/>
                <a:ea typeface="Arial"/>
                <a:cs typeface="Arial"/>
                <a:sym typeface="Arial"/>
              </a:rPr>
              <a:t>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Designing for the 5th percentile can be challenging, but if this group can reach the controls, then everyone else can also reach them.  </a:t>
            </a:r>
            <a:r>
              <a:rPr b="0" i="0" lang="en-GB"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4" name="Google Shape;164;p23"/>
          <p:cNvSpPr txBox="1"/>
          <p:nvPr/>
        </p:nvSpPr>
        <p:spPr>
          <a:xfrm>
            <a:off x="7324225" y="4421788"/>
            <a:ext cx="2049600" cy="27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Arial"/>
                <a:ea typeface="Arial"/>
                <a:cs typeface="Arial"/>
                <a:sym typeface="Arial"/>
              </a:rPr>
              <a:t>5th percentile range in fashion design.</a:t>
            </a:r>
            <a:endParaRPr b="0" i="0" sz="800" u="none" cap="none" strike="noStrike">
              <a:solidFill>
                <a:srgbClr val="000000"/>
              </a:solidFill>
              <a:latin typeface="Arial"/>
              <a:ea typeface="Arial"/>
              <a:cs typeface="Arial"/>
              <a:sym typeface="Arial"/>
            </a:endParaRPr>
          </a:p>
        </p:txBody>
      </p:sp>
      <p:sp>
        <p:nvSpPr>
          <p:cNvPr id="165" name="Google Shape;165;p23"/>
          <p:cNvSpPr txBox="1"/>
          <p:nvPr/>
        </p:nvSpPr>
        <p:spPr>
          <a:xfrm>
            <a:off x="7324225" y="3485700"/>
            <a:ext cx="1390500" cy="27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Arial"/>
                <a:ea typeface="Arial"/>
                <a:cs typeface="Arial"/>
                <a:sym typeface="Arial"/>
              </a:rPr>
              <a:t>Life at the 95th percentile.</a:t>
            </a:r>
            <a:endParaRPr b="0" i="0" sz="800" u="none" cap="none" strike="noStrike">
              <a:solidFill>
                <a:srgbClr val="000000"/>
              </a:solidFill>
              <a:latin typeface="Arial"/>
              <a:ea typeface="Arial"/>
              <a:cs typeface="Arial"/>
              <a:sym typeface="Arial"/>
            </a:endParaRPr>
          </a:p>
        </p:txBody>
      </p:sp>
      <p:sp>
        <p:nvSpPr>
          <p:cNvPr id="166" name="Google Shape;166;p23"/>
          <p:cNvSpPr txBox="1"/>
          <p:nvPr/>
        </p:nvSpPr>
        <p:spPr>
          <a:xfrm>
            <a:off x="4572000" y="1158500"/>
            <a:ext cx="4410300" cy="2075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The 95th percentile </a:t>
            </a:r>
            <a:r>
              <a:rPr b="0" i="0" lang="en-GB" sz="1100" u="none" cap="none" strike="noStrike">
                <a:solidFill>
                  <a:srgbClr val="000000"/>
                </a:solidFill>
                <a:latin typeface="Arial"/>
                <a:ea typeface="Arial"/>
                <a:cs typeface="Arial"/>
                <a:sym typeface="Arial"/>
              </a:rPr>
              <a:t>group represents the top 5% range of the population or study group.</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This percentile range is easier for a design because the vast majority of the population will be able to use your products. Obviously there are some exceptions…. Can you think of any?</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Here is one example. Door height, you would choose the 95th percentile mark as you are in reality designing it for tall people. You would not have to worry about the average height or 5th percentile group as they will easily fit. </a:t>
            </a:r>
            <a:endParaRPr b="0" i="0" sz="1100" u="none" cap="none" strike="noStrike">
              <a:solidFill>
                <a:srgbClr val="000000"/>
              </a:solidFill>
              <a:latin typeface="Arial"/>
              <a:ea typeface="Arial"/>
              <a:cs typeface="Arial"/>
              <a:sym typeface="Arial"/>
            </a:endParaRPr>
          </a:p>
        </p:txBody>
      </p:sp>
      <p:cxnSp>
        <p:nvCxnSpPr>
          <p:cNvPr id="167" name="Google Shape;167;p23"/>
          <p:cNvCxnSpPr/>
          <p:nvPr/>
        </p:nvCxnSpPr>
        <p:spPr>
          <a:xfrm>
            <a:off x="4529625" y="1121875"/>
            <a:ext cx="2400" cy="2002200"/>
          </a:xfrm>
          <a:prstGeom prst="straightConnector1">
            <a:avLst/>
          </a:prstGeom>
          <a:noFill/>
          <a:ln cap="flat" cmpd="sng" w="9525">
            <a:solidFill>
              <a:schemeClr val="dk2"/>
            </a:solidFill>
            <a:prstDash val="solid"/>
            <a:round/>
            <a:headEnd len="sm" w="sm" type="none"/>
            <a:tailEnd len="sm" w="sm" type="none"/>
          </a:ln>
        </p:spPr>
      </p:cxnSp>
      <p:cxnSp>
        <p:nvCxnSpPr>
          <p:cNvPr id="168" name="Google Shape;168;p23"/>
          <p:cNvCxnSpPr/>
          <p:nvPr/>
        </p:nvCxnSpPr>
        <p:spPr>
          <a:xfrm>
            <a:off x="-1025" y="3124550"/>
            <a:ext cx="7233600" cy="0"/>
          </a:xfrm>
          <a:prstGeom prst="straightConnector1">
            <a:avLst/>
          </a:prstGeom>
          <a:noFill/>
          <a:ln cap="flat" cmpd="sng" w="9525">
            <a:solidFill>
              <a:schemeClr val="dk2"/>
            </a:solidFill>
            <a:prstDash val="solid"/>
            <a:round/>
            <a:headEnd len="sm" w="sm" type="none"/>
            <a:tailEnd len="sm" w="sm" type="none"/>
          </a:ln>
        </p:spPr>
      </p:cxnSp>
      <p:cxnSp>
        <p:nvCxnSpPr>
          <p:cNvPr id="169" name="Google Shape;169;p23"/>
          <p:cNvCxnSpPr/>
          <p:nvPr/>
        </p:nvCxnSpPr>
        <p:spPr>
          <a:xfrm flipH="1">
            <a:off x="7232825" y="3119775"/>
            <a:ext cx="3600" cy="1602300"/>
          </a:xfrm>
          <a:prstGeom prst="straightConnector1">
            <a:avLst/>
          </a:prstGeom>
          <a:noFill/>
          <a:ln cap="flat" cmpd="sng" w="9525">
            <a:solidFill>
              <a:schemeClr val="dk2"/>
            </a:solidFill>
            <a:prstDash val="solid"/>
            <a:round/>
            <a:headEnd len="sm" w="sm" type="none"/>
            <a:tailEnd len="sm" w="sm" type="none"/>
          </a:ln>
        </p:spPr>
      </p:cxnSp>
      <p:sp>
        <p:nvSpPr>
          <p:cNvPr id="170" name="Google Shape;170;p23"/>
          <p:cNvSpPr txBox="1"/>
          <p:nvPr/>
        </p:nvSpPr>
        <p:spPr>
          <a:xfrm>
            <a:off x="151900" y="3357000"/>
            <a:ext cx="3987600" cy="97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There is a vast amount of anthropometric data available to the modern designer. The are many reputable and reliable sources available on the internet, and the data will generally be represented in either table or graphical form. </a:t>
            </a:r>
            <a:endParaRPr b="0" i="0" sz="1200" u="none" cap="none" strike="noStrike">
              <a:solidFill>
                <a:srgbClr val="000000"/>
              </a:solidFill>
              <a:latin typeface="Arial"/>
              <a:ea typeface="Arial"/>
              <a:cs typeface="Arial"/>
              <a:sym typeface="Arial"/>
            </a:endParaRPr>
          </a:p>
        </p:txBody>
      </p:sp>
      <p:pic>
        <p:nvPicPr>
          <p:cNvPr id="171" name="Google Shape;171;p23" title="The UK's Biggest Feet- Teenager Carl Griffiths.mp4">
            <a:hlinkClick r:id="rId3"/>
          </p:cNvPr>
          <p:cNvPicPr preferRelativeResize="0"/>
          <p:nvPr/>
        </p:nvPicPr>
        <p:blipFill>
          <a:blip r:embed="rId4">
            <a:alphaModFix/>
          </a:blip>
          <a:stretch>
            <a:fillRect/>
          </a:stretch>
        </p:blipFill>
        <p:spPr>
          <a:xfrm>
            <a:off x="7380025" y="2812650"/>
            <a:ext cx="1278899" cy="719381"/>
          </a:xfrm>
          <a:prstGeom prst="rect">
            <a:avLst/>
          </a:prstGeom>
          <a:noFill/>
          <a:ln>
            <a:noFill/>
          </a:ln>
        </p:spPr>
      </p:pic>
      <p:pic>
        <p:nvPicPr>
          <p:cNvPr descr="Subscribe to Easy Living: http://bit.ly/138QvNP &#10;&#10;Fashion as a Size Zero (Size 0) might sound like a dream, but the reality for Lisa at an extremely petite 4'9&quot; is far from easy. Shopping, in fact, is a nightmare. Here she learns to find outfits and styles that work.&#10;&#10;With thanks to Amanda Lester of Precis Petite and Claude Pinnot of Selfridges &amp; Co.&#10;&#10;Easy Living is a magazine for 30-plus women that inspires and helps you in every area of your life -- from food to homes, beauty, travel, shopping and emotions, and everything else relevant to modern women.&#10;&#10;Easy Living around the web:&#10;Website: http://www.easyliving.co.uk/&#10;Facebook: http://www.facebook.com/EasyLivingUK&#10;Twitter: http://www.twitter.com/EasyLivingMag&#10;Google+: http://plus.google.com/113398888916826094788/posts&#10;Pinterest: http://www.pinterest.com/easylivingmag" id="172" name="Google Shape;172;p23" title="Petite Fashion - Size Zero Shopping">
            <a:hlinkClick r:id="rId5"/>
          </p:cNvPr>
          <p:cNvPicPr preferRelativeResize="0"/>
          <p:nvPr/>
        </p:nvPicPr>
        <p:blipFill>
          <a:blip r:embed="rId6">
            <a:alphaModFix/>
          </a:blip>
          <a:stretch>
            <a:fillRect/>
          </a:stretch>
        </p:blipFill>
        <p:spPr>
          <a:xfrm>
            <a:off x="7435825" y="3679600"/>
            <a:ext cx="1278889" cy="719375"/>
          </a:xfrm>
          <a:prstGeom prst="rect">
            <a:avLst/>
          </a:prstGeom>
          <a:noFill/>
          <a:ln>
            <a:noFill/>
          </a:ln>
        </p:spPr>
      </p:pic>
      <p:pic>
        <p:nvPicPr>
          <p:cNvPr id="173" name="Google Shape;173;p23"/>
          <p:cNvPicPr preferRelativeResize="0"/>
          <p:nvPr/>
        </p:nvPicPr>
        <p:blipFill>
          <a:blip r:embed="rId7">
            <a:alphaModFix/>
          </a:blip>
          <a:stretch>
            <a:fillRect/>
          </a:stretch>
        </p:blipFill>
        <p:spPr>
          <a:xfrm>
            <a:off x="4951623" y="2953963"/>
            <a:ext cx="1781975" cy="1781975"/>
          </a:xfrm>
          <a:prstGeom prst="rect">
            <a:avLst/>
          </a:prstGeom>
          <a:noFill/>
          <a:ln>
            <a:noFill/>
          </a:ln>
        </p:spPr>
      </p:pic>
      <p:sp>
        <p:nvSpPr>
          <p:cNvPr id="174" name="Google Shape;174;p23"/>
          <p:cNvSpPr txBox="1"/>
          <p:nvPr/>
        </p:nvSpPr>
        <p:spPr>
          <a:xfrm>
            <a:off x="113550" y="78650"/>
            <a:ext cx="8916900" cy="3651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1.1.3 Percentiles aid in the selection of appropriate anthropometric data to satisfy the majority of a user population.</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4"/>
          <p:cNvSpPr txBox="1"/>
          <p:nvPr/>
        </p:nvSpPr>
        <p:spPr>
          <a:xfrm>
            <a:off x="34050" y="411300"/>
            <a:ext cx="3740700" cy="3099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Predictably the </a:t>
            </a:r>
            <a:r>
              <a:rPr b="1" i="0" lang="en-GB" sz="1200" u="none" cap="none" strike="noStrike">
                <a:solidFill>
                  <a:srgbClr val="000000"/>
                </a:solidFill>
                <a:latin typeface="Arial"/>
                <a:ea typeface="Arial"/>
                <a:cs typeface="Arial"/>
                <a:sym typeface="Arial"/>
              </a:rPr>
              <a:t>50th percentile</a:t>
            </a:r>
            <a:r>
              <a:rPr b="0" i="0" lang="en-GB" sz="1200" u="none" cap="none" strike="noStrike">
                <a:solidFill>
                  <a:srgbClr val="000000"/>
                </a:solidFill>
                <a:latin typeface="Arial"/>
                <a:ea typeface="Arial"/>
                <a:cs typeface="Arial"/>
                <a:sym typeface="Arial"/>
              </a:rPr>
              <a:t> is where 50% of the population or study group can be found. The line down the middle of bell curve graph is the most common measurement found for that study. This would be the </a:t>
            </a:r>
            <a:r>
              <a:rPr b="1" i="0" lang="en-GB" sz="1200" u="none" cap="none" strike="noStrike">
                <a:solidFill>
                  <a:srgbClr val="000000"/>
                </a:solidFill>
                <a:latin typeface="Arial"/>
                <a:ea typeface="Arial"/>
                <a:cs typeface="Arial"/>
                <a:sym typeface="Arial"/>
              </a:rPr>
              <a:t>modal </a:t>
            </a:r>
            <a:r>
              <a:rPr b="0" i="0" lang="en-GB" sz="1200" u="none" cap="none" strike="noStrike">
                <a:solidFill>
                  <a:srgbClr val="000000"/>
                </a:solidFill>
                <a:latin typeface="Arial"/>
                <a:ea typeface="Arial"/>
                <a:cs typeface="Arial"/>
                <a:sym typeface="Arial"/>
              </a:rPr>
              <a:t>value. Since the curve is symmetrical, the average value is shown in the middle, so the </a:t>
            </a:r>
            <a:r>
              <a:rPr b="1" i="0" lang="en-GB" sz="1200" u="none" cap="none" strike="noStrike">
                <a:solidFill>
                  <a:srgbClr val="000000"/>
                </a:solidFill>
                <a:latin typeface="Arial"/>
                <a:ea typeface="Arial"/>
                <a:cs typeface="Arial"/>
                <a:sym typeface="Arial"/>
              </a:rPr>
              <a:t>mean</a:t>
            </a:r>
            <a:r>
              <a:rPr b="0" i="0" lang="en-GB" sz="1200" u="none" cap="none" strike="noStrike">
                <a:solidFill>
                  <a:srgbClr val="000000"/>
                </a:solidFill>
                <a:latin typeface="Arial"/>
                <a:ea typeface="Arial"/>
                <a:cs typeface="Arial"/>
                <a:sym typeface="Arial"/>
              </a:rPr>
              <a:t> value coincides with the “</a:t>
            </a:r>
            <a:r>
              <a:rPr b="1" i="0" lang="en-GB" sz="1200" u="none" cap="none" strike="noStrike">
                <a:solidFill>
                  <a:srgbClr val="000000"/>
                </a:solidFill>
                <a:latin typeface="Arial"/>
                <a:ea typeface="Arial"/>
                <a:cs typeface="Arial"/>
                <a:sym typeface="Arial"/>
              </a:rPr>
              <a:t>median</a:t>
            </a:r>
            <a:r>
              <a:rPr b="0" i="0" lang="en-GB"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Of course it doesn’t always follow that the curve will be a “normal” bell shape - it may be “skewed” to one side or the other.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For example, the distribution curve of people in a primary school were studied for height. As there would be many small children as well as adults, the curve would be “skewed” towards the “shorter” end. So aiming a product at this particular group would need a detailed study at the anthropometric data.</a:t>
            </a:r>
            <a:endParaRPr b="0" i="0" sz="1200" u="none" cap="none" strike="noStrike">
              <a:solidFill>
                <a:srgbClr val="000000"/>
              </a:solidFill>
              <a:latin typeface="Arial"/>
              <a:ea typeface="Arial"/>
              <a:cs typeface="Arial"/>
              <a:sym typeface="Arial"/>
            </a:endParaRPr>
          </a:p>
        </p:txBody>
      </p:sp>
      <p:sp>
        <p:nvSpPr>
          <p:cNvPr id="181" name="Google Shape;181;p24"/>
          <p:cNvSpPr txBox="1"/>
          <p:nvPr/>
        </p:nvSpPr>
        <p:spPr>
          <a:xfrm>
            <a:off x="3888075" y="411300"/>
            <a:ext cx="5150700" cy="2048700"/>
          </a:xfrm>
          <a:prstGeom prst="rect">
            <a:avLst/>
          </a:prstGeom>
          <a:noFill/>
          <a:ln cap="flat" cmpd="sng" w="9525">
            <a:solidFill>
              <a:srgbClr val="FFF2CC"/>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highlight>
                  <a:srgbClr val="FFF2CC"/>
                </a:highlight>
                <a:latin typeface="Arial"/>
                <a:ea typeface="Arial"/>
                <a:cs typeface="Arial"/>
                <a:sym typeface="Arial"/>
              </a:rPr>
              <a:t>Methods of extremes</a:t>
            </a:r>
            <a:r>
              <a:rPr b="0" i="0" lang="en-GB" sz="1100" u="none" cap="none" strike="noStrike">
                <a:solidFill>
                  <a:srgbClr val="000000"/>
                </a:solidFill>
                <a:highlight>
                  <a:srgbClr val="FFF2CC"/>
                </a:highlight>
                <a:latin typeface="Arial"/>
                <a:ea typeface="Arial"/>
                <a:cs typeface="Arial"/>
                <a:sym typeface="Arial"/>
              </a:rPr>
              <a:t>: </a:t>
            </a:r>
            <a:endParaRPr b="0" i="0" sz="1100" u="none" cap="none" strike="noStrike">
              <a:solidFill>
                <a:srgbClr val="000000"/>
              </a:solidFill>
              <a:highlight>
                <a:srgbClr val="FFF2CC"/>
              </a:highlight>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sz="1100">
              <a:highlight>
                <a:srgbClr val="FFF2CC"/>
              </a:highlight>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Sometimes you can’t accommodate all your users because there are conflicting solutions for your design. In this case, you would to make a judgement on what is the most important feature.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You must never compromise on safety though, and if there any real risk of injury, you may have to use more extreme percentile ranges (</a:t>
            </a:r>
            <a:r>
              <a:rPr b="1" i="0" lang="en-GB" sz="1100" u="none" cap="none" strike="noStrike">
                <a:solidFill>
                  <a:srgbClr val="000000"/>
                </a:solidFill>
                <a:latin typeface="Arial"/>
                <a:ea typeface="Arial"/>
                <a:cs typeface="Arial"/>
                <a:sym typeface="Arial"/>
              </a:rPr>
              <a:t>method of extremes</a:t>
            </a:r>
            <a:r>
              <a:rPr b="0" i="0" lang="en-GB" sz="1100" u="none" cap="none" strike="noStrike">
                <a:solidFill>
                  <a:srgbClr val="000000"/>
                </a:solidFill>
                <a:latin typeface="Arial"/>
                <a:ea typeface="Arial"/>
                <a:cs typeface="Arial"/>
                <a:sym typeface="Arial"/>
              </a:rPr>
              <a:t>) in your design (</a:t>
            </a:r>
            <a:r>
              <a:rPr b="1" i="0" lang="en-GB" sz="1200" u="none" cap="none" strike="noStrike">
                <a:solidFill>
                  <a:srgbClr val="000000"/>
                </a:solidFill>
              </a:rPr>
              <a:t>2.5th or 97.5th</a:t>
            </a:r>
            <a:r>
              <a:rPr b="0" i="0" lang="en-GB" sz="1100" u="none" cap="none" strike="noStrike">
                <a:solidFill>
                  <a:srgbClr val="000000"/>
                </a:solidFill>
                <a:latin typeface="Arial"/>
                <a:ea typeface="Arial"/>
                <a:cs typeface="Arial"/>
                <a:sym typeface="Arial"/>
              </a:rPr>
              <a:t>)  to make sure everyone is protected, not just 95% of people.</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2" name="Google Shape;182;p24"/>
          <p:cNvSpPr txBox="1"/>
          <p:nvPr/>
        </p:nvSpPr>
        <p:spPr>
          <a:xfrm>
            <a:off x="3754600" y="2779400"/>
            <a:ext cx="5207700" cy="23640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There is a great deal of anthropometric data available to you as a designer and you would be expected to:</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Interpret percentile tables</a:t>
            </a:r>
            <a:r>
              <a:rPr b="0" i="0" lang="en-GB" sz="1200" u="none" cap="none" strike="noStrike">
                <a:solidFill>
                  <a:srgbClr val="000000"/>
                </a:solidFill>
                <a:latin typeface="Arial"/>
                <a:ea typeface="Arial"/>
                <a:cs typeface="Arial"/>
                <a:sym typeface="Arial"/>
              </a:rPr>
              <a:t> - in order to calculate dimensions related to your product. </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Consider how products can be adapted</a:t>
            </a:r>
            <a:r>
              <a:rPr b="0" i="0" lang="en-GB" sz="1200" u="none" cap="none" strike="noStrike">
                <a:solidFill>
                  <a:srgbClr val="000000"/>
                </a:solidFill>
                <a:latin typeface="Arial"/>
                <a:ea typeface="Arial"/>
                <a:cs typeface="Arial"/>
                <a:sym typeface="Arial"/>
              </a:rPr>
              <a:t> - for different markets or adjusted to cater for a specific market.</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Consider the 5th, 50th and 95th percentiles </a:t>
            </a:r>
            <a:r>
              <a:rPr b="0" i="0" lang="en-GB" sz="1200" u="none" cap="none" strike="noStrike">
                <a:solidFill>
                  <a:srgbClr val="000000"/>
                </a:solidFill>
                <a:latin typeface="Arial"/>
                <a:ea typeface="Arial"/>
                <a:cs typeface="Arial"/>
                <a:sym typeface="Arial"/>
              </a:rPr>
              <a:t>-  in particular, but also the 2.5th, 97.5th and the 5 to 95th range should also be considered.</a:t>
            </a:r>
            <a:endParaRPr b="0" i="0" sz="1200" u="none" cap="none" strike="noStrike">
              <a:solidFill>
                <a:srgbClr val="000000"/>
              </a:solidFill>
              <a:latin typeface="Arial"/>
              <a:ea typeface="Arial"/>
              <a:cs typeface="Arial"/>
              <a:sym typeface="Arial"/>
            </a:endParaRPr>
          </a:p>
          <a:p>
            <a:pPr indent="-304800" lvl="0" marL="457200" marR="0" rtl="0" algn="just">
              <a:lnSpc>
                <a:spcPct val="100000"/>
              </a:lnSpc>
              <a:spcBef>
                <a:spcPts val="0"/>
              </a:spcBef>
              <a:spcAft>
                <a:spcPts val="0"/>
              </a:spcAft>
              <a:buClr>
                <a:srgbClr val="000000"/>
              </a:buClr>
              <a:buSzPts val="1200"/>
              <a:buFont typeface="Arial"/>
              <a:buChar char="●"/>
            </a:pPr>
            <a:r>
              <a:rPr b="1" i="0" lang="en-GB" sz="1200" u="none" cap="none" strike="noStrike">
                <a:solidFill>
                  <a:schemeClr val="dk1"/>
                </a:solidFill>
                <a:latin typeface="Arial"/>
                <a:ea typeface="Arial"/>
                <a:cs typeface="Arial"/>
                <a:sym typeface="Arial"/>
              </a:rPr>
              <a:t>Interpret percentile tables</a:t>
            </a:r>
            <a:r>
              <a:rPr b="0" i="0" lang="en-GB" sz="1200" u="none" cap="none" strike="noStrike">
                <a:solidFill>
                  <a:schemeClr val="dk1"/>
                </a:solidFill>
                <a:latin typeface="Arial"/>
                <a:ea typeface="Arial"/>
                <a:cs typeface="Arial"/>
                <a:sym typeface="Arial"/>
              </a:rPr>
              <a:t> - based on different national and international populations, gender and age - yes, they can vary massively.</a:t>
            </a:r>
            <a:endParaRPr b="0" i="0" sz="1200" u="none" cap="none" strike="noStrike">
              <a:solidFill>
                <a:srgbClr val="000000"/>
              </a:solidFill>
              <a:latin typeface="Arial"/>
              <a:ea typeface="Arial"/>
              <a:cs typeface="Arial"/>
              <a:sym typeface="Arial"/>
            </a:endParaRPr>
          </a:p>
        </p:txBody>
      </p:sp>
      <p:pic>
        <p:nvPicPr>
          <p:cNvPr id="183" name="Google Shape;183;p24" title="Screenshot 2025-09-02 at 12.52.11 PM.png"/>
          <p:cNvPicPr preferRelativeResize="0"/>
          <p:nvPr/>
        </p:nvPicPr>
        <p:blipFill>
          <a:blip r:embed="rId3">
            <a:alphaModFix/>
          </a:blip>
          <a:stretch>
            <a:fillRect/>
          </a:stretch>
        </p:blipFill>
        <p:spPr>
          <a:xfrm>
            <a:off x="262000" y="3712600"/>
            <a:ext cx="1723600" cy="1475900"/>
          </a:xfrm>
          <a:prstGeom prst="rect">
            <a:avLst/>
          </a:prstGeom>
          <a:noFill/>
          <a:ln>
            <a:noFill/>
          </a:ln>
        </p:spPr>
      </p:pic>
      <p:sp>
        <p:nvSpPr>
          <p:cNvPr id="184" name="Google Shape;184;p24"/>
          <p:cNvSpPr txBox="1"/>
          <p:nvPr/>
        </p:nvSpPr>
        <p:spPr>
          <a:xfrm>
            <a:off x="113550" y="78650"/>
            <a:ext cx="8916900" cy="3651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1.1.3 Percentiles aid in the selection of appropriate anthropometric data to satisfy the majority of a user population.</a:t>
            </a:r>
            <a:endParaRPr b="1" sz="1100">
              <a:solidFill>
                <a:srgbClr val="351C75"/>
              </a:solidFill>
            </a:endParaRPr>
          </a:p>
        </p:txBody>
      </p:sp>
      <p:pic>
        <p:nvPicPr>
          <p:cNvPr id="185" name="Google Shape;185;p24"/>
          <p:cNvPicPr preferRelativeResize="0"/>
          <p:nvPr/>
        </p:nvPicPr>
        <p:blipFill rotWithShape="1">
          <a:blip r:embed="rId4">
            <a:alphaModFix/>
          </a:blip>
          <a:srcRect b="30546" l="0" r="0" t="30476"/>
          <a:stretch/>
        </p:blipFill>
        <p:spPr>
          <a:xfrm>
            <a:off x="5855650" y="2198700"/>
            <a:ext cx="1472400" cy="413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5"/>
          <p:cNvSpPr txBox="1"/>
          <p:nvPr/>
        </p:nvSpPr>
        <p:spPr>
          <a:xfrm>
            <a:off x="107800" y="444075"/>
            <a:ext cx="4420200" cy="296700"/>
          </a:xfrm>
          <a:prstGeom prst="rect">
            <a:avLst/>
          </a:prstGeom>
          <a:solidFill>
            <a:srgbClr val="FFE59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434343"/>
                </a:solidFill>
                <a:latin typeface="Arial"/>
                <a:ea typeface="Arial"/>
                <a:cs typeface="Arial"/>
                <a:sym typeface="Arial"/>
              </a:rPr>
              <a:t>Primary anthropometric data</a:t>
            </a:r>
            <a:endParaRPr b="1" i="0" sz="1200" u="none" cap="none" strike="noStrike">
              <a:solidFill>
                <a:srgbClr val="434343"/>
              </a:solidFill>
              <a:latin typeface="Arial"/>
              <a:ea typeface="Arial"/>
              <a:cs typeface="Arial"/>
              <a:sym typeface="Arial"/>
            </a:endParaRPr>
          </a:p>
        </p:txBody>
      </p:sp>
      <p:sp>
        <p:nvSpPr>
          <p:cNvPr id="192" name="Google Shape;192;p25"/>
          <p:cNvSpPr txBox="1"/>
          <p:nvPr/>
        </p:nvSpPr>
        <p:spPr>
          <a:xfrm>
            <a:off x="4528000" y="444075"/>
            <a:ext cx="4518900" cy="296700"/>
          </a:xfrm>
          <a:prstGeom prst="rect">
            <a:avLst/>
          </a:prstGeom>
          <a:solidFill>
            <a:srgbClr val="FFE59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434343"/>
                </a:solidFill>
                <a:latin typeface="Arial"/>
                <a:ea typeface="Arial"/>
                <a:cs typeface="Arial"/>
                <a:sym typeface="Arial"/>
              </a:rPr>
              <a:t>Secondary anthropometric data</a:t>
            </a:r>
            <a:endParaRPr b="1" i="0" sz="1200" u="none" cap="none" strike="noStrike">
              <a:solidFill>
                <a:srgbClr val="434343"/>
              </a:solidFill>
              <a:latin typeface="Arial"/>
              <a:ea typeface="Arial"/>
              <a:cs typeface="Arial"/>
              <a:sym typeface="Arial"/>
            </a:endParaRPr>
          </a:p>
        </p:txBody>
      </p:sp>
      <p:sp>
        <p:nvSpPr>
          <p:cNvPr id="193" name="Google Shape;193;p25"/>
          <p:cNvSpPr txBox="1"/>
          <p:nvPr/>
        </p:nvSpPr>
        <p:spPr>
          <a:xfrm>
            <a:off x="107800" y="776775"/>
            <a:ext cx="4420200" cy="49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Primary data collection </a:t>
            </a:r>
            <a:r>
              <a:rPr b="0" i="0" lang="en-GB" sz="1200" u="none" cap="none" strike="noStrike">
                <a:solidFill>
                  <a:srgbClr val="000000"/>
                </a:solidFill>
                <a:latin typeface="Arial"/>
                <a:ea typeface="Arial"/>
                <a:cs typeface="Arial"/>
                <a:sym typeface="Arial"/>
              </a:rPr>
              <a:t>(also called field research) involves the collection  of data that does not already exist.</a:t>
            </a:r>
            <a:endParaRPr b="0" i="0" sz="1200" u="none" cap="none" strike="noStrike">
              <a:solidFill>
                <a:srgbClr val="000000"/>
              </a:solidFill>
              <a:latin typeface="Arial"/>
              <a:ea typeface="Arial"/>
              <a:cs typeface="Arial"/>
              <a:sym typeface="Arial"/>
            </a:endParaRPr>
          </a:p>
        </p:txBody>
      </p:sp>
      <p:sp>
        <p:nvSpPr>
          <p:cNvPr id="194" name="Google Shape;194;p25"/>
          <p:cNvSpPr txBox="1"/>
          <p:nvPr/>
        </p:nvSpPr>
        <p:spPr>
          <a:xfrm>
            <a:off x="4528000" y="776775"/>
            <a:ext cx="4518900" cy="49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Secondary data collection </a:t>
            </a:r>
            <a:r>
              <a:rPr b="0" i="0" lang="en-GB" sz="1200" u="none" cap="none" strike="noStrike">
                <a:solidFill>
                  <a:srgbClr val="000000"/>
                </a:solidFill>
                <a:latin typeface="Arial"/>
                <a:ea typeface="Arial"/>
                <a:cs typeface="Arial"/>
                <a:sym typeface="Arial"/>
              </a:rPr>
              <a:t>(also known as desk research) involves the summary, coalition,and synthesis of existing data.</a:t>
            </a:r>
            <a:endParaRPr b="0" i="0" sz="1200" u="none" cap="none" strike="noStrike">
              <a:solidFill>
                <a:srgbClr val="000000"/>
              </a:solidFill>
              <a:latin typeface="Arial"/>
              <a:ea typeface="Arial"/>
              <a:cs typeface="Arial"/>
              <a:sym typeface="Arial"/>
            </a:endParaRPr>
          </a:p>
        </p:txBody>
      </p:sp>
      <p:sp>
        <p:nvSpPr>
          <p:cNvPr id="195" name="Google Shape;195;p25"/>
          <p:cNvSpPr txBox="1"/>
          <p:nvPr/>
        </p:nvSpPr>
        <p:spPr>
          <a:xfrm>
            <a:off x="107800" y="1206850"/>
            <a:ext cx="2315100" cy="31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Examples:</a:t>
            </a:r>
            <a:endParaRPr b="0" i="0" sz="1000" u="none" cap="none" strike="noStrike">
              <a:solidFill>
                <a:srgbClr val="000000"/>
              </a:solidFill>
              <a:latin typeface="Arial"/>
              <a:ea typeface="Arial"/>
              <a:cs typeface="Arial"/>
              <a:sym typeface="Arial"/>
            </a:endParaRPr>
          </a:p>
        </p:txBody>
      </p:sp>
      <p:sp>
        <p:nvSpPr>
          <p:cNvPr id="196" name="Google Shape;196;p25"/>
          <p:cNvSpPr txBox="1"/>
          <p:nvPr/>
        </p:nvSpPr>
        <p:spPr>
          <a:xfrm>
            <a:off x="1181625" y="1206850"/>
            <a:ext cx="3232500" cy="2127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Chinese head shape differs from western head shapes (see the video below). To design products that fit the Chinese population you need to consider these anthropometric differences as a designer. SizeChina offered to do a 3D anthropometric scans to create a landmark database of sizes.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FF"/>
                </a:solidFill>
                <a:latin typeface="Arial"/>
                <a:ea typeface="Arial"/>
                <a:cs typeface="Arial"/>
                <a:sym typeface="Arial"/>
              </a:rPr>
              <a:t>What issues can you think of when conducting a study like this?</a:t>
            </a:r>
            <a:endParaRPr b="0" i="0" sz="1200" u="none" cap="none" strike="noStrike">
              <a:solidFill>
                <a:srgbClr val="0000FF"/>
              </a:solidFill>
              <a:latin typeface="Arial"/>
              <a:ea typeface="Arial"/>
              <a:cs typeface="Arial"/>
              <a:sym typeface="Arial"/>
            </a:endParaRPr>
          </a:p>
        </p:txBody>
      </p:sp>
      <p:sp>
        <p:nvSpPr>
          <p:cNvPr id="197" name="Google Shape;197;p25"/>
          <p:cNvSpPr txBox="1"/>
          <p:nvPr/>
        </p:nvSpPr>
        <p:spPr>
          <a:xfrm>
            <a:off x="1881650" y="3202150"/>
            <a:ext cx="2614800" cy="1408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For example: If it was a cold day when taking measurements, subjects would be reluctant to remove hats or bulky clothing. This can impact or the accuracy of the measurements and affect the data’s reliability.</a:t>
            </a:r>
            <a:endParaRPr b="0" i="0" sz="1200" u="none" cap="none" strike="noStrike">
              <a:solidFill>
                <a:srgbClr val="000000"/>
              </a:solidFill>
              <a:latin typeface="Arial"/>
              <a:ea typeface="Arial"/>
              <a:cs typeface="Arial"/>
              <a:sym typeface="Arial"/>
            </a:endParaRPr>
          </a:p>
        </p:txBody>
      </p:sp>
      <p:cxnSp>
        <p:nvCxnSpPr>
          <p:cNvPr id="198" name="Google Shape;198;p25"/>
          <p:cNvCxnSpPr/>
          <p:nvPr/>
        </p:nvCxnSpPr>
        <p:spPr>
          <a:xfrm>
            <a:off x="4528000" y="1268175"/>
            <a:ext cx="24900" cy="3302100"/>
          </a:xfrm>
          <a:prstGeom prst="straightConnector1">
            <a:avLst/>
          </a:prstGeom>
          <a:noFill/>
          <a:ln cap="flat" cmpd="sng" w="9525">
            <a:solidFill>
              <a:schemeClr val="dk2"/>
            </a:solidFill>
            <a:prstDash val="solid"/>
            <a:round/>
            <a:headEnd len="sm" w="sm" type="none"/>
            <a:tailEnd len="sm" w="sm" type="none"/>
          </a:ln>
        </p:spPr>
      </p:cxnSp>
      <p:sp>
        <p:nvSpPr>
          <p:cNvPr id="199" name="Google Shape;199;p25"/>
          <p:cNvSpPr txBox="1"/>
          <p:nvPr/>
        </p:nvSpPr>
        <p:spPr>
          <a:xfrm>
            <a:off x="108150" y="4603100"/>
            <a:ext cx="4420200" cy="4914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Primary data: Data collected by the user for a specific purpose.</a:t>
            </a:r>
            <a:endParaRPr b="1" sz="1100">
              <a:solidFill>
                <a:schemeClr val="dk1"/>
              </a:solidFill>
            </a:endParaRPr>
          </a:p>
        </p:txBody>
      </p:sp>
      <p:sp>
        <p:nvSpPr>
          <p:cNvPr id="200" name="Google Shape;200;p25"/>
          <p:cNvSpPr txBox="1"/>
          <p:nvPr/>
        </p:nvSpPr>
        <p:spPr>
          <a:xfrm>
            <a:off x="4577800" y="4603100"/>
            <a:ext cx="4469100" cy="4914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Secondary data: Data collected by someone other than the user.</a:t>
            </a:r>
            <a:endParaRPr b="1" sz="1100">
              <a:solidFill>
                <a:schemeClr val="dk1"/>
              </a:solidFill>
            </a:endParaRPr>
          </a:p>
        </p:txBody>
      </p:sp>
      <p:sp>
        <p:nvSpPr>
          <p:cNvPr id="201" name="Google Shape;201;p25"/>
          <p:cNvSpPr txBox="1"/>
          <p:nvPr/>
        </p:nvSpPr>
        <p:spPr>
          <a:xfrm>
            <a:off x="4584450" y="2055550"/>
            <a:ext cx="4518900" cy="255540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50"/>
              <a:buFont typeface="Arial"/>
              <a:buNone/>
            </a:pPr>
            <a:r>
              <a:rPr b="0" i="0" lang="en-GB" sz="1150" u="none" cap="none" strike="noStrike">
                <a:solidFill>
                  <a:srgbClr val="000000"/>
                </a:solidFill>
                <a:latin typeface="Arial"/>
                <a:ea typeface="Arial"/>
                <a:cs typeface="Arial"/>
                <a:sym typeface="Arial"/>
              </a:rPr>
              <a:t>Secondary sources of anthropometric data are available, both in print and online. As a designer this is where most of your data will come from. However, if you have a particular client or access to the user population you wish to design for, you may wish to collect the measurements yourself and generate your own primary data.</a:t>
            </a:r>
            <a:endParaRPr b="0" i="0" sz="115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50"/>
              <a:buFont typeface="Arial"/>
              <a:buNone/>
            </a:pPr>
            <a:r>
              <a:rPr b="0" i="0" lang="en-GB" sz="1150" u="none" cap="none" strike="noStrike">
                <a:solidFill>
                  <a:srgbClr val="000000"/>
                </a:solidFill>
                <a:latin typeface="Arial"/>
                <a:ea typeface="Arial"/>
                <a:cs typeface="Arial"/>
                <a:sym typeface="Arial"/>
              </a:rPr>
              <a:t>It is important to consider the user group or target audience you are designing for. The anthropomorphic data varies greatly around the world. A wide selection of data is published and regionalised. For example, Asian versus western European data.</a:t>
            </a:r>
            <a:endParaRPr b="0" i="0" sz="115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50"/>
              <a:buFont typeface="Arial"/>
              <a:buNone/>
            </a:pPr>
            <a:r>
              <a:t/>
            </a:r>
            <a:endParaRPr b="0" i="0" sz="45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50"/>
              <a:buFont typeface="Arial"/>
              <a:buNone/>
            </a:pPr>
            <a:r>
              <a:rPr b="0" i="0" lang="en-GB" sz="1150" u="none" cap="none" strike="noStrike">
                <a:solidFill>
                  <a:srgbClr val="000000"/>
                </a:solidFill>
                <a:latin typeface="Arial"/>
                <a:ea typeface="Arial"/>
                <a:cs typeface="Arial"/>
                <a:sym typeface="Arial"/>
              </a:rPr>
              <a:t>Think of designing children's clothing. Asian and American children for example are very different sizes. Choose your data wisely, you wouldn't want to get these mixed up.</a:t>
            </a:r>
            <a:endParaRPr b="0" i="0" sz="1150" u="none" cap="none" strike="noStrike">
              <a:solidFill>
                <a:srgbClr val="000000"/>
              </a:solidFill>
              <a:latin typeface="Arial"/>
              <a:ea typeface="Arial"/>
              <a:cs typeface="Arial"/>
              <a:sym typeface="Arial"/>
            </a:endParaRPr>
          </a:p>
        </p:txBody>
      </p:sp>
      <p:pic>
        <p:nvPicPr>
          <p:cNvPr id="202" name="Google Shape;202;p25" title="Screenshot 2025-09-02 at 12.14.52 PM.png"/>
          <p:cNvPicPr preferRelativeResize="0"/>
          <p:nvPr/>
        </p:nvPicPr>
        <p:blipFill>
          <a:blip r:embed="rId3">
            <a:alphaModFix/>
          </a:blip>
          <a:stretch>
            <a:fillRect/>
          </a:stretch>
        </p:blipFill>
        <p:spPr>
          <a:xfrm>
            <a:off x="108150" y="1511550"/>
            <a:ext cx="1030236" cy="1249650"/>
          </a:xfrm>
          <a:prstGeom prst="rect">
            <a:avLst/>
          </a:prstGeom>
          <a:noFill/>
          <a:ln>
            <a:noFill/>
          </a:ln>
        </p:spPr>
      </p:pic>
      <p:pic>
        <p:nvPicPr>
          <p:cNvPr descr="One size does not fit all when it comes to headwear, said Roger Ball, founder of SizeChina.com, an online database of Chinese head shapes. Current designs use data from Western sources, not taking into account varying head sizes across the world, he said. Find more video at www.plasticsnews.com/multimedia." id="203" name="Google Shape;203;p25" title="'Fit is critical' in headwear">
            <a:hlinkClick r:id="rId4"/>
          </p:cNvPr>
          <p:cNvPicPr preferRelativeResize="0"/>
          <p:nvPr/>
        </p:nvPicPr>
        <p:blipFill>
          <a:blip r:embed="rId5">
            <a:alphaModFix/>
          </a:blip>
          <a:stretch>
            <a:fillRect/>
          </a:stretch>
        </p:blipFill>
        <p:spPr>
          <a:xfrm>
            <a:off x="108150" y="3258900"/>
            <a:ext cx="1560701" cy="877887"/>
          </a:xfrm>
          <a:prstGeom prst="rect">
            <a:avLst/>
          </a:prstGeom>
          <a:noFill/>
          <a:ln>
            <a:noFill/>
          </a:ln>
        </p:spPr>
      </p:pic>
      <p:sp>
        <p:nvSpPr>
          <p:cNvPr id="204" name="Google Shape;204;p25"/>
          <p:cNvSpPr txBox="1"/>
          <p:nvPr/>
        </p:nvSpPr>
        <p:spPr>
          <a:xfrm>
            <a:off x="113550" y="78650"/>
            <a:ext cx="8916900" cy="3651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1.1.3 Percentiles aid in the selection of appropriate anthropometric data to satisfy the majority of a user population.</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6"/>
          <p:cNvSpPr txBox="1"/>
          <p:nvPr>
            <p:ph type="ctrTitle"/>
          </p:nvPr>
        </p:nvSpPr>
        <p:spPr>
          <a:xfrm>
            <a:off x="202050" y="403775"/>
            <a:ext cx="3227400" cy="3468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GB" sz="1400"/>
              <a:t>Collecting Static Anthropometric data</a:t>
            </a:r>
            <a:endParaRPr sz="1400"/>
          </a:p>
        </p:txBody>
      </p:sp>
      <p:sp>
        <p:nvSpPr>
          <p:cNvPr id="210" name="Google Shape;210;p26"/>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6"/>
          <p:cNvSpPr txBox="1"/>
          <p:nvPr/>
        </p:nvSpPr>
        <p:spPr>
          <a:xfrm>
            <a:off x="125850" y="674375"/>
            <a:ext cx="5261400" cy="1204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When collecting Static anthropometric data a range of tools to measure the subjects. These can include sliding calipers, skinfold calipers, fabric tapes etc.</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It can sometimes be difficult to accurately collect anthropometric data mainly due to the reliability and limitations which are described below:</a:t>
            </a:r>
            <a:endParaRPr b="0" i="0" sz="1200" u="none" cap="none" strike="noStrike">
              <a:solidFill>
                <a:srgbClr val="000000"/>
              </a:solidFill>
              <a:latin typeface="Arial"/>
              <a:ea typeface="Arial"/>
              <a:cs typeface="Arial"/>
              <a:sym typeface="Arial"/>
            </a:endParaRPr>
          </a:p>
        </p:txBody>
      </p:sp>
      <p:sp>
        <p:nvSpPr>
          <p:cNvPr id="212" name="Google Shape;212;p26"/>
          <p:cNvSpPr txBox="1"/>
          <p:nvPr/>
        </p:nvSpPr>
        <p:spPr>
          <a:xfrm>
            <a:off x="114900" y="1720175"/>
            <a:ext cx="5333400" cy="3357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Tools used</a:t>
            </a:r>
            <a:r>
              <a:rPr b="0" i="0" lang="en-GB" sz="1200" u="none" cap="none" strike="noStrike">
                <a:solidFill>
                  <a:srgbClr val="000000"/>
                </a:solidFill>
                <a:latin typeface="Arial"/>
                <a:ea typeface="Arial"/>
                <a:cs typeface="Arial"/>
                <a:sym typeface="Arial"/>
              </a:rPr>
              <a:t>: unreliability of the actual tools and the calibration and maintenance of the tools.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Personnel training</a:t>
            </a:r>
            <a:r>
              <a:rPr b="0" i="0" lang="en-GB" sz="1200" u="none" cap="none" strike="noStrike">
                <a:solidFill>
                  <a:srgbClr val="000000"/>
                </a:solidFill>
                <a:latin typeface="Arial"/>
                <a:ea typeface="Arial"/>
                <a:cs typeface="Arial"/>
                <a:sym typeface="Arial"/>
              </a:rPr>
              <a:t>: The accuracy and consistency of where measurements are taken on the subjects is directly linked to the level of training of the people taking the measurements.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Time of the day</a:t>
            </a:r>
            <a:r>
              <a:rPr b="0" i="0" lang="en-GB" sz="1200" u="none" cap="none" strike="noStrike">
                <a:solidFill>
                  <a:srgbClr val="000000"/>
                </a:solidFill>
                <a:latin typeface="Arial"/>
                <a:ea typeface="Arial"/>
                <a:cs typeface="Arial"/>
                <a:sym typeface="Arial"/>
              </a:rPr>
              <a:t>: because the cartilaginous disc in the spine get compressed by body weight throughout the day. We can be upto 2.2mm shorter in the evening.</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Subjects body shape</a:t>
            </a:r>
            <a:r>
              <a:rPr b="0" i="0" lang="en-GB" sz="1200" u="none" cap="none" strike="noStrike">
                <a:solidFill>
                  <a:srgbClr val="000000"/>
                </a:solidFill>
                <a:latin typeface="Arial"/>
                <a:ea typeface="Arial"/>
                <a:cs typeface="Arial"/>
                <a:sym typeface="Arial"/>
              </a:rPr>
              <a:t>: Due the physical size or shape of some of the subject it may be difficult to collect measurement from a defined specific area.</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User does not carry out tasks in the same way</a:t>
            </a:r>
            <a:r>
              <a:rPr b="0" i="0" lang="en-GB" sz="1200" u="none" cap="none" strike="noStrike">
                <a:solidFill>
                  <a:srgbClr val="000000"/>
                </a:solidFill>
                <a:latin typeface="Arial"/>
                <a:ea typeface="Arial"/>
                <a:cs typeface="Arial"/>
                <a:sym typeface="Arial"/>
              </a:rPr>
              <a:t>: This is linked to personnel training, but consistency in measuring is also key to accurate data.</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741B47"/>
                </a:solidFill>
                <a:latin typeface="Arial"/>
                <a:ea typeface="Arial"/>
                <a:cs typeface="Arial"/>
                <a:sym typeface="Arial"/>
              </a:rPr>
              <a:t>Obtaining static data is not straight forward</a:t>
            </a:r>
            <a:r>
              <a:rPr b="0" i="0" lang="en-GB" sz="1200" u="none" cap="none" strike="noStrike">
                <a:solidFill>
                  <a:srgbClr val="000000"/>
                </a:solidFill>
                <a:latin typeface="Arial"/>
                <a:ea typeface="Arial"/>
                <a:cs typeface="Arial"/>
                <a:sym typeface="Arial"/>
              </a:rPr>
              <a:t>: subjects are human and move dynamically and are not always compliant.</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id="213" name="Google Shape;213;p26" title="Screenshot 2025-09-02 at 12.12.08 PM.png"/>
          <p:cNvPicPr preferRelativeResize="0"/>
          <p:nvPr/>
        </p:nvPicPr>
        <p:blipFill>
          <a:blip r:embed="rId3">
            <a:alphaModFix/>
          </a:blip>
          <a:stretch>
            <a:fillRect/>
          </a:stretch>
        </p:blipFill>
        <p:spPr>
          <a:xfrm>
            <a:off x="5516975" y="564025"/>
            <a:ext cx="3593350" cy="4394150"/>
          </a:xfrm>
          <a:prstGeom prst="rect">
            <a:avLst/>
          </a:prstGeom>
          <a:noFill/>
          <a:ln>
            <a:noFill/>
          </a:ln>
        </p:spPr>
      </p:pic>
      <p:sp>
        <p:nvSpPr>
          <p:cNvPr id="214" name="Google Shape;214;p26"/>
          <p:cNvSpPr txBox="1"/>
          <p:nvPr/>
        </p:nvSpPr>
        <p:spPr>
          <a:xfrm>
            <a:off x="113550" y="78650"/>
            <a:ext cx="8916900" cy="3651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1.1.3 Percentiles aid in the selection of appropriate anthropometric data to satisfy the majority of a user population.</a:t>
            </a:r>
            <a:endParaRPr b="1" sz="1100">
              <a:solidFill>
                <a:srgbClr val="351C75"/>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nvSpPr>
        <p:spPr>
          <a:xfrm>
            <a:off x="113550" y="78650"/>
            <a:ext cx="8916900" cy="4719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1.1.4 </a:t>
            </a:r>
            <a:r>
              <a:rPr b="1" lang="en-GB" sz="1100">
                <a:solidFill>
                  <a:srgbClr val="351C75"/>
                </a:solidFill>
              </a:rPr>
              <a:t>To ensure products are appropriate to a range of percentiles, designers can choose to design products to be adjustable and/or to be produced in a range of sizes.</a:t>
            </a:r>
            <a:endParaRPr b="1" sz="1100">
              <a:solidFill>
                <a:srgbClr val="351C75"/>
              </a:solidFill>
            </a:endParaRPr>
          </a:p>
        </p:txBody>
      </p:sp>
      <p:sp>
        <p:nvSpPr>
          <p:cNvPr id="220" name="Google Shape;220;p27"/>
          <p:cNvSpPr txBox="1"/>
          <p:nvPr/>
        </p:nvSpPr>
        <p:spPr>
          <a:xfrm>
            <a:off x="201075" y="746475"/>
            <a:ext cx="8733000" cy="278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300">
                <a:solidFill>
                  <a:srgbClr val="434343"/>
                </a:solidFill>
              </a:rPr>
              <a:t>Designers need to consider differences in users' body dimensions and anthropometric measurements when developing products. Percentiles, such as the 5th, 50th, and 95th, help designers understand the range of body sizes within a target population. Designing only for the average user may exclude smaller or larger users.</a:t>
            </a:r>
            <a:endParaRPr sz="1300">
              <a:solidFill>
                <a:srgbClr val="434343"/>
              </a:solidFill>
            </a:endParaRPr>
          </a:p>
          <a:p>
            <a:pPr indent="0" lvl="0" marL="0" rtl="0" algn="l">
              <a:spcBef>
                <a:spcPts val="0"/>
              </a:spcBef>
              <a:spcAft>
                <a:spcPts val="0"/>
              </a:spcAft>
              <a:buClr>
                <a:schemeClr val="dk1"/>
              </a:buClr>
              <a:buSzPts val="1100"/>
              <a:buFont typeface="Arial"/>
              <a:buNone/>
            </a:pPr>
            <a:r>
              <a:t/>
            </a:r>
            <a:endParaRPr sz="1300">
              <a:solidFill>
                <a:srgbClr val="434343"/>
              </a:solidFill>
            </a:endParaRPr>
          </a:p>
          <a:p>
            <a:pPr indent="0" lvl="0" marL="0" rtl="0" algn="l">
              <a:spcBef>
                <a:spcPts val="0"/>
              </a:spcBef>
              <a:spcAft>
                <a:spcPts val="0"/>
              </a:spcAft>
              <a:buClr>
                <a:schemeClr val="dk1"/>
              </a:buClr>
              <a:buSzPts val="1100"/>
              <a:buFont typeface="Arial"/>
              <a:buNone/>
            </a:pPr>
            <a:r>
              <a:rPr lang="en-GB" sz="1300">
                <a:solidFill>
                  <a:srgbClr val="434343"/>
                </a:solidFill>
              </a:rPr>
              <a:t>One approach is to make products adjustable, allowing users to modify dimensions to suit their individual needs. Examples include adjustable office chairs, car seats, bicycle seats, and desks. Adjustable products can accommodate a wider range of users while improving comfort, ergonomics, and usability.</a:t>
            </a:r>
            <a:endParaRPr sz="1300">
              <a:solidFill>
                <a:srgbClr val="434343"/>
              </a:solidFill>
            </a:endParaRPr>
          </a:p>
          <a:p>
            <a:pPr indent="0" lvl="0" marL="0" rtl="0" algn="l">
              <a:spcBef>
                <a:spcPts val="0"/>
              </a:spcBef>
              <a:spcAft>
                <a:spcPts val="0"/>
              </a:spcAft>
              <a:buClr>
                <a:schemeClr val="dk1"/>
              </a:buClr>
              <a:buSzPts val="1100"/>
              <a:buFont typeface="Arial"/>
              <a:buNone/>
            </a:pPr>
            <a:r>
              <a:t/>
            </a:r>
            <a:endParaRPr sz="1300">
              <a:solidFill>
                <a:srgbClr val="434343"/>
              </a:solidFill>
            </a:endParaRPr>
          </a:p>
          <a:p>
            <a:pPr indent="0" lvl="0" marL="0" rtl="0" algn="l">
              <a:spcBef>
                <a:spcPts val="0"/>
              </a:spcBef>
              <a:spcAft>
                <a:spcPts val="0"/>
              </a:spcAft>
              <a:buClr>
                <a:schemeClr val="dk1"/>
              </a:buClr>
              <a:buSzPts val="1100"/>
              <a:buFont typeface="Arial"/>
              <a:buNone/>
            </a:pPr>
            <a:r>
              <a:rPr lang="en-GB" sz="1300">
                <a:solidFill>
                  <a:srgbClr val="434343"/>
                </a:solidFill>
              </a:rPr>
              <a:t>Another approach is to produce products in a range of sizes, such as shoes, clothing, helmets, or school furniture. This can provide a good fit but requires manufacturers to produce and stock different sizes. Designers therefore choose between adjustability and multiple sizes depending on the product, users, cost, manufacturing complexity, and intended range of percentiles.</a:t>
            </a:r>
            <a:endParaRPr sz="1300">
              <a:solidFill>
                <a:srgbClr val="434343"/>
              </a:solidFill>
            </a:endParaRPr>
          </a:p>
          <a:p>
            <a:pPr indent="0" lvl="0" marL="0" rtl="0" algn="l">
              <a:spcBef>
                <a:spcPts val="0"/>
              </a:spcBef>
              <a:spcAft>
                <a:spcPts val="0"/>
              </a:spcAft>
              <a:buNone/>
            </a:pPr>
            <a:r>
              <a:t/>
            </a:r>
            <a:endParaRPr sz="1300">
              <a:solidFill>
                <a:srgbClr val="434343"/>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8"/>
          <p:cNvSpPr txBox="1"/>
          <p:nvPr/>
        </p:nvSpPr>
        <p:spPr>
          <a:xfrm>
            <a:off x="97050" y="499350"/>
            <a:ext cx="4420500" cy="45840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Clearance</a:t>
            </a:r>
            <a:r>
              <a:rPr b="0" i="0" lang="en-GB"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People and machines sometimes have to work or move through restricted spaces, for example, maintenance work on large production machinery. </a:t>
            </a:r>
            <a:r>
              <a:rPr b="1" i="0" lang="en-GB" sz="1100" u="none" cap="none" strike="noStrike">
                <a:solidFill>
                  <a:srgbClr val="000000"/>
                </a:solidFill>
                <a:latin typeface="Arial"/>
                <a:ea typeface="Arial"/>
                <a:cs typeface="Arial"/>
                <a:sym typeface="Arial"/>
              </a:rPr>
              <a:t>Clearance</a:t>
            </a:r>
            <a:r>
              <a:rPr b="0" i="0" lang="en-GB" sz="1100" u="none" cap="none" strike="noStrike">
                <a:solidFill>
                  <a:srgbClr val="000000"/>
                </a:solidFill>
                <a:latin typeface="Arial"/>
                <a:ea typeface="Arial"/>
                <a:cs typeface="Arial"/>
                <a:sym typeface="Arial"/>
              </a:rPr>
              <a:t> can be seen as the minimum required to the user into or through an area. Clearance is especially important when designing emergency exists, access panels, or safety hatches.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Clearance examples</a:t>
            </a:r>
            <a:r>
              <a:rPr b="0" i="0" lang="en-GB"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269999" lvl="0" marL="269999" marR="0" rtl="0" algn="just">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The minimum vertical space between the floor and an overhead obstruction must allow for the tallest user </a:t>
            </a:r>
            <a:r>
              <a:rPr b="1" i="0" lang="en-GB" sz="1100" u="none" cap="none" strike="noStrike">
                <a:solidFill>
                  <a:srgbClr val="000000"/>
                </a:solidFill>
                <a:latin typeface="Arial"/>
                <a:ea typeface="Arial"/>
                <a:cs typeface="Arial"/>
                <a:sym typeface="Arial"/>
              </a:rPr>
              <a:t>plus</a:t>
            </a:r>
            <a:r>
              <a:rPr b="0" i="0" lang="en-GB" sz="1100" u="none" cap="none" strike="noStrike">
                <a:solidFill>
                  <a:srgbClr val="000000"/>
                </a:solidFill>
                <a:latin typeface="Arial"/>
                <a:ea typeface="Arial"/>
                <a:cs typeface="Arial"/>
                <a:sym typeface="Arial"/>
              </a:rPr>
              <a:t> their footwear and PPE gear.</a:t>
            </a:r>
            <a:endParaRPr b="0" i="0" sz="1100" u="none" cap="none" strike="noStrike">
              <a:solidFill>
                <a:srgbClr val="000000"/>
              </a:solidFill>
              <a:latin typeface="Arial"/>
              <a:ea typeface="Arial"/>
              <a:cs typeface="Arial"/>
              <a:sym typeface="Arial"/>
            </a:endParaRPr>
          </a:p>
          <a:p>
            <a:pPr indent="-269999" lvl="0" marL="269999" marR="0" rtl="0" algn="just">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The minimum horizontal space between obstructions must allow for the widest </a:t>
            </a:r>
            <a:r>
              <a:rPr b="1" i="0" lang="en-GB" sz="1100" u="none" cap="none" strike="noStrike">
                <a:solidFill>
                  <a:srgbClr val="000000"/>
                </a:solidFill>
                <a:latin typeface="Arial"/>
                <a:ea typeface="Arial"/>
                <a:cs typeface="Arial"/>
                <a:sym typeface="Arial"/>
              </a:rPr>
              <a:t>plus</a:t>
            </a:r>
            <a:r>
              <a:rPr b="0" i="0" lang="en-GB" sz="1100" u="none" cap="none" strike="noStrike">
                <a:solidFill>
                  <a:srgbClr val="000000"/>
                </a:solidFill>
                <a:latin typeface="Arial"/>
                <a:ea typeface="Arial"/>
                <a:cs typeface="Arial"/>
                <a:sym typeface="Arial"/>
              </a:rPr>
              <a:t> room for movement and equipment - think of wheelchair users.</a:t>
            </a:r>
            <a:endParaRPr b="0" i="0" sz="1100" u="none" cap="none" strike="noStrike">
              <a:solidFill>
                <a:srgbClr val="000000"/>
              </a:solidFill>
              <a:latin typeface="Arial"/>
              <a:ea typeface="Arial"/>
              <a:cs typeface="Arial"/>
              <a:sym typeface="Arial"/>
            </a:endParaRPr>
          </a:p>
          <a:p>
            <a:pPr indent="-269999" lvl="0" marL="269999" marR="0" rtl="0" algn="just">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An unprotected hazard must be out of reach for the user with the longest arm length - think of guards on large machine presses.</a:t>
            </a:r>
            <a:endParaRPr b="0" i="0" sz="1100" u="none" cap="none" strike="noStrike">
              <a:solidFill>
                <a:srgbClr val="000000"/>
              </a:solidFill>
              <a:latin typeface="Arial"/>
              <a:ea typeface="Arial"/>
              <a:cs typeface="Arial"/>
              <a:sym typeface="Arial"/>
            </a:endParaRPr>
          </a:p>
          <a:p>
            <a:pPr indent="-269999" lvl="0" marL="269999" marR="0" rtl="0" algn="just">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Grill opening must not be wide enough to get your fingers in.</a:t>
            </a:r>
            <a:endParaRPr b="0" i="0" sz="1100" u="none" cap="none" strike="noStrike">
              <a:solidFill>
                <a:srgbClr val="000000"/>
              </a:solidFill>
              <a:latin typeface="Arial"/>
              <a:ea typeface="Arial"/>
              <a:cs typeface="Arial"/>
              <a:sym typeface="Arial"/>
            </a:endParaRPr>
          </a:p>
          <a:p>
            <a:pPr indent="-269999" lvl="0" marL="269999" marR="0" rtl="0" algn="just">
              <a:lnSpc>
                <a:spcPct val="100000"/>
              </a:lnSpc>
              <a:spcBef>
                <a:spcPts val="0"/>
              </a:spcBef>
              <a:spcAft>
                <a:spcPts val="0"/>
              </a:spcAft>
              <a:buClr>
                <a:srgbClr val="0000FF"/>
              </a:buClr>
              <a:buSzPts val="1100"/>
              <a:buFont typeface="Arial"/>
              <a:buChar char="-"/>
            </a:pPr>
            <a:r>
              <a:rPr b="0" i="0" lang="en-GB" sz="1100" u="none" cap="none" strike="noStrike">
                <a:solidFill>
                  <a:srgbClr val="0000FF"/>
                </a:solidFill>
                <a:latin typeface="Arial"/>
                <a:ea typeface="Arial"/>
                <a:cs typeface="Arial"/>
                <a:sym typeface="Arial"/>
              </a:rPr>
              <a:t>What other examples can you think of?</a:t>
            </a:r>
            <a:endParaRPr b="0" i="0" sz="1100" u="none" cap="none" strike="noStrike">
              <a:solidFill>
                <a:srgbClr val="0000FF"/>
              </a:solidFill>
              <a:latin typeface="Arial"/>
              <a:ea typeface="Arial"/>
              <a:cs typeface="Arial"/>
              <a:sym typeface="Arial"/>
            </a:endParaRPr>
          </a:p>
        </p:txBody>
      </p:sp>
      <p:sp>
        <p:nvSpPr>
          <p:cNvPr id="227" name="Google Shape;227;p28"/>
          <p:cNvSpPr txBox="1"/>
          <p:nvPr/>
        </p:nvSpPr>
        <p:spPr>
          <a:xfrm>
            <a:off x="4572000" y="499350"/>
            <a:ext cx="4475100" cy="27537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Reach</a:t>
            </a:r>
            <a:r>
              <a:rPr b="0" i="0" lang="en-GB"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Reach is also known as the “</a:t>
            </a:r>
            <a:r>
              <a:rPr b="1" i="0" lang="en-GB" sz="1100" u="none" cap="none" strike="noStrike">
                <a:solidFill>
                  <a:srgbClr val="000000"/>
                </a:solidFill>
                <a:latin typeface="Arial"/>
                <a:ea typeface="Arial"/>
                <a:cs typeface="Arial"/>
                <a:sym typeface="Arial"/>
              </a:rPr>
              <a:t>workspace envelope</a:t>
            </a:r>
            <a:r>
              <a:rPr b="0" i="0" lang="en-GB" sz="1100" u="none" cap="none" strike="noStrike">
                <a:solidFill>
                  <a:srgbClr val="000000"/>
                </a:solidFill>
                <a:latin typeface="Arial"/>
                <a:ea typeface="Arial"/>
                <a:cs typeface="Arial"/>
                <a:sym typeface="Arial"/>
              </a:rPr>
              <a:t>”. This is a 3-dimensional space within which you carry out your physical work activities when in a fixed position.</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The limits of the envelope are determined by the users functional arm reach, which in tern, is influenced by the direction of reach and the nature of the task being performed. Most of the things you need to carry out your tasks should be arranged within the </a:t>
            </a:r>
            <a:r>
              <a:rPr b="1" i="0" lang="en-GB" sz="1100" u="none" cap="none" strike="noStrike">
                <a:solidFill>
                  <a:srgbClr val="000000"/>
                </a:solidFill>
                <a:latin typeface="Arial"/>
                <a:ea typeface="Arial"/>
                <a:cs typeface="Arial"/>
                <a:sym typeface="Arial"/>
              </a:rPr>
              <a:t>primary</a:t>
            </a:r>
            <a:r>
              <a:rPr b="0" i="0" lang="en-GB" sz="1100" u="none" cap="none" strike="noStrike">
                <a:solidFill>
                  <a:srgbClr val="000000"/>
                </a:solidFill>
                <a:latin typeface="Arial"/>
                <a:ea typeface="Arial"/>
                <a:cs typeface="Arial"/>
                <a:sym typeface="Arial"/>
              </a:rPr>
              <a:t> and </a:t>
            </a:r>
            <a:r>
              <a:rPr b="1" i="0" lang="en-GB" sz="1100" u="none" cap="none" strike="noStrike">
                <a:solidFill>
                  <a:srgbClr val="000000"/>
                </a:solidFill>
                <a:latin typeface="Arial"/>
                <a:ea typeface="Arial"/>
                <a:cs typeface="Arial"/>
                <a:sym typeface="Arial"/>
              </a:rPr>
              <a:t>secondary zones.</a:t>
            </a:r>
            <a:endParaRPr b="0" i="0" sz="1100" u="none" cap="none" strike="noStrike">
              <a:solidFill>
                <a:srgbClr val="000000"/>
              </a:solidFill>
              <a:latin typeface="Arial"/>
              <a:ea typeface="Arial"/>
              <a:cs typeface="Arial"/>
              <a:sym typeface="Arial"/>
            </a:endParaRPr>
          </a:p>
        </p:txBody>
      </p:sp>
      <p:sp>
        <p:nvSpPr>
          <p:cNvPr id="228" name="Google Shape;228;p28"/>
          <p:cNvSpPr txBox="1"/>
          <p:nvPr/>
        </p:nvSpPr>
        <p:spPr>
          <a:xfrm>
            <a:off x="4571850" y="3314500"/>
            <a:ext cx="4475100" cy="1768800"/>
          </a:xfrm>
          <a:prstGeom prst="rect">
            <a:avLst/>
          </a:prstGeom>
          <a:solidFill>
            <a:srgbClr val="F3F3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9" name="Google Shape;229;p28"/>
          <p:cNvSpPr txBox="1"/>
          <p:nvPr/>
        </p:nvSpPr>
        <p:spPr>
          <a:xfrm>
            <a:off x="6452850" y="2200388"/>
            <a:ext cx="2594100" cy="917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Workspace envelopes should be designed for the 5th percentile of the user population, that means 95% of people will be able to reach everything in that envelope.</a:t>
            </a:r>
            <a:endParaRPr b="0" i="0" sz="1100" u="none" cap="none" strike="noStrike">
              <a:solidFill>
                <a:srgbClr val="000000"/>
              </a:solidFill>
              <a:latin typeface="Arial"/>
              <a:ea typeface="Arial"/>
              <a:cs typeface="Arial"/>
              <a:sym typeface="Arial"/>
            </a:endParaRPr>
          </a:p>
        </p:txBody>
      </p:sp>
      <p:sp>
        <p:nvSpPr>
          <p:cNvPr id="230" name="Google Shape;230;p28"/>
          <p:cNvSpPr txBox="1"/>
          <p:nvPr/>
        </p:nvSpPr>
        <p:spPr>
          <a:xfrm>
            <a:off x="4596525" y="3253050"/>
            <a:ext cx="3411600" cy="1830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Arial"/>
                <a:ea typeface="Arial"/>
                <a:cs typeface="Arial"/>
                <a:sym typeface="Arial"/>
              </a:rPr>
              <a:t>Adjustability</a:t>
            </a:r>
            <a:r>
              <a:rPr b="0" i="0" lang="en-GB"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3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Certain features of equipment or facilities can be designed so they can be adjusted to the individuals that use them. The 5th to 95th percentile range of a population group should be considered for </a:t>
            </a:r>
            <a:r>
              <a:rPr b="1" i="0" lang="en-GB" sz="1100" u="none" cap="none" strike="noStrike">
                <a:solidFill>
                  <a:schemeClr val="dk1"/>
                </a:solidFill>
                <a:latin typeface="Arial"/>
                <a:ea typeface="Arial"/>
                <a:cs typeface="Arial"/>
                <a:sym typeface="Arial"/>
              </a:rPr>
              <a:t>adjustability</a:t>
            </a:r>
            <a:r>
              <a:rPr b="0" i="0" lang="en-GB" sz="1100" u="none" cap="none" strike="noStrike">
                <a:solidFill>
                  <a:schemeClr val="dk1"/>
                </a:solidFill>
                <a:latin typeface="Arial"/>
                <a:ea typeface="Arial"/>
                <a:cs typeface="Arial"/>
                <a:sym typeface="Arial"/>
              </a:rPr>
              <a:t>, as manufacturing for the more extreme groups can create expensive and manufacturing difficulties. Other accommodations, such as add ons or extensions can be provide for these groups.</a:t>
            </a:r>
            <a:endParaRPr b="0" i="0" sz="1100" u="none" cap="none" strike="noStrike">
              <a:solidFill>
                <a:srgbClr val="000000"/>
              </a:solidFill>
              <a:latin typeface="Arial"/>
              <a:ea typeface="Arial"/>
              <a:cs typeface="Arial"/>
              <a:sym typeface="Arial"/>
            </a:endParaRPr>
          </a:p>
        </p:txBody>
      </p:sp>
      <p:sp>
        <p:nvSpPr>
          <p:cNvPr id="231" name="Google Shape;231;p28"/>
          <p:cNvSpPr txBox="1"/>
          <p:nvPr/>
        </p:nvSpPr>
        <p:spPr>
          <a:xfrm>
            <a:off x="113550" y="78650"/>
            <a:ext cx="8916900" cy="348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1.1.5 In design, consideration must be given to work envelopes, reach, clearance, adjustability and range of sizes.</a:t>
            </a:r>
            <a:endParaRPr b="1" sz="1100">
              <a:solidFill>
                <a:srgbClr val="351C75"/>
              </a:solidFill>
            </a:endParaRPr>
          </a:p>
        </p:txBody>
      </p:sp>
      <p:pic>
        <p:nvPicPr>
          <p:cNvPr id="232" name="Google Shape;232;p28" title="Screenshot 2026-09-20 at 9.11.04 PM.png"/>
          <p:cNvPicPr preferRelativeResize="0"/>
          <p:nvPr/>
        </p:nvPicPr>
        <p:blipFill>
          <a:blip r:embed="rId3">
            <a:alphaModFix/>
          </a:blip>
          <a:stretch>
            <a:fillRect/>
          </a:stretch>
        </p:blipFill>
        <p:spPr>
          <a:xfrm>
            <a:off x="7983814" y="3782630"/>
            <a:ext cx="1003423" cy="769200"/>
          </a:xfrm>
          <a:prstGeom prst="rect">
            <a:avLst/>
          </a:prstGeom>
          <a:noFill/>
          <a:ln>
            <a:noFill/>
          </a:ln>
        </p:spPr>
      </p:pic>
      <p:pic>
        <p:nvPicPr>
          <p:cNvPr id="233" name="Google Shape;233;p28"/>
          <p:cNvPicPr preferRelativeResize="0"/>
          <p:nvPr/>
        </p:nvPicPr>
        <p:blipFill>
          <a:blip r:embed="rId4">
            <a:alphaModFix/>
          </a:blip>
          <a:stretch>
            <a:fillRect/>
          </a:stretch>
        </p:blipFill>
        <p:spPr>
          <a:xfrm>
            <a:off x="4648925" y="2198300"/>
            <a:ext cx="1662513" cy="1003400"/>
          </a:xfrm>
          <a:prstGeom prst="rect">
            <a:avLst/>
          </a:prstGeom>
          <a:noFill/>
          <a:ln>
            <a:noFill/>
          </a:ln>
        </p:spPr>
      </p:pic>
      <p:pic>
        <p:nvPicPr>
          <p:cNvPr id="234" name="Google Shape;234;p28" title="Screenshot 2026-09-20 at 9.13.42 PM.png"/>
          <p:cNvPicPr preferRelativeResize="0"/>
          <p:nvPr/>
        </p:nvPicPr>
        <p:blipFill>
          <a:blip r:embed="rId5">
            <a:alphaModFix/>
          </a:blip>
          <a:stretch>
            <a:fillRect/>
          </a:stretch>
        </p:blipFill>
        <p:spPr>
          <a:xfrm>
            <a:off x="1169750" y="1817847"/>
            <a:ext cx="1072925" cy="863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9"/>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9"/>
          <p:cNvSpPr txBox="1"/>
          <p:nvPr/>
        </p:nvSpPr>
        <p:spPr>
          <a:xfrm>
            <a:off x="52525" y="391300"/>
            <a:ext cx="8975100" cy="610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Products are specifically designed to allow a variety of users to access and utilise them. This is based around the idea of providing a range of sizes or the adjustability of the product to accommodate the users, and therefore access a larger user market.</a:t>
            </a:r>
            <a:endParaRPr b="0" i="0" sz="1200" u="none" cap="none" strike="noStrike">
              <a:solidFill>
                <a:srgbClr val="000000"/>
              </a:solidFill>
              <a:latin typeface="Arial"/>
              <a:ea typeface="Arial"/>
              <a:cs typeface="Arial"/>
              <a:sym typeface="Arial"/>
            </a:endParaRPr>
          </a:p>
        </p:txBody>
      </p:sp>
      <p:sp>
        <p:nvSpPr>
          <p:cNvPr id="241" name="Google Shape;241;p29"/>
          <p:cNvSpPr txBox="1"/>
          <p:nvPr/>
        </p:nvSpPr>
        <p:spPr>
          <a:xfrm>
            <a:off x="159700" y="820350"/>
            <a:ext cx="4329000" cy="1751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Range of sizes</a:t>
            </a:r>
            <a:r>
              <a:rPr b="0" i="0" lang="en-GB"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When talking about this category the obvious area of manufacturing and design that comes to mind is fashion. However, for clothes manufacturers to make clothes to fit every individual variance would not be economically possible, thus clothes tend to come in a range of sizes based on </a:t>
            </a:r>
            <a:r>
              <a:rPr b="1" i="0" lang="en-GB" sz="1100" u="none" cap="none" strike="noStrike">
                <a:solidFill>
                  <a:srgbClr val="000000"/>
                </a:solidFill>
                <a:latin typeface="Arial"/>
                <a:ea typeface="Arial"/>
                <a:cs typeface="Arial"/>
                <a:sym typeface="Arial"/>
              </a:rPr>
              <a:t>percentile ranges</a:t>
            </a:r>
            <a:r>
              <a:rPr b="0" i="0" lang="en-GB" sz="1100" u="none" cap="none" strike="noStrike">
                <a:solidFill>
                  <a:srgbClr val="000000"/>
                </a:solidFill>
                <a:latin typeface="Arial"/>
                <a:ea typeface="Arial"/>
                <a:cs typeface="Arial"/>
                <a:sym typeface="Arial"/>
              </a:rPr>
              <a:t>. There are also a number of other types of design and manufacturing that produce a “range of sizes”,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FF"/>
                </a:solidFill>
                <a:latin typeface="Arial"/>
                <a:ea typeface="Arial"/>
                <a:cs typeface="Arial"/>
                <a:sym typeface="Arial"/>
              </a:rPr>
              <a:t>what ones can you think of?</a:t>
            </a:r>
            <a:endParaRPr b="0" i="0" sz="1100" u="none" cap="none" strike="noStrike">
              <a:solidFill>
                <a:srgbClr val="0000FF"/>
              </a:solidFill>
              <a:latin typeface="Arial"/>
              <a:ea typeface="Arial"/>
              <a:cs typeface="Arial"/>
              <a:sym typeface="Arial"/>
            </a:endParaRPr>
          </a:p>
        </p:txBody>
      </p:sp>
      <p:sp>
        <p:nvSpPr>
          <p:cNvPr id="242" name="Google Shape;242;p29"/>
          <p:cNvSpPr txBox="1"/>
          <p:nvPr/>
        </p:nvSpPr>
        <p:spPr>
          <a:xfrm>
            <a:off x="4572000" y="820350"/>
            <a:ext cx="4499100" cy="280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Adjustability</a:t>
            </a:r>
            <a:r>
              <a:rPr b="0" i="0" lang="en-GB"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There is a clear distinction between a product produced for a “range of sizes” and “adjustability” - </a:t>
            </a:r>
            <a:r>
              <a:rPr b="0" i="0" lang="en-GB" sz="1100" u="none" cap="none" strike="noStrike">
                <a:solidFill>
                  <a:srgbClr val="0000FF"/>
                </a:solidFill>
                <a:latin typeface="Arial"/>
                <a:ea typeface="Arial"/>
                <a:cs typeface="Arial"/>
                <a:sym typeface="Arial"/>
              </a:rPr>
              <a:t>Can you describe the difference?</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People have different proportions, even people of similar sizes. So as a designer this needs to be taken into consideration so users can “adjust” the product to suit their own proportions.</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Multivariate accommodation (fitting in several variables) - for example, in a car, you need to consider sitting height, sitting leg length, arm reach, viewing angle, hip breadth, thigh length. This means that accepting the upper and lower 5% of people from the percentile range being designed out of your product is not viable. Also, different people will be designed out for each different variable. This is where “adjustability” comes into design. The user can alter the product to best suit them, therefore appealing to a larger user market.</a:t>
            </a:r>
            <a:endParaRPr b="0" i="0" sz="1100" u="none" cap="none" strike="noStrike">
              <a:solidFill>
                <a:srgbClr val="000000"/>
              </a:solidFill>
              <a:latin typeface="Arial"/>
              <a:ea typeface="Arial"/>
              <a:cs typeface="Arial"/>
              <a:sym typeface="Arial"/>
            </a:endParaRPr>
          </a:p>
        </p:txBody>
      </p:sp>
      <p:sp>
        <p:nvSpPr>
          <p:cNvPr id="243" name="Google Shape;243;p29"/>
          <p:cNvSpPr txBox="1"/>
          <p:nvPr/>
        </p:nvSpPr>
        <p:spPr>
          <a:xfrm>
            <a:off x="157150" y="4562975"/>
            <a:ext cx="4334100" cy="532800"/>
          </a:xfrm>
          <a:prstGeom prst="rect">
            <a:avLst/>
          </a:prstGeom>
          <a:solidFill>
            <a:srgbClr val="6AA84F"/>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FFFFFF"/>
                </a:solidFill>
                <a:latin typeface="Arial"/>
                <a:ea typeface="Arial"/>
                <a:cs typeface="Arial"/>
                <a:sym typeface="Arial"/>
              </a:rPr>
              <a:t>Range of sizes</a:t>
            </a:r>
            <a:r>
              <a:rPr b="0" i="0" lang="en-GB" sz="1100" u="none" cap="none" strike="noStrike">
                <a:solidFill>
                  <a:srgbClr val="FFFFFF"/>
                </a:solidFill>
                <a:latin typeface="Arial"/>
                <a:ea typeface="Arial"/>
                <a:cs typeface="Arial"/>
                <a:sym typeface="Arial"/>
              </a:rPr>
              <a:t>: A selection of sizes of a product is made to cater for the majority of the market. </a:t>
            </a:r>
            <a:endParaRPr b="0" i="0" sz="1100" u="none" cap="none" strike="noStrike">
              <a:solidFill>
                <a:srgbClr val="FFFFFF"/>
              </a:solidFill>
              <a:latin typeface="Arial"/>
              <a:ea typeface="Arial"/>
              <a:cs typeface="Arial"/>
              <a:sym typeface="Arial"/>
            </a:endParaRPr>
          </a:p>
        </p:txBody>
      </p:sp>
      <p:sp>
        <p:nvSpPr>
          <p:cNvPr id="244" name="Google Shape;244;p29"/>
          <p:cNvSpPr txBox="1"/>
          <p:nvPr/>
        </p:nvSpPr>
        <p:spPr>
          <a:xfrm>
            <a:off x="4572000" y="4562975"/>
            <a:ext cx="4438500" cy="532800"/>
          </a:xfrm>
          <a:prstGeom prst="rect">
            <a:avLst/>
          </a:prstGeom>
          <a:solidFill>
            <a:srgbClr val="6AA84F"/>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FFFFFF"/>
                </a:solidFill>
                <a:latin typeface="Arial"/>
                <a:ea typeface="Arial"/>
                <a:cs typeface="Arial"/>
                <a:sym typeface="Arial"/>
              </a:rPr>
              <a:t>Adjustability</a:t>
            </a:r>
            <a:r>
              <a:rPr b="0" i="0" lang="en-GB" sz="1100" u="none" cap="none" strike="noStrike">
                <a:solidFill>
                  <a:srgbClr val="FFFFFF"/>
                </a:solidFill>
                <a:latin typeface="Arial"/>
                <a:ea typeface="Arial"/>
                <a:cs typeface="Arial"/>
                <a:sym typeface="Arial"/>
              </a:rPr>
              <a:t>: The ability of a product to be changed in size. Commonly used to increase the range of percentiles the product is appropriate for.</a:t>
            </a:r>
            <a:endParaRPr b="0" i="0" sz="1100" u="none" cap="none" strike="noStrike">
              <a:solidFill>
                <a:srgbClr val="FFFFFF"/>
              </a:solidFill>
              <a:latin typeface="Arial"/>
              <a:ea typeface="Arial"/>
              <a:cs typeface="Arial"/>
              <a:sym typeface="Arial"/>
            </a:endParaRPr>
          </a:p>
        </p:txBody>
      </p:sp>
      <p:pic>
        <p:nvPicPr>
          <p:cNvPr id="245" name="Google Shape;245;p29" title="Screenshot 2025-09-02 at 12.17.29 PM.png"/>
          <p:cNvPicPr preferRelativeResize="0"/>
          <p:nvPr/>
        </p:nvPicPr>
        <p:blipFill>
          <a:blip r:embed="rId3">
            <a:alphaModFix/>
          </a:blip>
          <a:stretch>
            <a:fillRect/>
          </a:stretch>
        </p:blipFill>
        <p:spPr>
          <a:xfrm>
            <a:off x="280250" y="2777925"/>
            <a:ext cx="3288999" cy="1605037"/>
          </a:xfrm>
          <a:prstGeom prst="rect">
            <a:avLst/>
          </a:prstGeom>
          <a:noFill/>
          <a:ln>
            <a:noFill/>
          </a:ln>
        </p:spPr>
      </p:pic>
      <p:pic>
        <p:nvPicPr>
          <p:cNvPr id="246" name="Google Shape;246;p29" title="Screenshot 2025-09-02 at 12.18.02 PM.png"/>
          <p:cNvPicPr preferRelativeResize="0"/>
          <p:nvPr/>
        </p:nvPicPr>
        <p:blipFill>
          <a:blip r:embed="rId4">
            <a:alphaModFix/>
          </a:blip>
          <a:stretch>
            <a:fillRect/>
          </a:stretch>
        </p:blipFill>
        <p:spPr>
          <a:xfrm>
            <a:off x="5317225" y="3483975"/>
            <a:ext cx="2773474" cy="956000"/>
          </a:xfrm>
          <a:prstGeom prst="rect">
            <a:avLst/>
          </a:prstGeom>
          <a:noFill/>
          <a:ln>
            <a:noFill/>
          </a:ln>
        </p:spPr>
      </p:pic>
      <p:sp>
        <p:nvSpPr>
          <p:cNvPr id="247" name="Google Shape;247;p29"/>
          <p:cNvSpPr txBox="1"/>
          <p:nvPr/>
        </p:nvSpPr>
        <p:spPr>
          <a:xfrm>
            <a:off x="113550" y="78650"/>
            <a:ext cx="8916900" cy="348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1.1.5 In design, consideration must be given to work envelopes, reach, clearance, adjustability and range of sizes.</a:t>
            </a:r>
            <a:endParaRPr b="1" sz="1100">
              <a:solidFill>
                <a:srgbClr val="351C75"/>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0"/>
          <p:cNvSpPr txBox="1"/>
          <p:nvPr>
            <p:ph type="ctrTitle"/>
          </p:nvPr>
        </p:nvSpPr>
        <p:spPr>
          <a:xfrm>
            <a:off x="121650" y="66425"/>
            <a:ext cx="8900700" cy="355800"/>
          </a:xfrm>
          <a:prstGeom prst="rect">
            <a:avLst/>
          </a:prstGeom>
          <a:solidFill>
            <a:srgbClr val="434343"/>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GB" sz="1400">
                <a:solidFill>
                  <a:schemeClr val="lt1"/>
                </a:solidFill>
              </a:rPr>
              <a:t>Anthropometrics: Clearance, Reach and Adjustability: Design Context</a:t>
            </a:r>
            <a:endParaRPr sz="1400">
              <a:solidFill>
                <a:srgbClr val="FFFFFF"/>
              </a:solidFill>
            </a:endParaRPr>
          </a:p>
        </p:txBody>
      </p:sp>
      <p:sp>
        <p:nvSpPr>
          <p:cNvPr id="253" name="Google Shape;253;p30"/>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254" name="Google Shape;254;p30"/>
          <p:cNvGraphicFramePr/>
          <p:nvPr/>
        </p:nvGraphicFramePr>
        <p:xfrm>
          <a:off x="121600" y="474200"/>
          <a:ext cx="3000000" cy="3000000"/>
        </p:xfrm>
        <a:graphic>
          <a:graphicData uri="http://schemas.openxmlformats.org/drawingml/2006/table">
            <a:tbl>
              <a:tblPr>
                <a:noFill/>
                <a:tableStyleId>{AF88A327-D300-4858-9E8A-C85DB80E53C2}</a:tableStyleId>
              </a:tblPr>
              <a:tblGrid>
                <a:gridCol w="3983325"/>
                <a:gridCol w="1515350"/>
                <a:gridCol w="1733775"/>
                <a:gridCol w="1668250"/>
              </a:tblGrid>
              <a:tr h="490150">
                <a:tc>
                  <a:txBody>
                    <a:bodyPr/>
                    <a:lstStyle/>
                    <a:p>
                      <a:pPr indent="0" lvl="0" marL="0" marR="0" rtl="0" algn="ctr">
                        <a:lnSpc>
                          <a:spcPct val="100000"/>
                        </a:lnSpc>
                        <a:spcBef>
                          <a:spcPts val="0"/>
                        </a:spcBef>
                        <a:spcAft>
                          <a:spcPts val="0"/>
                        </a:spcAft>
                        <a:buClr>
                          <a:srgbClr val="000000"/>
                        </a:buClr>
                        <a:buSzPts val="1000"/>
                        <a:buFont typeface="Arial"/>
                        <a:buNone/>
                      </a:pPr>
                      <a:r>
                        <a:rPr lang="en-GB" sz="1000" u="none" cap="none" strike="noStrike">
                          <a:solidFill>
                            <a:srgbClr val="FFFFFF"/>
                          </a:solidFill>
                        </a:rPr>
                        <a:t>What is it your are aiming for with your design?</a:t>
                      </a:r>
                      <a:endParaRPr sz="1000" u="none" cap="none" strike="noStrike">
                        <a:solidFill>
                          <a:srgbClr val="FFFFFF"/>
                        </a:solidFill>
                      </a:endParaRPr>
                    </a:p>
                  </a:txBody>
                  <a:tcPr marT="91425" marB="91425" marR="91425" marL="91425" anchor="ctr">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8E7CC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000" u="none" cap="none" strike="noStrike">
                          <a:solidFill>
                            <a:srgbClr val="FFFFFF"/>
                          </a:solidFill>
                        </a:rPr>
                        <a:t>Design examples:</a:t>
                      </a:r>
                      <a:endParaRPr sz="1000" u="none" cap="none" strike="noStrike">
                        <a:solidFill>
                          <a:srgbClr val="FFFFFF"/>
                        </a:solidFill>
                      </a:endParaRPr>
                    </a:p>
                  </a:txBody>
                  <a:tcPr marT="91425" marB="91425" marR="91425" marL="91425">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8E7CC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000" u="none" cap="none" strike="noStrike">
                          <a:solidFill>
                            <a:srgbClr val="FFFFFF"/>
                          </a:solidFill>
                        </a:rPr>
                        <a:t>Measurements to be considered:</a:t>
                      </a:r>
                      <a:endParaRPr sz="1000" u="none" cap="none" strike="noStrike">
                        <a:solidFill>
                          <a:srgbClr val="FFFFFF"/>
                        </a:solidFill>
                      </a:endParaRPr>
                    </a:p>
                  </a:txBody>
                  <a:tcPr marT="91425" marB="91425" marR="91425" marL="91425">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8E7CC3"/>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GB" sz="1000" u="none" cap="none" strike="noStrike">
                          <a:solidFill>
                            <a:srgbClr val="FFFFFF"/>
                          </a:solidFill>
                        </a:rPr>
                        <a:t>User groups your design should accommodate:</a:t>
                      </a:r>
                      <a:endParaRPr sz="1000" u="none" cap="none" strike="noStrike">
                        <a:solidFill>
                          <a:srgbClr val="FFFFFF"/>
                        </a:solidFill>
                      </a:endParaRPr>
                    </a:p>
                  </a:txBody>
                  <a:tcPr marT="91425" marB="91425" marR="91425" marL="91425">
                    <a:lnL cap="flat" cmpd="sng" w="9525">
                      <a:solidFill>
                        <a:srgbClr val="20124D"/>
                      </a:solidFill>
                      <a:prstDash val="solid"/>
                      <a:round/>
                      <a:headEnd len="sm" w="sm" type="none"/>
                      <a:tailEnd len="sm" w="sm" type="none"/>
                    </a:lnL>
                    <a:lnR cap="flat" cmpd="sng" w="9525">
                      <a:solidFill>
                        <a:srgbClr val="20124D"/>
                      </a:solidFill>
                      <a:prstDash val="solid"/>
                      <a:round/>
                      <a:headEnd len="sm" w="sm" type="none"/>
                      <a:tailEnd len="sm" w="sm" type="none"/>
                    </a:lnR>
                    <a:lnT cap="flat" cmpd="sng" w="9525">
                      <a:solidFill>
                        <a:srgbClr val="20124D"/>
                      </a:solidFill>
                      <a:prstDash val="solid"/>
                      <a:round/>
                      <a:headEnd len="sm" w="sm" type="none"/>
                      <a:tailEnd len="sm" w="sm" type="none"/>
                    </a:lnT>
                    <a:lnB cap="flat" cmpd="sng" w="9525">
                      <a:solidFill>
                        <a:srgbClr val="20124D"/>
                      </a:solidFill>
                      <a:prstDash val="solid"/>
                      <a:round/>
                      <a:headEnd len="sm" w="sm" type="none"/>
                      <a:tailEnd len="sm" w="sm" type="none"/>
                    </a:lnB>
                    <a:solidFill>
                      <a:srgbClr val="8E7CC3"/>
                    </a:solidFill>
                  </a:tcPr>
                </a:tc>
              </a:tr>
              <a:tr h="44930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Easy reach.</a:t>
                      </a:r>
                      <a:endParaRPr b="1" sz="1000" u="none" cap="none" strike="noStrike"/>
                    </a:p>
                  </a:txBody>
                  <a:tcPr marT="91425" marB="91425" marR="91425" marL="91425" anchor="ctr">
                    <a:lnT cap="flat" cmpd="sng" w="9525">
                      <a:solidFill>
                        <a:srgbClr val="20124D"/>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Vehicle dashboard.</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Shelving. </a:t>
                      </a:r>
                      <a:endParaRPr sz="900" u="none" cap="none" strike="noStrike"/>
                    </a:p>
                  </a:txBody>
                  <a:tcPr marT="91425" marB="91425" marR="91425" marL="91425" anchor="ctr">
                    <a:lnT cap="flat" cmpd="sng" w="9525">
                      <a:solidFill>
                        <a:srgbClr val="20124D"/>
                      </a:solidFill>
                      <a:prstDash val="solid"/>
                      <a:round/>
                      <a:headEnd len="sm" w="sm" type="none"/>
                      <a:tailEnd len="sm" w="sm" type="none"/>
                    </a:lnT>
                  </a:tcP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Arm length</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Shoulder height</a:t>
                      </a:r>
                      <a:endParaRPr sz="900" u="none" cap="none" strike="noStrike"/>
                    </a:p>
                  </a:txBody>
                  <a:tcPr marT="91425" marB="91425" marR="91425" marL="91425" anchor="ctr">
                    <a:lnT cap="flat" cmpd="sng" w="9525">
                      <a:solidFill>
                        <a:srgbClr val="20124D"/>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t>Smallest</a:t>
                      </a:r>
                      <a:r>
                        <a:rPr lang="en-GB" sz="900" u="none" cap="none" strike="noStrike"/>
                        <a:t> user: 5th percentile.</a:t>
                      </a:r>
                      <a:endParaRPr sz="900" u="none" cap="none" strike="noStrike"/>
                    </a:p>
                  </a:txBody>
                  <a:tcPr marT="91425" marB="91425" marR="91425" marL="91425" anchor="ctr">
                    <a:lnT cap="flat" cmpd="sng" w="9525">
                      <a:solidFill>
                        <a:srgbClr val="20124D"/>
                      </a:solidFill>
                      <a:prstDash val="solid"/>
                      <a:round/>
                      <a:headEnd len="sm" w="sm" type="none"/>
                      <a:tailEnd len="sm" w="sm" type="none"/>
                    </a:lnT>
                  </a:tcPr>
                </a:tc>
              </a:tr>
              <a:tr h="49015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Adequate clearance to avoid unwanted contact or trapping.</a:t>
                      </a:r>
                      <a:endParaRPr b="1"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Inspection covers.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Cinema seats.</a:t>
                      </a:r>
                      <a:endParaRPr sz="900" u="none" cap="none" strike="noStrike"/>
                    </a:p>
                  </a:txBody>
                  <a:tcPr marT="91425" marB="91425" marR="91425" marL="91425" anchor="ct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Shoulder or hip width</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Thigh length</a:t>
                      </a:r>
                      <a:endParaRPr sz="9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t>Largest</a:t>
                      </a:r>
                      <a:r>
                        <a:rPr lang="en-GB" sz="900" u="none" cap="none" strike="noStrike"/>
                        <a:t> user: 95th percentile.</a:t>
                      </a:r>
                      <a:endParaRPr sz="900" u="none" cap="none" strike="noStrike"/>
                    </a:p>
                  </a:txBody>
                  <a:tcPr marT="91425" marB="91425" marR="91425" marL="91425" anchor="ctr"/>
                </a:tc>
              </a:tr>
              <a:tr h="49015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A good match between the user and the product.</a:t>
                      </a:r>
                      <a:endParaRPr b="1"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Seats.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Cycle helmets.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Pushchairs. </a:t>
                      </a:r>
                      <a:endParaRPr sz="900" u="none" cap="none" strike="noStrike"/>
                    </a:p>
                  </a:txBody>
                  <a:tcPr marT="91425" marB="91425" marR="91425" marL="91425" anchor="ct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Knee -floor height</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Head circumference</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weight</a:t>
                      </a:r>
                      <a:endParaRPr sz="9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t>Maximum </a:t>
                      </a:r>
                      <a:r>
                        <a:rPr lang="en-GB" sz="900" u="none" cap="none" strike="noStrike"/>
                        <a:t>range: </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5th to 95th percentile</a:t>
                      </a:r>
                      <a:endParaRPr sz="900" u="none" cap="none" strike="noStrike"/>
                    </a:p>
                  </a:txBody>
                  <a:tcPr marT="91425" marB="91425" marR="91425" marL="91425" anchor="ctr"/>
                </a:tc>
              </a:tr>
              <a:tr h="49015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A comfortable and safe posture.</a:t>
                      </a:r>
                      <a:endParaRPr b="1"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Lawnmowers.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Monitors. </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Work surface height.</a:t>
                      </a:r>
                      <a:endParaRPr sz="900" u="none" cap="none" strike="noStrike"/>
                    </a:p>
                  </a:txBody>
                  <a:tcPr marT="91425" marB="91425" marR="91425" marL="91425" anchor="ct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Elbow height</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Sitting eye height</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Sitting or standing elbow height</a:t>
                      </a:r>
                      <a:endParaRPr sz="900" u="none" cap="none" strike="noStrike"/>
                    </a:p>
                  </a:txBody>
                  <a:tcPr marT="91425" marB="91425" marR="91425" marL="91425" anchor="ctr"/>
                </a:tc>
                <a:tc>
                  <a:txBody>
                    <a:bodyPr/>
                    <a:lstStyle/>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chemeClr val="dk1"/>
                          </a:solidFill>
                        </a:rPr>
                        <a:t>Maximum </a:t>
                      </a:r>
                      <a:r>
                        <a:rPr lang="en-GB" sz="900" u="none" cap="none" strike="noStrike">
                          <a:solidFill>
                            <a:schemeClr val="dk1"/>
                          </a:solidFill>
                        </a:rPr>
                        <a:t>range: </a:t>
                      </a:r>
                      <a:endParaRPr sz="9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lang="en-GB" sz="900" u="none" cap="none" strike="noStrike">
                          <a:solidFill>
                            <a:schemeClr val="dk1"/>
                          </a:solidFill>
                        </a:rPr>
                        <a:t>5th to 95th percentile</a:t>
                      </a:r>
                      <a:endParaRPr sz="900" u="none" cap="none" strike="noStrike"/>
                    </a:p>
                  </a:txBody>
                  <a:tcPr marT="91425" marB="91425" marR="91425" marL="91425" anchor="ctr"/>
                </a:tc>
              </a:tr>
              <a:tr h="49015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Easy operation.</a:t>
                      </a:r>
                      <a:endParaRPr b="1"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Screw bottle tops.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Door handles.</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Light switches.</a:t>
                      </a:r>
                      <a:endParaRPr sz="900" u="none" cap="none" strike="noStrike"/>
                    </a:p>
                  </a:txBody>
                  <a:tcPr marT="91425" marB="91425" marR="91425" marL="91425" anchor="ct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Grip strength</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Hand width</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Height </a:t>
                      </a:r>
                      <a:endParaRPr sz="9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solidFill>
                            <a:schemeClr val="dk1"/>
                          </a:solidFill>
                        </a:rPr>
                        <a:t>Smallest </a:t>
                      </a:r>
                      <a:r>
                        <a:rPr lang="en-GB" sz="900" u="none" cap="none" strike="noStrike">
                          <a:solidFill>
                            <a:schemeClr val="dk1"/>
                          </a:solidFill>
                        </a:rPr>
                        <a:t>or weakest user: </a:t>
                      </a:r>
                      <a:endParaRPr sz="9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lang="en-GB" sz="900" u="none" cap="none" strike="noStrike">
                          <a:solidFill>
                            <a:schemeClr val="dk1"/>
                          </a:solidFill>
                        </a:rPr>
                        <a:t>5th percentile.</a:t>
                      </a:r>
                      <a:endParaRPr sz="900" u="none" cap="none" strike="noStrike"/>
                    </a:p>
                  </a:txBody>
                  <a:tcPr marT="91425" marB="91425" marR="91425" marL="91425" anchor="ctr"/>
                </a:tc>
              </a:tr>
              <a:tr h="490150">
                <a:tc>
                  <a:txBody>
                    <a:bodyPr/>
                    <a:lstStyle/>
                    <a:p>
                      <a:pPr indent="0" lvl="0" marL="0" marR="0" rtl="0" algn="l">
                        <a:lnSpc>
                          <a:spcPct val="100000"/>
                        </a:lnSpc>
                        <a:spcBef>
                          <a:spcPts val="0"/>
                        </a:spcBef>
                        <a:spcAft>
                          <a:spcPts val="0"/>
                        </a:spcAft>
                        <a:buClr>
                          <a:srgbClr val="000000"/>
                        </a:buClr>
                        <a:buSzPts val="1000"/>
                        <a:buFont typeface="Arial"/>
                        <a:buNone/>
                      </a:pPr>
                      <a:r>
                        <a:rPr b="1" lang="en-GB" sz="1000" u="none" cap="none" strike="noStrike"/>
                        <a:t>To ensure an item can not be reached or operated by mistake.</a:t>
                      </a:r>
                      <a:endParaRPr b="1" sz="10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lang="en-GB" sz="900" u="none" cap="none" strike="noStrike"/>
                        <a:t>Machine guarding mesh.</a:t>
                      </a:r>
                      <a:endParaRPr sz="900" u="none" cap="none" strike="noStrike"/>
                    </a:p>
                    <a:p>
                      <a:pPr indent="0" lvl="0" marL="0" marR="0" rtl="0" algn="l">
                        <a:lnSpc>
                          <a:spcPct val="100000"/>
                        </a:lnSpc>
                        <a:spcBef>
                          <a:spcPts val="0"/>
                        </a:spcBef>
                        <a:spcAft>
                          <a:spcPts val="0"/>
                        </a:spcAft>
                        <a:buClr>
                          <a:srgbClr val="000000"/>
                        </a:buClr>
                        <a:buSzPts val="900"/>
                        <a:buFont typeface="Arial"/>
                        <a:buNone/>
                      </a:pPr>
                      <a:r>
                        <a:rPr lang="en-GB" sz="900" u="none" cap="none" strike="noStrike"/>
                        <a:t>Barrier to hazard.</a:t>
                      </a:r>
                      <a:endParaRPr sz="900" u="none" cap="none" strike="noStrike"/>
                    </a:p>
                  </a:txBody>
                  <a:tcPr marT="91425" marB="91425" marR="91425" marL="91425" anchor="ctr"/>
                </a:tc>
                <a:tc>
                  <a:txBody>
                    <a:bodyPr/>
                    <a:lstStyle/>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Finger width</a:t>
                      </a:r>
                      <a:endParaRPr sz="900" u="none" cap="none" strike="noStrike"/>
                    </a:p>
                    <a:p>
                      <a:pPr indent="-285750" lvl="0" marL="457200" marR="0" rtl="0" algn="l">
                        <a:lnSpc>
                          <a:spcPct val="100000"/>
                        </a:lnSpc>
                        <a:spcBef>
                          <a:spcPts val="0"/>
                        </a:spcBef>
                        <a:spcAft>
                          <a:spcPts val="0"/>
                        </a:spcAft>
                        <a:buClr>
                          <a:srgbClr val="000000"/>
                        </a:buClr>
                        <a:buSzPts val="900"/>
                        <a:buFont typeface="Arial"/>
                        <a:buChar char="●"/>
                      </a:pPr>
                      <a:r>
                        <a:rPr lang="en-GB" sz="900" u="none" cap="none" strike="noStrike"/>
                        <a:t>Arm length</a:t>
                      </a:r>
                      <a:endParaRPr sz="900" u="none" cap="none" strike="noStrike"/>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900"/>
                        <a:buFont typeface="Arial"/>
                        <a:buNone/>
                      </a:pPr>
                      <a:r>
                        <a:rPr b="1" lang="en-GB" sz="900" u="none" cap="none" strike="noStrike">
                          <a:solidFill>
                            <a:schemeClr val="dk1"/>
                          </a:solidFill>
                        </a:rPr>
                        <a:t>Smallest</a:t>
                      </a:r>
                      <a:r>
                        <a:rPr lang="en-GB" sz="900" u="none" cap="none" strike="noStrike">
                          <a:solidFill>
                            <a:schemeClr val="dk1"/>
                          </a:solidFill>
                        </a:rPr>
                        <a:t> user: 5th percentile.</a:t>
                      </a:r>
                      <a:endParaRPr sz="9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1" lang="en-GB" sz="900" u="none" cap="none" strike="noStrike">
                          <a:solidFill>
                            <a:schemeClr val="dk1"/>
                          </a:solidFill>
                        </a:rPr>
                        <a:t>Largest </a:t>
                      </a:r>
                      <a:r>
                        <a:rPr lang="en-GB" sz="900" u="none" cap="none" strike="noStrike">
                          <a:solidFill>
                            <a:schemeClr val="dk1"/>
                          </a:solidFill>
                        </a:rPr>
                        <a:t>user: 95th percentile.</a:t>
                      </a:r>
                      <a:endParaRPr sz="900" u="none" cap="none" strike="noStrike">
                        <a:solidFill>
                          <a:schemeClr val="dk1"/>
                        </a:solidFill>
                      </a:endParaRPr>
                    </a:p>
                  </a:txBody>
                  <a:tcPr marT="91425" marB="91425" marR="91425" marL="91425" anchor="ctr"/>
                </a:tc>
              </a:tr>
            </a:tbl>
          </a:graphicData>
        </a:graphic>
      </p:graphicFrame>
      <p:sp>
        <p:nvSpPr>
          <p:cNvPr id="255" name="Google Shape;255;p30"/>
          <p:cNvSpPr txBox="1"/>
          <p:nvPr/>
        </p:nvSpPr>
        <p:spPr>
          <a:xfrm>
            <a:off x="130100" y="4548500"/>
            <a:ext cx="2588100" cy="535200"/>
          </a:xfrm>
          <a:prstGeom prst="rect">
            <a:avLst/>
          </a:prstGeom>
          <a:solidFill>
            <a:srgbClr val="FF9900"/>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Clearance</a:t>
            </a:r>
            <a:r>
              <a:rPr b="0" i="0" lang="en-GB" sz="1000" u="none" cap="none" strike="noStrike">
                <a:solidFill>
                  <a:srgbClr val="FFFFFF"/>
                </a:solidFill>
                <a:latin typeface="Arial"/>
                <a:ea typeface="Arial"/>
                <a:cs typeface="Arial"/>
                <a:sym typeface="Arial"/>
              </a:rPr>
              <a:t>: Physical distance between two objects.</a:t>
            </a:r>
            <a:endParaRPr b="0" i="0" sz="1000" u="none" cap="none" strike="noStrike">
              <a:solidFill>
                <a:srgbClr val="FFFFFF"/>
              </a:solidFill>
              <a:latin typeface="Arial"/>
              <a:ea typeface="Arial"/>
              <a:cs typeface="Arial"/>
              <a:sym typeface="Arial"/>
            </a:endParaRPr>
          </a:p>
        </p:txBody>
      </p:sp>
      <p:sp>
        <p:nvSpPr>
          <p:cNvPr id="256" name="Google Shape;256;p30"/>
          <p:cNvSpPr txBox="1"/>
          <p:nvPr/>
        </p:nvSpPr>
        <p:spPr>
          <a:xfrm>
            <a:off x="2850175" y="4554325"/>
            <a:ext cx="2838300" cy="535200"/>
          </a:xfrm>
          <a:prstGeom prst="rect">
            <a:avLst/>
          </a:prstGeom>
          <a:solidFill>
            <a:srgbClr val="FF9900"/>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Reach</a:t>
            </a:r>
            <a:r>
              <a:rPr b="0" i="0" lang="en-GB" sz="1000" u="none" cap="none" strike="noStrike">
                <a:solidFill>
                  <a:srgbClr val="FFFFFF"/>
                </a:solidFill>
                <a:latin typeface="Arial"/>
                <a:ea typeface="Arial"/>
                <a:cs typeface="Arial"/>
                <a:sym typeface="Arial"/>
              </a:rPr>
              <a:t>: a distance a person can stretch to or grasp an object from a specified position.</a:t>
            </a:r>
            <a:endParaRPr b="0" i="0" sz="1000" u="none" cap="none" strike="noStrike">
              <a:solidFill>
                <a:srgbClr val="FFFFFF"/>
              </a:solidFill>
              <a:latin typeface="Arial"/>
              <a:ea typeface="Arial"/>
              <a:cs typeface="Arial"/>
              <a:sym typeface="Arial"/>
            </a:endParaRPr>
          </a:p>
        </p:txBody>
      </p:sp>
      <p:sp>
        <p:nvSpPr>
          <p:cNvPr id="257" name="Google Shape;257;p30"/>
          <p:cNvSpPr txBox="1"/>
          <p:nvPr/>
        </p:nvSpPr>
        <p:spPr>
          <a:xfrm>
            <a:off x="5820450" y="4554325"/>
            <a:ext cx="3193500" cy="535200"/>
          </a:xfrm>
          <a:prstGeom prst="rect">
            <a:avLst/>
          </a:prstGeom>
          <a:solidFill>
            <a:srgbClr val="FF9900"/>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000"/>
              <a:buFont typeface="Arial"/>
              <a:buNone/>
            </a:pPr>
            <a:r>
              <a:rPr b="1" i="0" lang="en-GB" sz="1000" u="none" cap="none" strike="noStrike">
                <a:solidFill>
                  <a:srgbClr val="000000"/>
                </a:solidFill>
                <a:latin typeface="Arial"/>
                <a:ea typeface="Arial"/>
                <a:cs typeface="Arial"/>
                <a:sym typeface="Arial"/>
              </a:rPr>
              <a:t>Adjustability:</a:t>
            </a:r>
            <a:r>
              <a:rPr b="0" i="0" lang="en-GB" sz="1000" u="none" cap="none" strike="noStrike">
                <a:solidFill>
                  <a:srgbClr val="FFFFFF"/>
                </a:solidFill>
                <a:latin typeface="Arial"/>
                <a:ea typeface="Arial"/>
                <a:cs typeface="Arial"/>
                <a:sym typeface="Arial"/>
              </a:rPr>
              <a:t> The ability of a product to be changed to accommodate the users specific characteristics.</a:t>
            </a:r>
            <a:endParaRPr b="0" i="0" sz="1000" u="none" cap="none" strike="noStrik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ph type="ctrTitle"/>
          </p:nvPr>
        </p:nvSpPr>
        <p:spPr>
          <a:xfrm>
            <a:off x="88950" y="458350"/>
            <a:ext cx="4026300" cy="3558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GB" sz="1200"/>
              <a:t>Physiological Factors: Physiological factor data.</a:t>
            </a:r>
            <a:endParaRPr sz="1200"/>
          </a:p>
        </p:txBody>
      </p:sp>
      <p:sp>
        <p:nvSpPr>
          <p:cNvPr id="263" name="Google Shape;263;p31"/>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1"/>
          <p:cNvSpPr txBox="1"/>
          <p:nvPr/>
        </p:nvSpPr>
        <p:spPr>
          <a:xfrm>
            <a:off x="0" y="737950"/>
            <a:ext cx="4368300" cy="127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rPr>
              <a:t>Physiological factors data </a:t>
            </a:r>
            <a:r>
              <a:rPr i="0" lang="en-GB" sz="1200" u="none" cap="none" strike="noStrike">
                <a:solidFill>
                  <a:srgbClr val="000000"/>
                </a:solidFill>
              </a:rPr>
              <a:t>is a very important tool available to designers and used in many ways to develop new products or improve existing designs. The data is generally collected to evaluate and optimise the user’s </a:t>
            </a:r>
            <a:r>
              <a:rPr b="1" i="0" lang="en-GB" sz="1200" u="none" cap="none" strike="noStrike">
                <a:solidFill>
                  <a:srgbClr val="000000"/>
                </a:solidFill>
              </a:rPr>
              <a:t>safety</a:t>
            </a:r>
            <a:r>
              <a:rPr i="0" lang="en-GB" sz="1200" u="none" cap="none" strike="noStrike">
                <a:solidFill>
                  <a:srgbClr val="000000"/>
                </a:solidFill>
              </a:rPr>
              <a:t>, </a:t>
            </a:r>
            <a:r>
              <a:rPr b="1" i="0" lang="en-GB" sz="1200" u="none" cap="none" strike="noStrike">
                <a:solidFill>
                  <a:srgbClr val="000000"/>
                </a:solidFill>
              </a:rPr>
              <a:t>health</a:t>
            </a:r>
            <a:r>
              <a:rPr i="0" lang="en-GB" sz="1200" u="none" cap="none" strike="noStrike">
                <a:solidFill>
                  <a:srgbClr val="000000"/>
                </a:solidFill>
              </a:rPr>
              <a:t>, </a:t>
            </a:r>
            <a:r>
              <a:rPr b="1" i="0" lang="en-GB" sz="1200" u="none" cap="none" strike="noStrike">
                <a:solidFill>
                  <a:srgbClr val="000000"/>
                </a:solidFill>
              </a:rPr>
              <a:t>comfort</a:t>
            </a:r>
            <a:r>
              <a:rPr i="0" lang="en-GB" sz="1200" u="none" cap="none" strike="noStrike">
                <a:solidFill>
                  <a:srgbClr val="000000"/>
                </a:solidFill>
              </a:rPr>
              <a:t>, and </a:t>
            </a:r>
            <a:r>
              <a:rPr b="1" i="0" lang="en-GB" sz="1200" u="none" cap="none" strike="noStrike">
                <a:solidFill>
                  <a:srgbClr val="000000"/>
                </a:solidFill>
              </a:rPr>
              <a:t>performance</a:t>
            </a:r>
            <a:r>
              <a:rPr i="0" lang="en-GB" sz="1200" u="none" cap="none" strike="noStrike">
                <a:solidFill>
                  <a:srgbClr val="000000"/>
                </a:solidFill>
              </a:rPr>
              <a:t> when using products or services. We will cover how and why this is achieved in this section.</a:t>
            </a:r>
            <a:endParaRPr i="0" sz="1200" u="none" cap="none" strike="noStrike">
              <a:solidFill>
                <a:srgbClr val="000000"/>
              </a:solidFill>
            </a:endParaRPr>
          </a:p>
        </p:txBody>
      </p:sp>
      <p:sp>
        <p:nvSpPr>
          <p:cNvPr id="265" name="Google Shape;265;p31"/>
          <p:cNvSpPr txBox="1"/>
          <p:nvPr/>
        </p:nvSpPr>
        <p:spPr>
          <a:xfrm>
            <a:off x="64600" y="2122356"/>
            <a:ext cx="2599200" cy="1128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When creating new products or </a:t>
            </a:r>
            <a:r>
              <a:rPr b="1" lang="en-GB" sz="1200"/>
              <a:t>redesigning</a:t>
            </a:r>
            <a:r>
              <a:rPr lang="en-GB" sz="1200"/>
              <a:t> </a:t>
            </a:r>
            <a:r>
              <a:rPr b="0" i="0" lang="en-GB" sz="1200" u="none" cap="none" strike="noStrike">
                <a:solidFill>
                  <a:srgbClr val="000000"/>
                </a:solidFill>
                <a:latin typeface="Arial"/>
                <a:ea typeface="Arial"/>
                <a:cs typeface="Arial"/>
                <a:sym typeface="Arial"/>
              </a:rPr>
              <a:t>existing designs, designers should always be aware of the “little everyday problems” consumers encounter. </a:t>
            </a:r>
            <a:endParaRPr b="0" i="0" sz="1200" u="none" cap="none" strike="noStrike">
              <a:solidFill>
                <a:srgbClr val="0000FF"/>
              </a:solidFill>
              <a:latin typeface="Arial"/>
              <a:ea typeface="Arial"/>
              <a:cs typeface="Arial"/>
              <a:sym typeface="Arial"/>
            </a:endParaRPr>
          </a:p>
        </p:txBody>
      </p:sp>
      <p:sp>
        <p:nvSpPr>
          <p:cNvPr id="266" name="Google Shape;266;p31"/>
          <p:cNvSpPr txBox="1"/>
          <p:nvPr/>
        </p:nvSpPr>
        <p:spPr>
          <a:xfrm>
            <a:off x="108300" y="3303575"/>
            <a:ext cx="4215000" cy="1791000"/>
          </a:xfrm>
          <a:prstGeom prst="rect">
            <a:avLst/>
          </a:prstGeom>
          <a:solidFill>
            <a:srgbClr val="F794B2">
              <a:alpha val="17720"/>
            </a:srgbClr>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i="0" lang="en-GB" sz="1200" u="none" cap="none" strike="noStrike">
                <a:solidFill>
                  <a:srgbClr val="000000"/>
                </a:solidFill>
                <a:latin typeface="Lexend"/>
                <a:ea typeface="Lexend"/>
                <a:cs typeface="Lexend"/>
                <a:sym typeface="Lexend"/>
              </a:rPr>
              <a:t>Human factors and </a:t>
            </a:r>
            <a:r>
              <a:rPr b="1" i="0" lang="en-GB" sz="1200" u="none" cap="none" strike="noStrike">
                <a:solidFill>
                  <a:srgbClr val="000000"/>
                </a:solidFill>
                <a:latin typeface="Lexend"/>
                <a:ea typeface="Lexend"/>
                <a:cs typeface="Lexend"/>
                <a:sym typeface="Lexend"/>
              </a:rPr>
              <a:t>Ergonomics</a:t>
            </a:r>
            <a:r>
              <a:rPr i="0" lang="en-GB" sz="1200" u="none" cap="none" strike="noStrike">
                <a:solidFill>
                  <a:srgbClr val="000000"/>
                </a:solidFill>
                <a:latin typeface="Lexend"/>
                <a:ea typeface="Lexend"/>
                <a:cs typeface="Lexend"/>
                <a:sym typeface="Lexend"/>
              </a:rPr>
              <a:t> considers the activities carried out by humans and how this impacts on their quality of life, will help improve their safety, reduce fatigue and stress. While also trying to increase comfort levels and enhance satisfaction levels.</a:t>
            </a:r>
            <a:endParaRPr i="0" sz="1200" u="none" cap="none" strike="noStrike">
              <a:solidFill>
                <a:srgbClr val="000000"/>
              </a:solidFill>
              <a:latin typeface="Lexend"/>
              <a:ea typeface="Lexend"/>
              <a:cs typeface="Lexend"/>
              <a:sym typeface="Lexend"/>
            </a:endParaRPr>
          </a:p>
          <a:p>
            <a:pPr indent="0" lvl="0" marL="0" marR="0" rtl="0" algn="just">
              <a:lnSpc>
                <a:spcPct val="100000"/>
              </a:lnSpc>
              <a:spcBef>
                <a:spcPts val="0"/>
              </a:spcBef>
              <a:spcAft>
                <a:spcPts val="0"/>
              </a:spcAft>
              <a:buClr>
                <a:srgbClr val="000000"/>
              </a:buClr>
              <a:buSzPts val="600"/>
              <a:buFont typeface="Arial"/>
              <a:buNone/>
            </a:pPr>
            <a:r>
              <a:t/>
            </a:r>
            <a:endParaRPr i="0" sz="600" u="none" cap="none" strike="noStrike">
              <a:solidFill>
                <a:srgbClr val="000000"/>
              </a:solidFill>
              <a:latin typeface="Lexend"/>
              <a:ea typeface="Lexend"/>
              <a:cs typeface="Lexend"/>
              <a:sym typeface="Lexend"/>
            </a:endParaRPr>
          </a:p>
          <a:p>
            <a:pPr indent="0" lvl="0" marL="0" marR="0" rtl="0" algn="just">
              <a:lnSpc>
                <a:spcPct val="100000"/>
              </a:lnSpc>
              <a:spcBef>
                <a:spcPts val="0"/>
              </a:spcBef>
              <a:spcAft>
                <a:spcPts val="0"/>
              </a:spcAft>
              <a:buClr>
                <a:srgbClr val="000000"/>
              </a:buClr>
              <a:buSzPts val="1200"/>
              <a:buFont typeface="Arial"/>
              <a:buNone/>
            </a:pPr>
            <a:r>
              <a:rPr i="0" lang="en-GB" sz="1200" u="none" cap="none" strike="noStrike">
                <a:solidFill>
                  <a:srgbClr val="000000"/>
                </a:solidFill>
                <a:latin typeface="Lexend"/>
                <a:ea typeface="Lexend"/>
                <a:cs typeface="Lexend"/>
                <a:sym typeface="Lexend"/>
              </a:rPr>
              <a:t>By collecting </a:t>
            </a:r>
            <a:r>
              <a:rPr b="1" i="0" lang="en-GB" sz="1200" u="none" cap="none" strike="noStrike">
                <a:solidFill>
                  <a:srgbClr val="000000"/>
                </a:solidFill>
                <a:latin typeface="Lexend"/>
                <a:ea typeface="Lexend"/>
                <a:cs typeface="Lexend"/>
                <a:sym typeface="Lexend"/>
              </a:rPr>
              <a:t>Physiological factor data</a:t>
            </a:r>
            <a:r>
              <a:rPr i="0" lang="en-GB" sz="1200" u="none" cap="none" strike="noStrike">
                <a:solidFill>
                  <a:srgbClr val="000000"/>
                </a:solidFill>
                <a:latin typeface="Lexend"/>
                <a:ea typeface="Lexend"/>
                <a:cs typeface="Lexend"/>
                <a:sym typeface="Lexend"/>
              </a:rPr>
              <a:t> it gives a designer an opportunity to make things better and improve the human condition.</a:t>
            </a:r>
            <a:endParaRPr i="0" sz="1200" u="none" cap="none" strike="noStrike">
              <a:solidFill>
                <a:srgbClr val="000000"/>
              </a:solidFill>
              <a:latin typeface="Lexend"/>
              <a:ea typeface="Lexend"/>
              <a:cs typeface="Lexend"/>
              <a:sym typeface="Lexend"/>
            </a:endParaRPr>
          </a:p>
        </p:txBody>
      </p:sp>
      <p:cxnSp>
        <p:nvCxnSpPr>
          <p:cNvPr id="267" name="Google Shape;267;p31"/>
          <p:cNvCxnSpPr/>
          <p:nvPr/>
        </p:nvCxnSpPr>
        <p:spPr>
          <a:xfrm>
            <a:off x="4378175" y="486100"/>
            <a:ext cx="10800" cy="4630200"/>
          </a:xfrm>
          <a:prstGeom prst="straightConnector1">
            <a:avLst/>
          </a:prstGeom>
          <a:noFill/>
          <a:ln cap="flat" cmpd="sng" w="9525">
            <a:solidFill>
              <a:schemeClr val="dk2"/>
            </a:solidFill>
            <a:prstDash val="solid"/>
            <a:round/>
            <a:headEnd len="sm" w="sm" type="none"/>
            <a:tailEnd len="sm" w="sm" type="none"/>
          </a:ln>
        </p:spPr>
      </p:cxnSp>
      <p:sp>
        <p:nvSpPr>
          <p:cNvPr id="268" name="Google Shape;268;p31"/>
          <p:cNvSpPr txBox="1"/>
          <p:nvPr/>
        </p:nvSpPr>
        <p:spPr>
          <a:xfrm>
            <a:off x="4454550" y="518375"/>
            <a:ext cx="4600500" cy="127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Human Factors Design takes into consideration:</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Effectiveness</a:t>
            </a:r>
            <a:r>
              <a:rPr b="0" i="0" lang="en-GB" sz="1200" u="none" cap="none" strike="noStrike">
                <a:solidFill>
                  <a:srgbClr val="000000"/>
                </a:solidFill>
                <a:latin typeface="Arial"/>
                <a:ea typeface="Arial"/>
                <a:cs typeface="Arial"/>
                <a:sym typeface="Arial"/>
              </a:rPr>
              <a:t> - completeness and accuracy.</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Efficiency</a:t>
            </a:r>
            <a:r>
              <a:rPr b="0" i="0" lang="en-GB" sz="1200" u="none" cap="none" strike="noStrike">
                <a:solidFill>
                  <a:srgbClr val="000000"/>
                </a:solidFill>
                <a:latin typeface="Arial"/>
                <a:ea typeface="Arial"/>
                <a:cs typeface="Arial"/>
                <a:sym typeface="Arial"/>
              </a:rPr>
              <a:t> - speed and effort.</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Engagement </a:t>
            </a:r>
            <a:r>
              <a:rPr b="0" i="0" lang="en-GB" sz="1200" u="none" cap="none" strike="noStrike">
                <a:solidFill>
                  <a:srgbClr val="000000"/>
                </a:solidFill>
                <a:latin typeface="Arial"/>
                <a:ea typeface="Arial"/>
                <a:cs typeface="Arial"/>
                <a:sym typeface="Arial"/>
              </a:rPr>
              <a:t>- pleasantness, satisfaction.</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Error tolerance</a:t>
            </a:r>
            <a:r>
              <a:rPr b="0" i="0" lang="en-GB" sz="1200" u="none" cap="none" strike="noStrike">
                <a:solidFill>
                  <a:srgbClr val="000000"/>
                </a:solidFill>
                <a:latin typeface="Arial"/>
                <a:ea typeface="Arial"/>
                <a:cs typeface="Arial"/>
                <a:sym typeface="Arial"/>
              </a:rPr>
              <a:t> - error prevention and recovery.</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1" i="0" lang="en-GB" sz="1200" u="none" cap="none" strike="noStrike">
                <a:solidFill>
                  <a:srgbClr val="000000"/>
                </a:solidFill>
                <a:latin typeface="Arial"/>
                <a:ea typeface="Arial"/>
                <a:cs typeface="Arial"/>
                <a:sym typeface="Arial"/>
              </a:rPr>
              <a:t>Learnability</a:t>
            </a:r>
            <a:r>
              <a:rPr b="0" i="0" lang="en-GB" sz="1200" u="none" cap="none" strike="noStrike">
                <a:solidFill>
                  <a:srgbClr val="000000"/>
                </a:solidFill>
                <a:latin typeface="Arial"/>
                <a:ea typeface="Arial"/>
                <a:cs typeface="Arial"/>
                <a:sym typeface="Arial"/>
              </a:rPr>
              <a:t> - predictability and consistency.</a:t>
            </a:r>
            <a:endParaRPr b="0" i="0" sz="1200" u="none" cap="none" strike="noStrike">
              <a:solidFill>
                <a:srgbClr val="000000"/>
              </a:solidFill>
              <a:latin typeface="Arial"/>
              <a:ea typeface="Arial"/>
              <a:cs typeface="Arial"/>
              <a:sym typeface="Arial"/>
            </a:endParaRPr>
          </a:p>
        </p:txBody>
      </p:sp>
      <p:sp>
        <p:nvSpPr>
          <p:cNvPr id="269" name="Google Shape;269;p31"/>
          <p:cNvSpPr txBox="1"/>
          <p:nvPr/>
        </p:nvSpPr>
        <p:spPr>
          <a:xfrm>
            <a:off x="4443725" y="1719425"/>
            <a:ext cx="4600500" cy="119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Here are a few examples of how Physiological data is collected: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Performance tests.</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User trials and observations.</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GB" sz="1200" u="none" cap="none" strike="noStrike">
                <a:solidFill>
                  <a:srgbClr val="000000"/>
                </a:solidFill>
                <a:latin typeface="Arial"/>
                <a:ea typeface="Arial"/>
                <a:cs typeface="Arial"/>
                <a:sym typeface="Arial"/>
              </a:rPr>
              <a:t>The collection of anthropometric data.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These have been covered in detail previously.</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70" name="Google Shape;270;p31"/>
          <p:cNvSpPr txBox="1"/>
          <p:nvPr/>
        </p:nvSpPr>
        <p:spPr>
          <a:xfrm>
            <a:off x="4443725" y="2910725"/>
            <a:ext cx="4600500" cy="647100"/>
          </a:xfrm>
          <a:prstGeom prst="rect">
            <a:avLst/>
          </a:prstGeom>
          <a:solidFill>
            <a:srgbClr val="EAD1DC"/>
          </a:solid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When collecting this data, the following physical limitations of the subjects need to be taken into consideration, and how they may impact on the data collected.</a:t>
            </a:r>
            <a:endParaRPr b="0" i="0" sz="1200" u="none" cap="none" strike="noStrike">
              <a:solidFill>
                <a:srgbClr val="000000"/>
              </a:solidFill>
              <a:latin typeface="Arial"/>
              <a:ea typeface="Arial"/>
              <a:cs typeface="Arial"/>
              <a:sym typeface="Arial"/>
            </a:endParaRPr>
          </a:p>
        </p:txBody>
      </p:sp>
      <p:sp>
        <p:nvSpPr>
          <p:cNvPr id="271" name="Google Shape;271;p31"/>
          <p:cNvSpPr txBox="1"/>
          <p:nvPr/>
        </p:nvSpPr>
        <p:spPr>
          <a:xfrm>
            <a:off x="4443725" y="3557825"/>
            <a:ext cx="2409600" cy="1500600"/>
          </a:xfrm>
          <a:prstGeom prst="rect">
            <a:avLst/>
          </a:prstGeom>
          <a:solidFill>
            <a:srgbClr val="D5A6BD"/>
          </a:solidFill>
          <a:ln>
            <a:noFill/>
          </a:ln>
        </p:spPr>
        <p:txBody>
          <a:bodyPr anchorCtr="0" anchor="t" bIns="91425" lIns="91425" spcFirstLastPara="1" rIns="91425" wrap="square" tIns="91425">
            <a:noAutofit/>
          </a:bodyPr>
          <a:lstStyle/>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How the body moves.</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Hand/eye coordination.</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Strength. </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Size.</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Stamina - muscular strength or endurance in different positions. </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Visual sensitivity - to light.</a:t>
            </a:r>
            <a:endParaRPr b="0" i="0" sz="1100" u="none" cap="none" strike="noStrike">
              <a:solidFill>
                <a:srgbClr val="000000"/>
              </a:solidFill>
              <a:latin typeface="Arial"/>
              <a:ea typeface="Arial"/>
              <a:cs typeface="Arial"/>
              <a:sym typeface="Arial"/>
            </a:endParaRPr>
          </a:p>
        </p:txBody>
      </p:sp>
      <p:sp>
        <p:nvSpPr>
          <p:cNvPr id="272" name="Google Shape;272;p31"/>
          <p:cNvSpPr txBox="1"/>
          <p:nvPr/>
        </p:nvSpPr>
        <p:spPr>
          <a:xfrm>
            <a:off x="6776575" y="3557950"/>
            <a:ext cx="2267700" cy="1500600"/>
          </a:xfrm>
          <a:prstGeom prst="rect">
            <a:avLst/>
          </a:prstGeom>
          <a:solidFill>
            <a:srgbClr val="C27BA0"/>
          </a:solidFill>
          <a:ln>
            <a:noFill/>
          </a:ln>
        </p:spPr>
        <p:txBody>
          <a:bodyPr anchorCtr="0" anchor="t" bIns="91425" lIns="91425" spcFirstLastPara="1" rIns="91425" wrap="square" tIns="91425">
            <a:noAutofit/>
          </a:bodyPr>
          <a:lstStyle/>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Tolerance to extremes of temperature.</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Frequency and range of human hearing.</a:t>
            </a:r>
            <a:endParaRPr b="0" i="0" sz="1100" u="none" cap="none" strike="noStrike">
              <a:solidFill>
                <a:srgbClr val="000000"/>
              </a:solidFill>
              <a:latin typeface="Arial"/>
              <a:ea typeface="Arial"/>
              <a:cs typeface="Arial"/>
              <a:sym typeface="Arial"/>
            </a:endParaRPr>
          </a:p>
          <a:p>
            <a:pPr indent="-249850" lvl="0" marL="269999" marR="0" rtl="0" algn="l">
              <a:lnSpc>
                <a:spcPct val="100000"/>
              </a:lnSpc>
              <a:spcBef>
                <a:spcPts val="0"/>
              </a:spcBef>
              <a:spcAft>
                <a:spcPts val="0"/>
              </a:spcAft>
              <a:buClr>
                <a:srgbClr val="000000"/>
              </a:buClr>
              <a:buSzPts val="1100"/>
              <a:buFont typeface="Arial"/>
              <a:buChar char="●"/>
            </a:pPr>
            <a:r>
              <a:rPr b="0" i="0" lang="en-GB" sz="1100" u="none" cap="none" strike="noStrike">
                <a:solidFill>
                  <a:srgbClr val="000000"/>
                </a:solidFill>
                <a:latin typeface="Arial"/>
                <a:ea typeface="Arial"/>
                <a:cs typeface="Arial"/>
                <a:sym typeface="Arial"/>
              </a:rPr>
              <a:t>Body tolerances - how much the body can withstand when using or working with a product.</a:t>
            </a:r>
            <a:endParaRPr b="0" i="0" sz="1100" u="none" cap="none" strike="noStrike">
              <a:solidFill>
                <a:srgbClr val="000000"/>
              </a:solidFill>
              <a:latin typeface="Arial"/>
              <a:ea typeface="Arial"/>
              <a:cs typeface="Arial"/>
              <a:sym typeface="Arial"/>
            </a:endParaRPr>
          </a:p>
        </p:txBody>
      </p:sp>
      <p:pic>
        <p:nvPicPr>
          <p:cNvPr id="273" name="Google Shape;273;p31" title="The first secret of great design. Finding design problems.mp4">
            <a:hlinkClick r:id="rId3"/>
          </p:cNvPr>
          <p:cNvPicPr preferRelativeResize="0"/>
          <p:nvPr/>
        </p:nvPicPr>
        <p:blipFill>
          <a:blip r:embed="rId4">
            <a:alphaModFix/>
          </a:blip>
          <a:stretch>
            <a:fillRect/>
          </a:stretch>
        </p:blipFill>
        <p:spPr>
          <a:xfrm>
            <a:off x="2663800" y="2213657"/>
            <a:ext cx="1612899" cy="907250"/>
          </a:xfrm>
          <a:prstGeom prst="rect">
            <a:avLst/>
          </a:prstGeom>
          <a:noFill/>
          <a:ln>
            <a:noFill/>
          </a:ln>
        </p:spPr>
      </p:pic>
      <p:sp>
        <p:nvSpPr>
          <p:cNvPr id="274" name="Google Shape;274;p31"/>
          <p:cNvSpPr txBox="1"/>
          <p:nvPr/>
        </p:nvSpPr>
        <p:spPr>
          <a:xfrm>
            <a:off x="113550" y="78650"/>
            <a:ext cx="8916900" cy="3075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1.1.6 Physiology is the study of systems and biomechanics within the human body, their responses, limitations and capabilities.</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2"/>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2"/>
          <p:cNvSpPr txBox="1"/>
          <p:nvPr/>
        </p:nvSpPr>
        <p:spPr>
          <a:xfrm>
            <a:off x="50700" y="444075"/>
            <a:ext cx="4474500" cy="3741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Comfort</a:t>
            </a:r>
            <a:r>
              <a:rPr b="0" i="0" lang="en-GB" sz="1200" u="none" cap="none" strike="noStrike">
                <a:solidFill>
                  <a:srgbClr val="000000"/>
                </a:solidFill>
                <a:latin typeface="Arial"/>
                <a:ea typeface="Arial"/>
                <a:cs typeface="Arial"/>
                <a:sym typeface="Arial"/>
              </a:rPr>
              <a:t>: This comes in a couple of forms that are outlined below. Comfort of the user is a primary concern for designers. It determines how effective a design is and how well a human can intact with a product - </a:t>
            </a:r>
            <a:r>
              <a:rPr b="0" i="0" lang="en-GB" sz="1200" u="none" cap="none" strike="noStrike">
                <a:solidFill>
                  <a:srgbClr val="0000FF"/>
                </a:solidFill>
                <a:latin typeface="Arial"/>
                <a:ea typeface="Arial"/>
                <a:cs typeface="Arial"/>
                <a:sym typeface="Arial"/>
              </a:rPr>
              <a:t>what would happen if this brokedown?</a:t>
            </a:r>
            <a:endParaRPr b="0" i="0" sz="12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Physical comfort</a:t>
            </a:r>
            <a:r>
              <a:rPr b="0" i="0" lang="en-GB" sz="1200" u="none" cap="none" strike="noStrike">
                <a:solidFill>
                  <a:srgbClr val="000000"/>
                </a:solidFill>
                <a:latin typeface="Arial"/>
                <a:ea typeface="Arial"/>
                <a:cs typeface="Arial"/>
                <a:sym typeface="Arial"/>
              </a:rPr>
              <a:t>: Designers need find innovative ways to increase the utility and usability of their products. Making a product more intuitive and comfortable to use will ensure its success in the marketplace, therefore increase its success and profitability. </a:t>
            </a:r>
            <a:r>
              <a:rPr b="0" i="0" lang="en-GB" sz="1200" u="none" cap="none" strike="noStrike">
                <a:solidFill>
                  <a:srgbClr val="0000FF"/>
                </a:solidFill>
                <a:latin typeface="Arial"/>
                <a:ea typeface="Arial"/>
                <a:cs typeface="Arial"/>
                <a:sym typeface="Arial"/>
              </a:rPr>
              <a:t>Can you think about any product that is uncomfortable to use?</a:t>
            </a:r>
            <a:endParaRPr b="0" i="0" sz="12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Psychological comfort:</a:t>
            </a:r>
            <a:r>
              <a:rPr b="0" i="0" lang="en-GB" sz="1200" u="none" cap="none" strike="noStrike">
                <a:solidFill>
                  <a:srgbClr val="000000"/>
                </a:solidFill>
                <a:latin typeface="Arial"/>
                <a:ea typeface="Arial"/>
                <a:cs typeface="Arial"/>
                <a:sym typeface="Arial"/>
              </a:rPr>
              <a:t> comes in the form of feedback from the product and it can influence our desire and comfort to use that product. A quality product should feel as if it is made out of quality materials. The feedback your brain gets from using the product: touch, feel, texture, materials, build quality etc will all impact on our </a:t>
            </a:r>
            <a:r>
              <a:rPr b="1" i="0" lang="en-GB" sz="1200" u="none" cap="none" strike="noStrike">
                <a:solidFill>
                  <a:srgbClr val="000000"/>
                </a:solidFill>
                <a:latin typeface="Arial"/>
                <a:ea typeface="Arial"/>
                <a:cs typeface="Arial"/>
                <a:sym typeface="Arial"/>
              </a:rPr>
              <a:t>psychological comfort</a:t>
            </a:r>
            <a:r>
              <a:rPr b="0" i="0" lang="en-GB" sz="1200" u="none" cap="none" strike="noStrike">
                <a:solidFill>
                  <a:srgbClr val="000000"/>
                </a:solidFill>
                <a:latin typeface="Arial"/>
                <a:ea typeface="Arial"/>
                <a:cs typeface="Arial"/>
                <a:sym typeface="Arial"/>
              </a:rPr>
              <a:t> - this will then affect our future or prolonged relationship with that product. </a:t>
            </a:r>
            <a:r>
              <a:rPr b="0" i="0" lang="en-GB" sz="1200" u="none" cap="none" strike="noStrike">
                <a:solidFill>
                  <a:srgbClr val="0000FF"/>
                </a:solidFill>
                <a:latin typeface="Arial"/>
                <a:ea typeface="Arial"/>
                <a:cs typeface="Arial"/>
                <a:sym typeface="Arial"/>
              </a:rPr>
              <a:t>Can you think of anything that would be an example of this topic?</a:t>
            </a:r>
            <a:endParaRPr b="0" i="0" sz="1200" u="none" cap="none" strike="noStrike">
              <a:solidFill>
                <a:srgbClr val="0000FF"/>
              </a:solidFill>
              <a:latin typeface="Arial"/>
              <a:ea typeface="Arial"/>
              <a:cs typeface="Arial"/>
              <a:sym typeface="Arial"/>
            </a:endParaRPr>
          </a:p>
        </p:txBody>
      </p:sp>
      <p:sp>
        <p:nvSpPr>
          <p:cNvPr id="281" name="Google Shape;281;p32"/>
          <p:cNvSpPr txBox="1"/>
          <p:nvPr/>
        </p:nvSpPr>
        <p:spPr>
          <a:xfrm>
            <a:off x="119400" y="4558175"/>
            <a:ext cx="4308900" cy="470700"/>
          </a:xfrm>
          <a:prstGeom prst="rect">
            <a:avLst/>
          </a:prstGeom>
          <a:solidFill>
            <a:srgbClr val="D5A6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Arial"/>
                <a:ea typeface="Arial"/>
                <a:cs typeface="Arial"/>
                <a:sym typeface="Arial"/>
              </a:rPr>
              <a:t>Comfort</a:t>
            </a:r>
            <a:r>
              <a:rPr b="0" i="0" lang="en-GB" sz="1200" u="none" cap="none" strike="noStrike">
                <a:solidFill>
                  <a:srgbClr val="FFFFFF"/>
                </a:solidFill>
                <a:latin typeface="Arial"/>
                <a:ea typeface="Arial"/>
                <a:cs typeface="Arial"/>
                <a:sym typeface="Arial"/>
              </a:rPr>
              <a:t> is a person’s sense physical or psychological ease when using a product.</a:t>
            </a:r>
            <a:endParaRPr b="0" i="0" sz="1200" u="none" cap="none" strike="noStrike">
              <a:solidFill>
                <a:srgbClr val="FFFFFF"/>
              </a:solidFill>
              <a:latin typeface="Arial"/>
              <a:ea typeface="Arial"/>
              <a:cs typeface="Arial"/>
              <a:sym typeface="Arial"/>
            </a:endParaRPr>
          </a:p>
        </p:txBody>
      </p:sp>
      <p:cxnSp>
        <p:nvCxnSpPr>
          <p:cNvPr id="282" name="Google Shape;282;p32"/>
          <p:cNvCxnSpPr/>
          <p:nvPr/>
        </p:nvCxnSpPr>
        <p:spPr>
          <a:xfrm>
            <a:off x="4517475" y="466250"/>
            <a:ext cx="11100" cy="4617000"/>
          </a:xfrm>
          <a:prstGeom prst="straightConnector1">
            <a:avLst/>
          </a:prstGeom>
          <a:noFill/>
          <a:ln cap="flat" cmpd="sng" w="9525">
            <a:solidFill>
              <a:schemeClr val="dk2"/>
            </a:solidFill>
            <a:prstDash val="solid"/>
            <a:round/>
            <a:headEnd len="sm" w="sm" type="none"/>
            <a:tailEnd len="sm" w="sm" type="none"/>
          </a:ln>
        </p:spPr>
      </p:cxnSp>
      <p:sp>
        <p:nvSpPr>
          <p:cNvPr id="283" name="Google Shape;283;p32"/>
          <p:cNvSpPr txBox="1"/>
          <p:nvPr/>
        </p:nvSpPr>
        <p:spPr>
          <a:xfrm>
            <a:off x="4617750" y="4557900"/>
            <a:ext cx="4421100" cy="470700"/>
          </a:xfrm>
          <a:prstGeom prst="rect">
            <a:avLst/>
          </a:prstGeom>
          <a:solidFill>
            <a:srgbClr val="D5A6B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Arial"/>
                <a:ea typeface="Arial"/>
                <a:cs typeface="Arial"/>
                <a:sym typeface="Arial"/>
              </a:rPr>
              <a:t>Fatigue </a:t>
            </a:r>
            <a:r>
              <a:rPr b="0" i="0" lang="en-GB" sz="1200" u="none" cap="none" strike="noStrike">
                <a:solidFill>
                  <a:srgbClr val="FFFFFF"/>
                </a:solidFill>
                <a:latin typeface="Arial"/>
                <a:ea typeface="Arial"/>
                <a:cs typeface="Arial"/>
                <a:sym typeface="Arial"/>
              </a:rPr>
              <a:t>is a person’s sense of physical or psychological tiredness.</a:t>
            </a:r>
            <a:endParaRPr b="0" i="0" sz="1200" u="none" cap="none" strike="noStrike">
              <a:solidFill>
                <a:srgbClr val="FFFFFF"/>
              </a:solidFill>
              <a:latin typeface="Arial"/>
              <a:ea typeface="Arial"/>
              <a:cs typeface="Arial"/>
              <a:sym typeface="Arial"/>
            </a:endParaRPr>
          </a:p>
        </p:txBody>
      </p:sp>
      <p:sp>
        <p:nvSpPr>
          <p:cNvPr id="284" name="Google Shape;284;p32"/>
          <p:cNvSpPr txBox="1"/>
          <p:nvPr/>
        </p:nvSpPr>
        <p:spPr>
          <a:xfrm>
            <a:off x="4572000" y="1574525"/>
            <a:ext cx="675600" cy="209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Arial"/>
                <a:ea typeface="Arial"/>
                <a:cs typeface="Arial"/>
                <a:sym typeface="Arial"/>
              </a:rPr>
              <a:t>Video 1</a:t>
            </a:r>
            <a:endParaRPr b="0" i="0" sz="800" u="none" cap="none" strike="noStrike">
              <a:solidFill>
                <a:srgbClr val="000000"/>
              </a:solidFill>
              <a:latin typeface="Arial"/>
              <a:ea typeface="Arial"/>
              <a:cs typeface="Arial"/>
              <a:sym typeface="Arial"/>
            </a:endParaRPr>
          </a:p>
        </p:txBody>
      </p:sp>
      <p:sp>
        <p:nvSpPr>
          <p:cNvPr id="285" name="Google Shape;285;p32"/>
          <p:cNvSpPr txBox="1"/>
          <p:nvPr/>
        </p:nvSpPr>
        <p:spPr>
          <a:xfrm>
            <a:off x="7605725" y="1574525"/>
            <a:ext cx="675600" cy="209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GB" sz="800" u="none" cap="none" strike="noStrike">
                <a:solidFill>
                  <a:srgbClr val="000000"/>
                </a:solidFill>
                <a:latin typeface="Arial"/>
                <a:ea typeface="Arial"/>
                <a:cs typeface="Arial"/>
                <a:sym typeface="Arial"/>
              </a:rPr>
              <a:t>Video 2</a:t>
            </a:r>
            <a:endParaRPr b="0" i="0" sz="800" u="none" cap="none" strike="noStrike">
              <a:solidFill>
                <a:srgbClr val="000000"/>
              </a:solidFill>
              <a:latin typeface="Arial"/>
              <a:ea typeface="Arial"/>
              <a:cs typeface="Arial"/>
              <a:sym typeface="Arial"/>
            </a:endParaRPr>
          </a:p>
        </p:txBody>
      </p:sp>
      <p:sp>
        <p:nvSpPr>
          <p:cNvPr id="286" name="Google Shape;286;p32"/>
          <p:cNvSpPr txBox="1"/>
          <p:nvPr/>
        </p:nvSpPr>
        <p:spPr>
          <a:xfrm>
            <a:off x="4539200" y="1672850"/>
            <a:ext cx="4474500" cy="2624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Fatigue</a:t>
            </a:r>
            <a:r>
              <a:rPr b="0" i="0" lang="en-GB" sz="1200" u="none" cap="none" strike="noStrike">
                <a:solidFill>
                  <a:srgbClr val="000000"/>
                </a:solidFill>
                <a:latin typeface="Arial"/>
                <a:ea typeface="Arial"/>
                <a:cs typeface="Arial"/>
                <a:sym typeface="Arial"/>
              </a:rPr>
              <a:t> is a person’s sense of physical or psychological tiredness that informs affects decisions and can impact negatively on performance.</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Fatigue</a:t>
            </a:r>
            <a:r>
              <a:rPr b="0" i="0" lang="en-GB" sz="1200" u="none" cap="none" strike="noStrike">
                <a:solidFill>
                  <a:srgbClr val="000000"/>
                </a:solidFill>
                <a:latin typeface="Arial"/>
                <a:ea typeface="Arial"/>
                <a:cs typeface="Arial"/>
                <a:sym typeface="Arial"/>
              </a:rPr>
              <a:t> is the consequence of some discomfort experienced by the user and can lead to a loss of productivity, product satisfaction, and result in the perception that the product has been poorly designed.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When a designer takes into consideration and accounts for the physiological factor of comfort, then fatigue and its negative associations will be reduced or removed completely.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Video 1</a:t>
            </a:r>
            <a:r>
              <a:rPr b="0" i="0" lang="en-GB" sz="1200" u="none" cap="none" strike="noStrike">
                <a:solidFill>
                  <a:srgbClr val="000000"/>
                </a:solidFill>
                <a:latin typeface="Arial"/>
                <a:ea typeface="Arial"/>
                <a:cs typeface="Arial"/>
                <a:sym typeface="Arial"/>
              </a:rPr>
              <a:t>: </a:t>
            </a:r>
            <a:r>
              <a:rPr b="0" i="0" lang="en-GB" sz="1100" u="none" cap="none" strike="noStrike">
                <a:solidFill>
                  <a:srgbClr val="000000"/>
                </a:solidFill>
                <a:latin typeface="Arial"/>
                <a:ea typeface="Arial"/>
                <a:cs typeface="Arial"/>
                <a:sym typeface="Arial"/>
              </a:rPr>
              <a:t>Shows what is taken into consideration for user comfort.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Video 2</a:t>
            </a:r>
            <a:r>
              <a:rPr b="0" i="0" lang="en-GB" sz="1200" u="none" cap="none" strike="noStrike">
                <a:solidFill>
                  <a:srgbClr val="000000"/>
                </a:solidFill>
                <a:latin typeface="Arial"/>
                <a:ea typeface="Arial"/>
                <a:cs typeface="Arial"/>
                <a:sym typeface="Arial"/>
              </a:rPr>
              <a:t>: </a:t>
            </a:r>
            <a:r>
              <a:rPr b="0" i="0" lang="en-GB" sz="1100" u="none" cap="none" strike="noStrike">
                <a:solidFill>
                  <a:srgbClr val="000000"/>
                </a:solidFill>
                <a:latin typeface="Arial"/>
                <a:ea typeface="Arial"/>
                <a:cs typeface="Arial"/>
                <a:sym typeface="Arial"/>
              </a:rPr>
              <a:t>Shows how to reduce factors that can cause fatigue.</a:t>
            </a:r>
            <a:endParaRPr b="0" i="0" sz="1100" u="none" cap="none" strike="noStrike">
              <a:solidFill>
                <a:srgbClr val="000000"/>
              </a:solidFill>
              <a:latin typeface="Arial"/>
              <a:ea typeface="Arial"/>
              <a:cs typeface="Arial"/>
              <a:sym typeface="Arial"/>
            </a:endParaRPr>
          </a:p>
        </p:txBody>
      </p:sp>
      <p:sp>
        <p:nvSpPr>
          <p:cNvPr id="287" name="Google Shape;287;p32"/>
          <p:cNvSpPr txBox="1"/>
          <p:nvPr/>
        </p:nvSpPr>
        <p:spPr>
          <a:xfrm>
            <a:off x="119325" y="4143750"/>
            <a:ext cx="4308900" cy="383100"/>
          </a:xfrm>
          <a:prstGeom prst="rect">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000"/>
              <a:buFont typeface="Arial"/>
              <a:buNone/>
            </a:pPr>
            <a:r>
              <a:rPr b="0" i="0" lang="en-GB" sz="1000" u="none" cap="none" strike="noStrike">
                <a:solidFill>
                  <a:srgbClr val="000000"/>
                </a:solidFill>
                <a:latin typeface="Arial"/>
                <a:ea typeface="Arial"/>
                <a:cs typeface="Arial"/>
                <a:sym typeface="Arial"/>
              </a:rPr>
              <a:t>The aim of designing for </a:t>
            </a:r>
            <a:r>
              <a:rPr b="1" i="0" lang="en-GB" sz="1000" u="none" cap="none" strike="noStrike">
                <a:solidFill>
                  <a:srgbClr val="000000"/>
                </a:solidFill>
                <a:latin typeface="Arial"/>
                <a:ea typeface="Arial"/>
                <a:cs typeface="Arial"/>
                <a:sym typeface="Arial"/>
              </a:rPr>
              <a:t>physical</a:t>
            </a:r>
            <a:r>
              <a:rPr b="0" i="0" lang="en-GB" sz="1000" u="none" cap="none" strike="noStrike">
                <a:solidFill>
                  <a:srgbClr val="000000"/>
                </a:solidFill>
                <a:latin typeface="Arial"/>
                <a:ea typeface="Arial"/>
                <a:cs typeface="Arial"/>
                <a:sym typeface="Arial"/>
              </a:rPr>
              <a:t> and </a:t>
            </a:r>
            <a:r>
              <a:rPr b="1" i="0" lang="en-GB" sz="1000" u="none" cap="none" strike="noStrike">
                <a:solidFill>
                  <a:srgbClr val="000000"/>
                </a:solidFill>
                <a:latin typeface="Arial"/>
                <a:ea typeface="Arial"/>
                <a:cs typeface="Arial"/>
                <a:sym typeface="Arial"/>
              </a:rPr>
              <a:t>psychological comfort</a:t>
            </a:r>
            <a:r>
              <a:rPr b="0" i="0" lang="en-GB" sz="1000" u="none" cap="none" strike="noStrike">
                <a:solidFill>
                  <a:srgbClr val="000000"/>
                </a:solidFill>
                <a:latin typeface="Arial"/>
                <a:ea typeface="Arial"/>
                <a:cs typeface="Arial"/>
                <a:sym typeface="Arial"/>
              </a:rPr>
              <a:t> is to prevent or reduce </a:t>
            </a:r>
            <a:r>
              <a:rPr b="1" i="0" lang="en-GB" sz="1000" u="none" cap="none" strike="noStrike">
                <a:solidFill>
                  <a:srgbClr val="000000"/>
                </a:solidFill>
                <a:latin typeface="Arial"/>
                <a:ea typeface="Arial"/>
                <a:cs typeface="Arial"/>
                <a:sym typeface="Arial"/>
              </a:rPr>
              <a:t>fatigue</a:t>
            </a:r>
            <a:r>
              <a:rPr b="0" i="0" lang="en-GB"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pic>
        <p:nvPicPr>
          <p:cNvPr id="288" name="Google Shape;288;p32" title="Ergonomic Tools To Relieve Stress.mp4">
            <a:hlinkClick r:id="rId3"/>
          </p:cNvPr>
          <p:cNvPicPr preferRelativeResize="0"/>
          <p:nvPr/>
        </p:nvPicPr>
        <p:blipFill>
          <a:blip r:embed="rId4">
            <a:alphaModFix/>
          </a:blip>
          <a:stretch>
            <a:fillRect/>
          </a:stretch>
        </p:blipFill>
        <p:spPr>
          <a:xfrm>
            <a:off x="4726700" y="614275"/>
            <a:ext cx="1579350" cy="888381"/>
          </a:xfrm>
          <a:prstGeom prst="rect">
            <a:avLst/>
          </a:prstGeom>
          <a:noFill/>
          <a:ln>
            <a:noFill/>
          </a:ln>
        </p:spPr>
      </p:pic>
      <p:pic>
        <p:nvPicPr>
          <p:cNvPr id="289" name="Google Shape;289;p32" title="Screenshot 2025-09-02 at 11.49.01 AM.png"/>
          <p:cNvPicPr preferRelativeResize="0"/>
          <p:nvPr/>
        </p:nvPicPr>
        <p:blipFill>
          <a:blip r:embed="rId5">
            <a:alphaModFix/>
          </a:blip>
          <a:stretch>
            <a:fillRect/>
          </a:stretch>
        </p:blipFill>
        <p:spPr>
          <a:xfrm>
            <a:off x="6430486" y="601713"/>
            <a:ext cx="1278900" cy="913500"/>
          </a:xfrm>
          <a:prstGeom prst="rect">
            <a:avLst/>
          </a:prstGeom>
          <a:noFill/>
          <a:ln>
            <a:noFill/>
          </a:ln>
        </p:spPr>
      </p:pic>
      <p:pic>
        <p:nvPicPr>
          <p:cNvPr id="290" name="Google Shape;290;p32" title="Ergonomics- The Three Rules of Adjustability.mp4">
            <a:hlinkClick r:id="rId6"/>
          </p:cNvPr>
          <p:cNvPicPr preferRelativeResize="0"/>
          <p:nvPr/>
        </p:nvPicPr>
        <p:blipFill>
          <a:blip r:embed="rId7">
            <a:alphaModFix/>
          </a:blip>
          <a:stretch>
            <a:fillRect/>
          </a:stretch>
        </p:blipFill>
        <p:spPr>
          <a:xfrm>
            <a:off x="7771311" y="649605"/>
            <a:ext cx="1278899" cy="719383"/>
          </a:xfrm>
          <a:prstGeom prst="rect">
            <a:avLst/>
          </a:prstGeom>
          <a:noFill/>
          <a:ln>
            <a:noFill/>
          </a:ln>
        </p:spPr>
      </p:pic>
      <p:sp>
        <p:nvSpPr>
          <p:cNvPr id="291" name="Google Shape;291;p32"/>
          <p:cNvSpPr txBox="1"/>
          <p:nvPr/>
        </p:nvSpPr>
        <p:spPr>
          <a:xfrm>
            <a:off x="113550" y="78650"/>
            <a:ext cx="8916900" cy="3075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1.1.6 Physiology is the study of systems and biomechanics within the human body, their responses, limitations and capabilities.</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3"/>
          <p:cNvSpPr txBox="1"/>
          <p:nvPr/>
        </p:nvSpPr>
        <p:spPr>
          <a:xfrm>
            <a:off x="101250" y="4638900"/>
            <a:ext cx="8941500" cy="5046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Biomechanics relates to the mechanism of living things (how they move). Biomechanics includes research into the operation of muscles, joints and tendons, force, repetition, duration and posture. </a:t>
            </a:r>
            <a:endParaRPr b="1" sz="1100">
              <a:solidFill>
                <a:schemeClr val="dk1"/>
              </a:solidFill>
            </a:endParaRPr>
          </a:p>
        </p:txBody>
      </p:sp>
      <p:sp>
        <p:nvSpPr>
          <p:cNvPr id="298" name="Google Shape;298;p33"/>
          <p:cNvSpPr txBox="1"/>
          <p:nvPr/>
        </p:nvSpPr>
        <p:spPr>
          <a:xfrm>
            <a:off x="79250" y="1488575"/>
            <a:ext cx="1736400" cy="40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What is Biomechanics</a:t>
            </a:r>
            <a:endParaRPr b="0" i="0" sz="1200" u="none" cap="none" strike="noStrike">
              <a:solidFill>
                <a:srgbClr val="000000"/>
              </a:solidFill>
              <a:latin typeface="Arial"/>
              <a:ea typeface="Arial"/>
              <a:cs typeface="Arial"/>
              <a:sym typeface="Arial"/>
            </a:endParaRPr>
          </a:p>
        </p:txBody>
      </p:sp>
      <p:sp>
        <p:nvSpPr>
          <p:cNvPr id="299" name="Google Shape;299;p33"/>
          <p:cNvSpPr txBox="1"/>
          <p:nvPr/>
        </p:nvSpPr>
        <p:spPr>
          <a:xfrm>
            <a:off x="37713" y="2809225"/>
            <a:ext cx="2544300" cy="40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Motion capture and product design</a:t>
            </a:r>
            <a:endParaRPr b="0" i="0" sz="1200" u="none" cap="none" strike="noStrike">
              <a:solidFill>
                <a:srgbClr val="000000"/>
              </a:solidFill>
              <a:latin typeface="Arial"/>
              <a:ea typeface="Arial"/>
              <a:cs typeface="Arial"/>
              <a:sym typeface="Arial"/>
            </a:endParaRPr>
          </a:p>
        </p:txBody>
      </p:sp>
      <p:sp>
        <p:nvSpPr>
          <p:cNvPr id="300" name="Google Shape;300;p33"/>
          <p:cNvSpPr txBox="1"/>
          <p:nvPr/>
        </p:nvSpPr>
        <p:spPr>
          <a:xfrm>
            <a:off x="39650" y="4147838"/>
            <a:ext cx="1815600" cy="35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Motion capture in sport</a:t>
            </a:r>
            <a:endParaRPr b="0" i="0" sz="1200" u="none" cap="none" strike="noStrike">
              <a:solidFill>
                <a:srgbClr val="000000"/>
              </a:solidFill>
              <a:latin typeface="Arial"/>
              <a:ea typeface="Arial"/>
              <a:cs typeface="Arial"/>
              <a:sym typeface="Arial"/>
            </a:endParaRPr>
          </a:p>
        </p:txBody>
      </p:sp>
      <p:sp>
        <p:nvSpPr>
          <p:cNvPr id="301" name="Google Shape;301;p33"/>
          <p:cNvSpPr txBox="1"/>
          <p:nvPr/>
        </p:nvSpPr>
        <p:spPr>
          <a:xfrm>
            <a:off x="2579663" y="357950"/>
            <a:ext cx="6460800" cy="4145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Understanding how humans move and interact with products in different situations has always been an important part of the design process. With the advent of modern technology and especially with the advancements in motion capture technology, how designers and design teams can access and analyse this data has dramatically improved. </a:t>
            </a:r>
            <a:r>
              <a:rPr b="0" i="0" lang="en-GB" sz="1200" u="none" cap="none" strike="noStrike">
                <a:solidFill>
                  <a:srgbClr val="0000FF"/>
                </a:solidFill>
                <a:latin typeface="Arial"/>
                <a:ea typeface="Arial"/>
                <a:cs typeface="Arial"/>
                <a:sym typeface="Arial"/>
              </a:rPr>
              <a:t>Why would a designer want to lessen the impacts of these four areas below in their designs?</a:t>
            </a:r>
            <a:endParaRPr b="0" i="0" sz="12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1"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Biomechanics</a:t>
            </a:r>
            <a:r>
              <a:rPr b="0" i="0" lang="en-GB" sz="1200" u="none" cap="none" strike="noStrike">
                <a:solidFill>
                  <a:srgbClr val="000000"/>
                </a:solidFill>
                <a:latin typeface="Arial"/>
                <a:ea typeface="Arial"/>
                <a:cs typeface="Arial"/>
                <a:sym typeface="Arial"/>
              </a:rPr>
              <a:t> in human factors design focus in on </a:t>
            </a:r>
            <a:r>
              <a:rPr b="1" i="0" lang="en-GB" sz="1200" u="none" cap="none" strike="noStrike">
                <a:solidFill>
                  <a:srgbClr val="000000"/>
                </a:solidFill>
                <a:latin typeface="Arial"/>
                <a:ea typeface="Arial"/>
                <a:cs typeface="Arial"/>
                <a:sym typeface="Arial"/>
              </a:rPr>
              <a:t>four </a:t>
            </a:r>
            <a:r>
              <a:rPr b="0" i="0" lang="en-GB" sz="1200" u="none" cap="none" strike="noStrike">
                <a:solidFill>
                  <a:srgbClr val="000000"/>
                </a:solidFill>
                <a:latin typeface="Arial"/>
                <a:ea typeface="Arial"/>
                <a:cs typeface="Arial"/>
                <a:sym typeface="Arial"/>
              </a:rPr>
              <a:t>key criteria:</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graphicFrame>
        <p:nvGraphicFramePr>
          <p:cNvPr id="302" name="Google Shape;302;p33"/>
          <p:cNvGraphicFramePr/>
          <p:nvPr/>
        </p:nvGraphicFramePr>
        <p:xfrm>
          <a:off x="2618250" y="1705150"/>
          <a:ext cx="3000000" cy="3000000"/>
        </p:xfrm>
        <a:graphic>
          <a:graphicData uri="http://schemas.openxmlformats.org/drawingml/2006/table">
            <a:tbl>
              <a:tblPr>
                <a:noFill/>
                <a:tableStyleId>{AF88A327-D300-4858-9E8A-C85DB80E53C2}</a:tableStyleId>
              </a:tblPr>
              <a:tblGrid>
                <a:gridCol w="726675"/>
                <a:gridCol w="2382675"/>
                <a:gridCol w="814400"/>
                <a:gridCol w="2459875"/>
              </a:tblGrid>
              <a:tr h="1423400">
                <a:tc>
                  <a:txBody>
                    <a:bodyPr/>
                    <a:lstStyle/>
                    <a:p>
                      <a:pPr indent="0" lvl="0" marL="0" marR="0" rtl="0" algn="ctr">
                        <a:lnSpc>
                          <a:spcPct val="100000"/>
                        </a:lnSpc>
                        <a:spcBef>
                          <a:spcPts val="0"/>
                        </a:spcBef>
                        <a:spcAft>
                          <a:spcPts val="0"/>
                        </a:spcAft>
                        <a:buClr>
                          <a:srgbClr val="000000"/>
                        </a:buClr>
                        <a:buSzPts val="1000"/>
                        <a:buFont typeface="Arial"/>
                        <a:buNone/>
                      </a:pPr>
                      <a:r>
                        <a:rPr b="1" lang="en-GB" sz="1000" u="none" cap="none" strike="noStrike"/>
                        <a:t>Force</a:t>
                      </a:r>
                      <a:endParaRPr sz="1000" u="none" cap="none" strike="noStrike"/>
                    </a:p>
                  </a:txBody>
                  <a:tcPr marT="91425" marB="91425" marR="91425" marL="91425" anchor="ctr">
                    <a:solidFill>
                      <a:srgbClr val="EAD1DC"/>
                    </a:solidFill>
                  </a:tcPr>
                </a:tc>
                <a:tc>
                  <a:txBody>
                    <a:bodyPr/>
                    <a:lstStyle/>
                    <a:p>
                      <a:pPr indent="0" lvl="0" marL="0" marR="0" rtl="0" algn="just">
                        <a:lnSpc>
                          <a:spcPct val="100000"/>
                        </a:lnSpc>
                        <a:spcBef>
                          <a:spcPts val="0"/>
                        </a:spcBef>
                        <a:spcAft>
                          <a:spcPts val="0"/>
                        </a:spcAft>
                        <a:buClr>
                          <a:srgbClr val="000000"/>
                        </a:buClr>
                        <a:buSzPts val="1100"/>
                        <a:buFont typeface="Arial"/>
                        <a:buNone/>
                      </a:pPr>
                      <a:r>
                        <a:rPr lang="en-GB" sz="1100" u="none" cap="none" strike="noStrike"/>
                        <a:t>How much force the user has to impart when using the product.</a:t>
                      </a:r>
                      <a:endParaRPr sz="1100" u="none" cap="none" strike="noStrike"/>
                    </a:p>
                    <a:p>
                      <a:pPr indent="0" lvl="0" marL="0" marR="0" rtl="0" algn="just">
                        <a:lnSpc>
                          <a:spcPct val="100000"/>
                        </a:lnSpc>
                        <a:spcBef>
                          <a:spcPts val="0"/>
                        </a:spcBef>
                        <a:spcAft>
                          <a:spcPts val="0"/>
                        </a:spcAft>
                        <a:buClr>
                          <a:srgbClr val="000000"/>
                        </a:buClr>
                        <a:buSzPts val="600"/>
                        <a:buFont typeface="Arial"/>
                        <a:buNone/>
                      </a:pPr>
                      <a:r>
                        <a:t/>
                      </a:r>
                      <a:endParaRPr sz="600" u="none" cap="none" strike="noStrike"/>
                    </a:p>
                    <a:p>
                      <a:pPr indent="0" lvl="0" marL="0" marR="0" rtl="0" algn="just">
                        <a:lnSpc>
                          <a:spcPct val="100000"/>
                        </a:lnSpc>
                        <a:spcBef>
                          <a:spcPts val="0"/>
                        </a:spcBef>
                        <a:spcAft>
                          <a:spcPts val="0"/>
                        </a:spcAft>
                        <a:buClr>
                          <a:srgbClr val="000000"/>
                        </a:buClr>
                        <a:buSzPts val="1100"/>
                        <a:buFont typeface="Arial"/>
                        <a:buNone/>
                      </a:pPr>
                      <a:r>
                        <a:rPr lang="en-GB" sz="1100" u="none" cap="none" strike="noStrike"/>
                        <a:t>Excessive impact jolts the user’s joints and causes the muscles to tense in response. This can eventually lead to pain or discomfort.</a:t>
                      </a:r>
                      <a:endParaRPr sz="11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000"/>
                        <a:buFont typeface="Arial"/>
                        <a:buNone/>
                      </a:pPr>
                      <a:r>
                        <a:rPr b="1" lang="en-GB" sz="1000" u="none" cap="none" strike="noStrike"/>
                        <a:t>Repetition</a:t>
                      </a:r>
                      <a:endParaRPr sz="1000" u="none" cap="none" strike="noStrike"/>
                    </a:p>
                  </a:txBody>
                  <a:tcPr marT="91425" marB="91425" marR="91425" marL="91425" anchor="ctr">
                    <a:solidFill>
                      <a:srgbClr val="D9EAD3"/>
                    </a:solidFill>
                  </a:tcPr>
                </a:tc>
                <a:tc>
                  <a:txBody>
                    <a:bodyPr/>
                    <a:lstStyle/>
                    <a:p>
                      <a:pPr indent="0" lvl="0" marL="0" marR="0" rtl="0" algn="just">
                        <a:lnSpc>
                          <a:spcPct val="100000"/>
                        </a:lnSpc>
                        <a:spcBef>
                          <a:spcPts val="0"/>
                        </a:spcBef>
                        <a:spcAft>
                          <a:spcPts val="0"/>
                        </a:spcAft>
                        <a:buClr>
                          <a:srgbClr val="000000"/>
                        </a:buClr>
                        <a:buSzPts val="1100"/>
                        <a:buFont typeface="Arial"/>
                        <a:buNone/>
                      </a:pPr>
                      <a:r>
                        <a:rPr lang="en-GB" sz="1100" u="none" cap="none" strike="noStrike"/>
                        <a:t>How often a user has to repeat a set task.</a:t>
                      </a:r>
                      <a:endParaRPr sz="1100" u="none" cap="none" strike="noStrike"/>
                    </a:p>
                    <a:p>
                      <a:pPr indent="0" lvl="0" marL="0" marR="0" rtl="0" algn="l">
                        <a:lnSpc>
                          <a:spcPct val="100000"/>
                        </a:lnSpc>
                        <a:spcBef>
                          <a:spcPts val="0"/>
                        </a:spcBef>
                        <a:spcAft>
                          <a:spcPts val="0"/>
                        </a:spcAft>
                        <a:buClr>
                          <a:srgbClr val="000000"/>
                        </a:buClr>
                        <a:buSzPts val="400"/>
                        <a:buFont typeface="Arial"/>
                        <a:buNone/>
                      </a:pPr>
                      <a:r>
                        <a:t/>
                      </a:r>
                      <a:endParaRPr sz="400" u="none" cap="none" strike="noStrike"/>
                    </a:p>
                    <a:p>
                      <a:pPr indent="0" lvl="0" marL="0" marR="0" rtl="0" algn="just">
                        <a:lnSpc>
                          <a:spcPct val="100000"/>
                        </a:lnSpc>
                        <a:spcBef>
                          <a:spcPts val="0"/>
                        </a:spcBef>
                        <a:spcAft>
                          <a:spcPts val="0"/>
                        </a:spcAft>
                        <a:buClr>
                          <a:srgbClr val="000000"/>
                        </a:buClr>
                        <a:buSzPts val="1100"/>
                        <a:buFont typeface="Arial"/>
                        <a:buNone/>
                      </a:pPr>
                      <a:r>
                        <a:rPr lang="en-GB" sz="1100" u="none" cap="none" strike="noStrike"/>
                        <a:t>A job is considered highly repetitive if the task cycle time is 30 seconds or less. Repeated tasks can lead to a number of painful injuries. </a:t>
                      </a:r>
                      <a:r>
                        <a:rPr lang="en-GB" sz="1100" u="none" cap="none" strike="noStrike">
                          <a:solidFill>
                            <a:srgbClr val="0000FF"/>
                          </a:solidFill>
                        </a:rPr>
                        <a:t>Can you think of any?</a:t>
                      </a:r>
                      <a:endParaRPr sz="1100" u="none" cap="none" strike="noStrike">
                        <a:solidFill>
                          <a:srgbClr val="0000FF"/>
                        </a:solidFill>
                      </a:endParaRPr>
                    </a:p>
                  </a:txBody>
                  <a:tcPr marT="91425" marB="91425" marR="91425" marL="91425"/>
                </a:tc>
              </a:tr>
              <a:tr h="1378925">
                <a:tc>
                  <a:txBody>
                    <a:bodyPr/>
                    <a:lstStyle/>
                    <a:p>
                      <a:pPr indent="0" lvl="0" marL="0" marR="0" rtl="0" algn="ctr">
                        <a:lnSpc>
                          <a:spcPct val="100000"/>
                        </a:lnSpc>
                        <a:spcBef>
                          <a:spcPts val="0"/>
                        </a:spcBef>
                        <a:spcAft>
                          <a:spcPts val="0"/>
                        </a:spcAft>
                        <a:buClr>
                          <a:srgbClr val="000000"/>
                        </a:buClr>
                        <a:buSzPts val="1000"/>
                        <a:buFont typeface="Arial"/>
                        <a:buNone/>
                      </a:pPr>
                      <a:r>
                        <a:rPr b="1" lang="en-GB" sz="1000" u="none" cap="none" strike="noStrike"/>
                        <a:t>Duration</a:t>
                      </a:r>
                      <a:endParaRPr sz="1000" u="none" cap="none" strike="noStrike"/>
                    </a:p>
                  </a:txBody>
                  <a:tcPr marT="91425" marB="91425" marR="91425" marL="91425" anchor="ctr">
                    <a:solidFill>
                      <a:srgbClr val="CFE2F3"/>
                    </a:solidFill>
                  </a:tcPr>
                </a:tc>
                <a:tc>
                  <a:txBody>
                    <a:bodyPr/>
                    <a:lstStyle/>
                    <a:p>
                      <a:pPr indent="0" lvl="0" marL="0" marR="0" rtl="0" algn="just">
                        <a:lnSpc>
                          <a:spcPct val="100000"/>
                        </a:lnSpc>
                        <a:spcBef>
                          <a:spcPts val="0"/>
                        </a:spcBef>
                        <a:spcAft>
                          <a:spcPts val="0"/>
                        </a:spcAft>
                        <a:buClr>
                          <a:srgbClr val="000000"/>
                        </a:buClr>
                        <a:buSzPts val="1100"/>
                        <a:buFont typeface="Arial"/>
                        <a:buNone/>
                      </a:pPr>
                      <a:r>
                        <a:rPr lang="en-GB" sz="1100" u="none" cap="none" strike="noStrike"/>
                        <a:t>The length of time the user is engaged with the product.</a:t>
                      </a:r>
                      <a:endParaRPr sz="1100" u="none" cap="none" strike="noStrike"/>
                    </a:p>
                    <a:p>
                      <a:pPr indent="0" lvl="0" marL="0" marR="0" rtl="0" algn="just">
                        <a:lnSpc>
                          <a:spcPct val="100000"/>
                        </a:lnSpc>
                        <a:spcBef>
                          <a:spcPts val="0"/>
                        </a:spcBef>
                        <a:spcAft>
                          <a:spcPts val="0"/>
                        </a:spcAft>
                        <a:buClr>
                          <a:srgbClr val="000000"/>
                        </a:buClr>
                        <a:buSzPts val="600"/>
                        <a:buFont typeface="Arial"/>
                        <a:buNone/>
                      </a:pPr>
                      <a:r>
                        <a:t/>
                      </a:r>
                      <a:endParaRPr sz="600" u="none" cap="none" strike="noStrike"/>
                    </a:p>
                    <a:p>
                      <a:pPr indent="0" lvl="0" marL="0" marR="0" rtl="0" algn="just">
                        <a:lnSpc>
                          <a:spcPct val="100000"/>
                        </a:lnSpc>
                        <a:spcBef>
                          <a:spcPts val="0"/>
                        </a:spcBef>
                        <a:spcAft>
                          <a:spcPts val="0"/>
                        </a:spcAft>
                        <a:buClr>
                          <a:srgbClr val="000000"/>
                        </a:buClr>
                        <a:buSzPts val="1100"/>
                        <a:buFont typeface="Arial"/>
                        <a:buNone/>
                      </a:pPr>
                      <a:r>
                        <a:rPr lang="en-GB" sz="1100" u="none" cap="none" strike="noStrike"/>
                        <a:t>Duration refers to continuous muscular effort. Even small exertions over a prolonged period can become stressful for users.</a:t>
                      </a:r>
                      <a:endParaRPr sz="11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1000"/>
                        <a:buFont typeface="Arial"/>
                        <a:buNone/>
                      </a:pPr>
                      <a:r>
                        <a:rPr b="1" lang="en-GB" sz="1000" u="none" cap="none" strike="noStrike"/>
                        <a:t>Posture</a:t>
                      </a:r>
                      <a:endParaRPr sz="1000" u="none" cap="none" strike="noStrike"/>
                    </a:p>
                  </a:txBody>
                  <a:tcPr marT="91425" marB="91425" marR="91425" marL="91425" anchor="ctr">
                    <a:solidFill>
                      <a:srgbClr val="FCE5CD"/>
                    </a:solidFill>
                  </a:tcPr>
                </a:tc>
                <a:tc>
                  <a:txBody>
                    <a:bodyPr/>
                    <a:lstStyle/>
                    <a:p>
                      <a:pPr indent="0" lvl="0" marL="0" marR="0" rtl="0" algn="just">
                        <a:lnSpc>
                          <a:spcPct val="100000"/>
                        </a:lnSpc>
                        <a:spcBef>
                          <a:spcPts val="0"/>
                        </a:spcBef>
                        <a:spcAft>
                          <a:spcPts val="0"/>
                        </a:spcAft>
                        <a:buClr>
                          <a:srgbClr val="000000"/>
                        </a:buClr>
                        <a:buSzPts val="1100"/>
                        <a:buFont typeface="Arial"/>
                        <a:buNone/>
                      </a:pPr>
                      <a:r>
                        <a:rPr lang="en-GB" sz="1100" u="none" cap="none" strike="noStrike"/>
                        <a:t>Posture refers to how you hold your body as a whole and where your arms and legs are in relation to your body.</a:t>
                      </a:r>
                      <a:endParaRPr sz="1100" u="none" cap="none" strike="noStrike"/>
                    </a:p>
                    <a:p>
                      <a:pPr indent="0" lvl="0" marL="0" marR="0" rtl="0" algn="just">
                        <a:lnSpc>
                          <a:spcPct val="100000"/>
                        </a:lnSpc>
                        <a:spcBef>
                          <a:spcPts val="0"/>
                        </a:spcBef>
                        <a:spcAft>
                          <a:spcPts val="0"/>
                        </a:spcAft>
                        <a:buClr>
                          <a:srgbClr val="000000"/>
                        </a:buClr>
                        <a:buSzPts val="400"/>
                        <a:buFont typeface="Arial"/>
                        <a:buNone/>
                      </a:pPr>
                      <a:r>
                        <a:t/>
                      </a:r>
                      <a:endParaRPr sz="400" u="none" cap="none" strike="noStrike"/>
                    </a:p>
                    <a:p>
                      <a:pPr indent="0" lvl="0" marL="0" marR="0" rtl="0" algn="just">
                        <a:lnSpc>
                          <a:spcPct val="100000"/>
                        </a:lnSpc>
                        <a:spcBef>
                          <a:spcPts val="0"/>
                        </a:spcBef>
                        <a:spcAft>
                          <a:spcPts val="0"/>
                        </a:spcAft>
                        <a:buClr>
                          <a:srgbClr val="000000"/>
                        </a:buClr>
                        <a:buSzPts val="1100"/>
                        <a:buFont typeface="Arial"/>
                        <a:buNone/>
                      </a:pPr>
                      <a:r>
                        <a:rPr lang="en-GB" sz="1100" u="none" cap="none" strike="noStrike"/>
                        <a:t>Holding an awkward body position or stance for any period of time can be painful</a:t>
                      </a:r>
                      <a:endParaRPr sz="1100" u="none" cap="none" strike="noStrike"/>
                    </a:p>
                  </a:txBody>
                  <a:tcPr marT="91425" marB="91425" marR="91425" marL="91425"/>
                </a:tc>
              </a:tr>
            </a:tbl>
          </a:graphicData>
        </a:graphic>
      </p:graphicFrame>
      <p:pic>
        <p:nvPicPr>
          <p:cNvPr id="303" name="Google Shape;303;p33" title="What is Biomechanics.mp4">
            <a:hlinkClick r:id="rId3"/>
          </p:cNvPr>
          <p:cNvPicPr preferRelativeResize="0"/>
          <p:nvPr/>
        </p:nvPicPr>
        <p:blipFill>
          <a:blip r:embed="rId4">
            <a:alphaModFix/>
          </a:blip>
          <a:stretch>
            <a:fillRect/>
          </a:stretch>
        </p:blipFill>
        <p:spPr>
          <a:xfrm>
            <a:off x="130900" y="433016"/>
            <a:ext cx="2200925" cy="1162350"/>
          </a:xfrm>
          <a:prstGeom prst="rect">
            <a:avLst/>
          </a:prstGeom>
          <a:noFill/>
          <a:ln>
            <a:noFill/>
          </a:ln>
        </p:spPr>
      </p:pic>
      <p:pic>
        <p:nvPicPr>
          <p:cNvPr id="304" name="Google Shape;304;p33" title="Motion capture and product design.mp4">
            <a:hlinkClick r:id="rId5"/>
          </p:cNvPr>
          <p:cNvPicPr preferRelativeResize="0"/>
          <p:nvPr/>
        </p:nvPicPr>
        <p:blipFill>
          <a:blip r:embed="rId6">
            <a:alphaModFix/>
          </a:blip>
          <a:stretch>
            <a:fillRect/>
          </a:stretch>
        </p:blipFill>
        <p:spPr>
          <a:xfrm>
            <a:off x="198160" y="1772349"/>
            <a:ext cx="2066403" cy="1162350"/>
          </a:xfrm>
          <a:prstGeom prst="rect">
            <a:avLst/>
          </a:prstGeom>
          <a:noFill/>
          <a:ln>
            <a:noFill/>
          </a:ln>
        </p:spPr>
      </p:pic>
      <p:pic>
        <p:nvPicPr>
          <p:cNvPr id="305" name="Google Shape;305;p33" title="Motion Capture Technology Applications by Motion Analysis.mp4">
            <a:hlinkClick r:id="rId7"/>
          </p:cNvPr>
          <p:cNvPicPr preferRelativeResize="0"/>
          <p:nvPr/>
        </p:nvPicPr>
        <p:blipFill>
          <a:blip r:embed="rId8">
            <a:alphaModFix/>
          </a:blip>
          <a:stretch>
            <a:fillRect/>
          </a:stretch>
        </p:blipFill>
        <p:spPr>
          <a:xfrm>
            <a:off x="198150" y="3056750"/>
            <a:ext cx="2066426" cy="1162364"/>
          </a:xfrm>
          <a:prstGeom prst="rect">
            <a:avLst/>
          </a:prstGeom>
          <a:noFill/>
          <a:ln>
            <a:noFill/>
          </a:ln>
        </p:spPr>
      </p:pic>
      <p:sp>
        <p:nvSpPr>
          <p:cNvPr id="306" name="Google Shape;306;p33"/>
          <p:cNvSpPr txBox="1"/>
          <p:nvPr/>
        </p:nvSpPr>
        <p:spPr>
          <a:xfrm>
            <a:off x="113550" y="78650"/>
            <a:ext cx="8916900" cy="3075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1.1.6 Physiology is the study of systems and biomechanics within the human body, their responses, limitations and capabilities.</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gtEl>
                                        <p:attrNameLst>
                                          <p:attrName>style.visibility</p:attrName>
                                        </p:attrNameLst>
                                      </p:cBhvr>
                                      <p:to>
                                        <p:strVal val="visible"/>
                                      </p:to>
                                    </p:set>
                                    <p:animEffect filter="fade" transition="in">
                                      <p:cBhvr>
                                        <p:cTn dur="1000"/>
                                        <p:tgtEl>
                                          <p:spTgt spid="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10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4"/>
          <p:cNvSpPr txBox="1"/>
          <p:nvPr/>
        </p:nvSpPr>
        <p:spPr>
          <a:xfrm>
            <a:off x="5416150" y="1609613"/>
            <a:ext cx="3524100" cy="1723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You may require this formula:</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Torque</a:t>
            </a:r>
            <a:r>
              <a:rPr b="0" i="0" lang="en-GB" sz="1200" u="none" cap="none" strike="noStrike">
                <a:solidFill>
                  <a:srgbClr val="000000"/>
                </a:solidFill>
                <a:latin typeface="Arial"/>
                <a:ea typeface="Arial"/>
                <a:cs typeface="Arial"/>
                <a:sym typeface="Arial"/>
              </a:rPr>
              <a:t> - T= F x 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 - torque in Newton-metres (Nm)</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F - handgrip force required to overcome friction in Newtons (N)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D - diameter of cap in metres (m)</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13" name="Google Shape;313;p34"/>
          <p:cNvSpPr txBox="1"/>
          <p:nvPr/>
        </p:nvSpPr>
        <p:spPr>
          <a:xfrm>
            <a:off x="107900" y="607525"/>
            <a:ext cx="8952600" cy="426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Choose </a:t>
            </a:r>
            <a:r>
              <a:rPr b="1" i="0" lang="en-GB" sz="1400" u="none" cap="none" strike="noStrike">
                <a:solidFill>
                  <a:srgbClr val="FF0000"/>
                </a:solidFill>
                <a:latin typeface="Arial"/>
                <a:ea typeface="Arial"/>
                <a:cs typeface="Arial"/>
                <a:sym typeface="Arial"/>
              </a:rPr>
              <a:t>one</a:t>
            </a:r>
            <a:r>
              <a:rPr b="0" i="0" lang="en-GB" sz="1400" u="none" cap="none" strike="noStrike">
                <a:solidFill>
                  <a:srgbClr val="000000"/>
                </a:solidFill>
                <a:latin typeface="Arial"/>
                <a:ea typeface="Arial"/>
                <a:cs typeface="Arial"/>
                <a:sym typeface="Arial"/>
              </a:rPr>
              <a:t> of these objects and devise an experiment to find out the </a:t>
            </a:r>
            <a:r>
              <a:rPr b="1" i="0" lang="en-GB" sz="1400" u="none" cap="none" strike="noStrike">
                <a:solidFill>
                  <a:srgbClr val="000000"/>
                </a:solidFill>
                <a:latin typeface="Arial"/>
                <a:ea typeface="Arial"/>
                <a:cs typeface="Arial"/>
                <a:sym typeface="Arial"/>
              </a:rPr>
              <a:t>force</a:t>
            </a:r>
            <a:r>
              <a:rPr b="0" i="0" lang="en-GB" sz="1400" u="none" cap="none" strike="noStrike">
                <a:solidFill>
                  <a:srgbClr val="000000"/>
                </a:solidFill>
                <a:latin typeface="Arial"/>
                <a:ea typeface="Arial"/>
                <a:cs typeface="Arial"/>
                <a:sym typeface="Arial"/>
              </a:rPr>
              <a:t> required to </a:t>
            </a:r>
            <a:r>
              <a:rPr b="1" i="0" lang="en-GB" sz="1400" u="none" cap="none" strike="noStrike">
                <a:solidFill>
                  <a:srgbClr val="000000"/>
                </a:solidFill>
                <a:latin typeface="Arial"/>
                <a:ea typeface="Arial"/>
                <a:cs typeface="Arial"/>
                <a:sym typeface="Arial"/>
              </a:rPr>
              <a:t>open</a:t>
            </a:r>
            <a:r>
              <a:rPr b="0" i="0" lang="en-GB" sz="1400" u="none" cap="none" strike="noStrike">
                <a:solidFill>
                  <a:srgbClr val="000000"/>
                </a:solidFill>
                <a:latin typeface="Arial"/>
                <a:ea typeface="Arial"/>
                <a:cs typeface="Arial"/>
                <a:sym typeface="Arial"/>
              </a:rPr>
              <a:t> or </a:t>
            </a:r>
            <a:r>
              <a:rPr b="1" i="0" lang="en-GB" sz="1400" u="none" cap="none" strike="noStrike">
                <a:solidFill>
                  <a:srgbClr val="000000"/>
                </a:solidFill>
                <a:latin typeface="Arial"/>
                <a:ea typeface="Arial"/>
                <a:cs typeface="Arial"/>
                <a:sym typeface="Arial"/>
              </a:rPr>
              <a:t>operate</a:t>
            </a:r>
            <a:r>
              <a:rPr b="0" i="0" lang="en-GB" sz="1400" u="none" cap="none" strike="noStrike">
                <a:solidFill>
                  <a:srgbClr val="000000"/>
                </a:solidFill>
                <a:latin typeface="Arial"/>
                <a:ea typeface="Arial"/>
                <a:cs typeface="Arial"/>
                <a:sym typeface="Arial"/>
              </a:rPr>
              <a:t> it.</a:t>
            </a:r>
            <a:endParaRPr b="0" i="0" sz="1400" u="none" cap="none" strike="noStrike">
              <a:solidFill>
                <a:srgbClr val="000000"/>
              </a:solidFill>
              <a:latin typeface="Arial"/>
              <a:ea typeface="Arial"/>
              <a:cs typeface="Arial"/>
              <a:sym typeface="Arial"/>
            </a:endParaRPr>
          </a:p>
        </p:txBody>
      </p:sp>
      <p:sp>
        <p:nvSpPr>
          <p:cNvPr id="314" name="Google Shape;314;p34"/>
          <p:cNvSpPr txBox="1"/>
          <p:nvPr/>
        </p:nvSpPr>
        <p:spPr>
          <a:xfrm>
            <a:off x="107800" y="3908625"/>
            <a:ext cx="8952600" cy="10287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While conducting your experiment please consider what ergonomic, anthropometric, physiological and psychological factors are involved with the task. </a:t>
            </a:r>
            <a:endParaRPr b="1" sz="1100">
              <a:solidFill>
                <a:schemeClr val="dk1"/>
              </a:solidFill>
            </a:endParaRPr>
          </a:p>
          <a:p>
            <a:pPr indent="0" lvl="0" marL="0" marR="0" rtl="0" algn="l">
              <a:lnSpc>
                <a:spcPct val="100000"/>
              </a:lnSpc>
              <a:spcBef>
                <a:spcPts val="0"/>
              </a:spcBef>
              <a:spcAft>
                <a:spcPts val="0"/>
              </a:spcAft>
              <a:buClr>
                <a:srgbClr val="000000"/>
              </a:buClr>
              <a:buSzPts val="1100"/>
              <a:buFont typeface="Arial"/>
              <a:buNone/>
            </a:pPr>
            <a:r>
              <a:t/>
            </a:r>
            <a:endParaRPr b="1" sz="1100">
              <a:solidFill>
                <a:schemeClr val="dk1"/>
              </a:solidFill>
            </a:endParaRPr>
          </a:p>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Please also report what potential injuries could occur when completely the task, and what user groups would have issues using these products, and what could you do to counteract them.</a:t>
            </a:r>
            <a:endParaRPr b="1" sz="1100">
              <a:solidFill>
                <a:schemeClr val="dk1"/>
              </a:solidFill>
            </a:endParaRPr>
          </a:p>
        </p:txBody>
      </p:sp>
      <p:pic>
        <p:nvPicPr>
          <p:cNvPr id="315" name="Google Shape;315;p34" title="Screenshot 2025-09-02 at 11.44.33 AM.png"/>
          <p:cNvPicPr preferRelativeResize="0"/>
          <p:nvPr/>
        </p:nvPicPr>
        <p:blipFill>
          <a:blip r:embed="rId3">
            <a:alphaModFix/>
          </a:blip>
          <a:stretch>
            <a:fillRect/>
          </a:stretch>
        </p:blipFill>
        <p:spPr>
          <a:xfrm>
            <a:off x="219975" y="1371575"/>
            <a:ext cx="4582349" cy="2199900"/>
          </a:xfrm>
          <a:prstGeom prst="rect">
            <a:avLst/>
          </a:prstGeom>
          <a:noFill/>
          <a:ln>
            <a:noFill/>
          </a:ln>
        </p:spPr>
      </p:pic>
      <p:sp>
        <p:nvSpPr>
          <p:cNvPr id="316" name="Google Shape;316;p34"/>
          <p:cNvSpPr txBox="1"/>
          <p:nvPr/>
        </p:nvSpPr>
        <p:spPr>
          <a:xfrm>
            <a:off x="113550" y="78650"/>
            <a:ext cx="8916900" cy="3075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1.1.6 Physiology is the study of systems and biomechanics within the human body, their responses, limitations and capabilities.</a:t>
            </a:r>
            <a:endParaRPr b="1" sz="1100">
              <a:solidFill>
                <a:srgbClr val="351C75"/>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5"/>
          <p:cNvSpPr txBox="1"/>
          <p:nvPr/>
        </p:nvSpPr>
        <p:spPr>
          <a:xfrm>
            <a:off x="70050" y="636530"/>
            <a:ext cx="9003900" cy="680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Psychological ergonomics is an interdisciplinary field which discovers and applies information about </a:t>
            </a:r>
            <a:r>
              <a:rPr b="1" i="0" lang="en-GB" sz="1100" u="none" cap="none" strike="noStrike">
                <a:solidFill>
                  <a:srgbClr val="000000"/>
                </a:solidFill>
                <a:latin typeface="Arial"/>
                <a:ea typeface="Arial"/>
                <a:cs typeface="Arial"/>
                <a:sym typeface="Arial"/>
              </a:rPr>
              <a:t>human</a:t>
            </a:r>
            <a:r>
              <a:rPr b="0" i="0" lang="en-GB" sz="1100" u="none" cap="none" strike="noStrike">
                <a:solidFill>
                  <a:srgbClr val="000000"/>
                </a:solidFill>
                <a:latin typeface="Arial"/>
                <a:ea typeface="Arial"/>
                <a:cs typeface="Arial"/>
                <a:sym typeface="Arial"/>
              </a:rPr>
              <a:t> behaviours. It also looks at abilities and limitations, and other characteristics to the design and evolution of products, systems, tools, jobs and environments for enhancing productive, safe and comfortable </a:t>
            </a:r>
            <a:r>
              <a:rPr b="1" i="0" lang="en-GB" sz="1100" u="none" cap="none" strike="noStrike">
                <a:solidFill>
                  <a:srgbClr val="000000"/>
                </a:solidFill>
                <a:latin typeface="Arial"/>
                <a:ea typeface="Arial"/>
                <a:cs typeface="Arial"/>
                <a:sym typeface="Arial"/>
              </a:rPr>
              <a:t>human</a:t>
            </a:r>
            <a:r>
              <a:rPr b="0" i="0" lang="en-GB" sz="1100" u="none" cap="none" strike="noStrike">
                <a:solidFill>
                  <a:srgbClr val="000000"/>
                </a:solidFill>
                <a:latin typeface="Arial"/>
                <a:ea typeface="Arial"/>
                <a:cs typeface="Arial"/>
                <a:sym typeface="Arial"/>
              </a:rPr>
              <a:t> use.</a:t>
            </a:r>
            <a:endParaRPr b="0" i="0" sz="1100" u="none" cap="none" strike="noStrike">
              <a:solidFill>
                <a:srgbClr val="000000"/>
              </a:solidFill>
              <a:latin typeface="Arial"/>
              <a:ea typeface="Arial"/>
              <a:cs typeface="Arial"/>
              <a:sym typeface="Arial"/>
            </a:endParaRPr>
          </a:p>
        </p:txBody>
      </p:sp>
      <p:sp>
        <p:nvSpPr>
          <p:cNvPr id="323" name="Google Shape;323;p35"/>
          <p:cNvSpPr txBox="1"/>
          <p:nvPr/>
        </p:nvSpPr>
        <p:spPr>
          <a:xfrm>
            <a:off x="70050" y="1177975"/>
            <a:ext cx="4683000" cy="3333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Psychological factors need to considered when designing a good user-product interface (how and where humans interact with a product) includes </a:t>
            </a:r>
            <a:r>
              <a:rPr b="1" i="0" lang="en-GB" sz="1100" u="none" cap="none" strike="noStrike">
                <a:solidFill>
                  <a:srgbClr val="000000"/>
                </a:solidFill>
                <a:latin typeface="Arial"/>
                <a:ea typeface="Arial"/>
                <a:cs typeface="Arial"/>
                <a:sym typeface="Arial"/>
              </a:rPr>
              <a:t>simplicity</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ease of use</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intuitive logic</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organisation</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low-memory burden</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visability</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feedback</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affordance</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mapping</a:t>
            </a:r>
            <a:r>
              <a:rPr b="0" i="0" lang="en-GB" sz="1100" u="none" cap="none" strike="noStrike">
                <a:solidFill>
                  <a:srgbClr val="000000"/>
                </a:solidFill>
                <a:latin typeface="Arial"/>
                <a:ea typeface="Arial"/>
                <a:cs typeface="Arial"/>
                <a:sym typeface="Arial"/>
              </a:rPr>
              <a:t> and </a:t>
            </a:r>
            <a:r>
              <a:rPr b="1" i="0" lang="en-GB" sz="1100" u="none" cap="none" strike="noStrike">
                <a:solidFill>
                  <a:srgbClr val="000000"/>
                </a:solidFill>
                <a:latin typeface="Arial"/>
                <a:ea typeface="Arial"/>
                <a:cs typeface="Arial"/>
                <a:sym typeface="Arial"/>
              </a:rPr>
              <a:t>constraints</a:t>
            </a:r>
            <a:r>
              <a:rPr b="0" i="0" lang="en-GB" sz="1100" u="none" cap="none" strike="noStrike">
                <a:solidFill>
                  <a:srgbClr val="000000"/>
                </a:solidFill>
                <a:latin typeface="Arial"/>
                <a:ea typeface="Arial"/>
                <a:cs typeface="Arial"/>
                <a:sym typeface="Arial"/>
              </a:rPr>
              <a:t> provide opportunities for designers to ensure their products are logical and easy to use. These are all covered in more detail in </a:t>
            </a:r>
            <a:r>
              <a:rPr b="1" i="0" lang="en-GB" sz="1100" u="none" cap="none" strike="noStrike">
                <a:solidFill>
                  <a:srgbClr val="000000"/>
                </a:solidFill>
                <a:latin typeface="Arial"/>
                <a:ea typeface="Arial"/>
                <a:cs typeface="Arial"/>
                <a:sym typeface="Arial"/>
              </a:rPr>
              <a:t>User-centred Design</a:t>
            </a:r>
            <a:r>
              <a:rPr b="0" i="0" lang="en-GB" sz="1100" u="none" cap="none" strike="noStrike">
                <a:solidFill>
                  <a:srgbClr val="000000"/>
                </a:solidFill>
                <a:latin typeface="Arial"/>
                <a:ea typeface="Arial"/>
                <a:cs typeface="Arial"/>
                <a:sym typeface="Arial"/>
              </a:rPr>
              <a:t> (Topic 7).</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FF"/>
                </a:solidFill>
                <a:latin typeface="Arial"/>
                <a:ea typeface="Arial"/>
                <a:cs typeface="Arial"/>
                <a:sym typeface="Arial"/>
              </a:rPr>
              <a:t>Psychological factor data</a:t>
            </a:r>
            <a:r>
              <a:rPr b="0" i="0" lang="en-GB" sz="1100" u="none" cap="none" strike="noStrike">
                <a:solidFill>
                  <a:srgbClr val="000000"/>
                </a:solidFill>
                <a:latin typeface="Arial"/>
                <a:ea typeface="Arial"/>
                <a:cs typeface="Arial"/>
                <a:sym typeface="Arial"/>
              </a:rPr>
              <a:t> contribute to good user interfaces and are commonly influenced by the environment the product is used in, and factors such as </a:t>
            </a:r>
            <a:r>
              <a:rPr b="1" i="0" lang="en-GB" sz="1100" u="none" cap="none" strike="noStrike">
                <a:solidFill>
                  <a:srgbClr val="000000"/>
                </a:solidFill>
                <a:latin typeface="Arial"/>
                <a:ea typeface="Arial"/>
                <a:cs typeface="Arial"/>
                <a:sym typeface="Arial"/>
              </a:rPr>
              <a:t>light</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smell</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sound/noise</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taste</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temperature</a:t>
            </a:r>
            <a:r>
              <a:rPr b="0" i="0" lang="en-GB" sz="1100" u="none" cap="none" strike="noStrike">
                <a:solidFill>
                  <a:srgbClr val="000000"/>
                </a:solidFill>
                <a:latin typeface="Arial"/>
                <a:ea typeface="Arial"/>
                <a:cs typeface="Arial"/>
                <a:sym typeface="Arial"/>
              </a:rPr>
              <a:t> and </a:t>
            </a:r>
            <a:r>
              <a:rPr b="1" i="0" lang="en-GB" sz="1100" u="none" cap="none" strike="noStrike">
                <a:solidFill>
                  <a:srgbClr val="000000"/>
                </a:solidFill>
                <a:latin typeface="Arial"/>
                <a:ea typeface="Arial"/>
                <a:cs typeface="Arial"/>
                <a:sym typeface="Arial"/>
              </a:rPr>
              <a:t>texture</a:t>
            </a:r>
            <a:r>
              <a:rPr b="0" i="0" lang="en-GB"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Psychological data can be collected via user observation. This data will then enable the designer to think about the issues the user has, and then use this data to improve their products</a:t>
            </a:r>
            <a:r>
              <a:rPr lang="en-GB" sz="1100"/>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User reactions whilst engaging with designed products have an impact on the user experience - Psychological data can help understand this.</a:t>
            </a:r>
            <a:endParaRPr b="0" i="0" sz="1100" u="none" cap="none" strike="noStrike">
              <a:solidFill>
                <a:srgbClr val="000000"/>
              </a:solidFill>
              <a:latin typeface="Arial"/>
              <a:ea typeface="Arial"/>
              <a:cs typeface="Arial"/>
              <a:sym typeface="Arial"/>
            </a:endParaRPr>
          </a:p>
        </p:txBody>
      </p:sp>
      <p:sp>
        <p:nvSpPr>
          <p:cNvPr id="324" name="Google Shape;324;p35"/>
          <p:cNvSpPr txBox="1"/>
          <p:nvPr/>
        </p:nvSpPr>
        <p:spPr>
          <a:xfrm>
            <a:off x="4753050" y="1166895"/>
            <a:ext cx="3534600" cy="3424200"/>
          </a:xfrm>
          <a:prstGeom prst="rect">
            <a:avLst/>
          </a:prstGeom>
          <a:solidFill>
            <a:srgbClr val="F794B2">
              <a:alpha val="17720"/>
            </a:srgbClr>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Psychological factors in design:</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Light</a:t>
            </a:r>
            <a:r>
              <a:rPr b="0" i="0" lang="en-GB" sz="1100" u="none" cap="none" strike="noStrike">
                <a:solidFill>
                  <a:srgbClr val="000000"/>
                </a:solidFill>
                <a:latin typeface="Arial"/>
                <a:ea typeface="Arial"/>
                <a:cs typeface="Arial"/>
                <a:sym typeface="Arial"/>
              </a:rPr>
              <a:t>: provides ease of visibility, making reading text easier whether ambient, direct, or screen light.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Smell</a:t>
            </a:r>
            <a:r>
              <a:rPr b="0" i="0" lang="en-GB" sz="1100" u="none" cap="none" strike="noStrike">
                <a:solidFill>
                  <a:srgbClr val="000000"/>
                </a:solidFill>
                <a:latin typeface="Arial"/>
                <a:ea typeface="Arial"/>
                <a:cs typeface="Arial"/>
                <a:sym typeface="Arial"/>
              </a:rPr>
              <a:t>: An olfactory response to an environment, being one of the </a:t>
            </a:r>
            <a:r>
              <a:rPr b="1" i="0" lang="en-GB" sz="1100" u="none" cap="none" strike="noStrike">
                <a:solidFill>
                  <a:srgbClr val="000000"/>
                </a:solidFill>
                <a:latin typeface="Arial"/>
                <a:ea typeface="Arial"/>
                <a:cs typeface="Arial"/>
                <a:sym typeface="Arial"/>
              </a:rPr>
              <a:t>most powerful</a:t>
            </a:r>
            <a:r>
              <a:rPr b="0" i="0" lang="en-GB" sz="1100" u="none" cap="none" strike="noStrike">
                <a:solidFill>
                  <a:srgbClr val="000000"/>
                </a:solidFill>
                <a:latin typeface="Arial"/>
                <a:ea typeface="Arial"/>
                <a:cs typeface="Arial"/>
                <a:sym typeface="Arial"/>
              </a:rPr>
              <a:t> senses a human processes, and very important to the whole design process.</a:t>
            </a:r>
            <a:endParaRPr b="0" i="0" sz="1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Noise</a:t>
            </a:r>
            <a:r>
              <a:rPr b="0" i="0" lang="en-GB" sz="1100" u="none" cap="none" strike="noStrike">
                <a:solidFill>
                  <a:srgbClr val="000000"/>
                </a:solidFill>
                <a:latin typeface="Arial"/>
                <a:ea typeface="Arial"/>
                <a:cs typeface="Arial"/>
                <a:sym typeface="Arial"/>
              </a:rPr>
              <a:t>: Being able to hear sound adequately so users can receive feedback from them.</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Taste</a:t>
            </a:r>
            <a:r>
              <a:rPr b="0" i="0" lang="en-GB" sz="1100" u="none" cap="none" strike="noStrike">
                <a:solidFill>
                  <a:srgbClr val="000000"/>
                </a:solidFill>
                <a:latin typeface="Arial"/>
                <a:ea typeface="Arial"/>
                <a:cs typeface="Arial"/>
                <a:sym typeface="Arial"/>
              </a:rPr>
              <a:t>: Important for young children’s  products who explore the world with their mouths. Toxins are and issue and must be factored into any design.</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Temperature</a:t>
            </a:r>
            <a:r>
              <a:rPr b="0" i="0" lang="en-GB" sz="1100" u="none" cap="none" strike="noStrike">
                <a:solidFill>
                  <a:srgbClr val="000000"/>
                </a:solidFill>
                <a:latin typeface="Arial"/>
                <a:ea typeface="Arial"/>
                <a:cs typeface="Arial"/>
                <a:sym typeface="Arial"/>
              </a:rPr>
              <a:t>: Extremes of temperature can adversely affect human productivity.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Texture</a:t>
            </a:r>
            <a:r>
              <a:rPr b="0" i="0" lang="en-GB" sz="1100" u="none" cap="none" strike="noStrike">
                <a:solidFill>
                  <a:srgbClr val="000000"/>
                </a:solidFill>
                <a:latin typeface="Arial"/>
                <a:ea typeface="Arial"/>
                <a:cs typeface="Arial"/>
                <a:sym typeface="Arial"/>
              </a:rPr>
              <a:t>: Provides valuable feedback and information for the user related to touch and grip. Not only relevant to the visually impaired.</a:t>
            </a:r>
            <a:endParaRPr b="0" i="0" sz="1100" u="none" cap="none" strike="noStrike">
              <a:solidFill>
                <a:srgbClr val="000000"/>
              </a:solidFill>
              <a:latin typeface="Arial"/>
              <a:ea typeface="Arial"/>
              <a:cs typeface="Arial"/>
              <a:sym typeface="Arial"/>
            </a:endParaRPr>
          </a:p>
        </p:txBody>
      </p:sp>
      <p:sp>
        <p:nvSpPr>
          <p:cNvPr id="325" name="Google Shape;325;p35"/>
          <p:cNvSpPr txBox="1"/>
          <p:nvPr/>
        </p:nvSpPr>
        <p:spPr>
          <a:xfrm>
            <a:off x="2389600" y="4616075"/>
            <a:ext cx="6684300" cy="434400"/>
          </a:xfrm>
          <a:prstGeom prst="rect">
            <a:avLst/>
          </a:prstGeom>
          <a:solidFill>
            <a:srgbClr val="C9DAF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434343"/>
                </a:solidFill>
                <a:latin typeface="Arial"/>
                <a:ea typeface="Arial"/>
                <a:cs typeface="Arial"/>
                <a:sym typeface="Arial"/>
              </a:rPr>
              <a:t>Psychological factor data</a:t>
            </a:r>
            <a:r>
              <a:rPr b="0" i="0" lang="en-GB" sz="1100" u="none" cap="none" strike="noStrike">
                <a:solidFill>
                  <a:srgbClr val="434343"/>
                </a:solidFill>
                <a:latin typeface="Arial"/>
                <a:ea typeface="Arial"/>
                <a:cs typeface="Arial"/>
                <a:sym typeface="Arial"/>
              </a:rPr>
              <a:t>: Related to physical characteristics used to optimise the user’s safety, health, comfort, performance and experience.</a:t>
            </a:r>
            <a:endParaRPr b="0" i="0" sz="1100" u="none" cap="none" strike="noStrike">
              <a:solidFill>
                <a:srgbClr val="434343"/>
              </a:solidFill>
              <a:latin typeface="Arial"/>
              <a:ea typeface="Arial"/>
              <a:cs typeface="Arial"/>
              <a:sym typeface="Arial"/>
            </a:endParaRPr>
          </a:p>
        </p:txBody>
      </p:sp>
      <p:pic>
        <p:nvPicPr>
          <p:cNvPr id="326" name="Google Shape;326;p35" title="Screenshot 2025-09-02 at 11.51.39 AM.png"/>
          <p:cNvPicPr preferRelativeResize="0"/>
          <p:nvPr/>
        </p:nvPicPr>
        <p:blipFill>
          <a:blip r:embed="rId3">
            <a:alphaModFix/>
          </a:blip>
          <a:stretch>
            <a:fillRect/>
          </a:stretch>
        </p:blipFill>
        <p:spPr>
          <a:xfrm>
            <a:off x="8382444" y="1118042"/>
            <a:ext cx="691507" cy="3424199"/>
          </a:xfrm>
          <a:prstGeom prst="rect">
            <a:avLst/>
          </a:prstGeom>
          <a:noFill/>
          <a:ln>
            <a:noFill/>
          </a:ln>
        </p:spPr>
      </p:pic>
      <p:pic>
        <p:nvPicPr>
          <p:cNvPr id="327" name="Google Shape;327;p35"/>
          <p:cNvPicPr preferRelativeResize="0"/>
          <p:nvPr/>
        </p:nvPicPr>
        <p:blipFill>
          <a:blip r:embed="rId4">
            <a:alphaModFix/>
          </a:blip>
          <a:stretch>
            <a:fillRect/>
          </a:stretch>
        </p:blipFill>
        <p:spPr>
          <a:xfrm>
            <a:off x="135450" y="4131971"/>
            <a:ext cx="2254150" cy="865525"/>
          </a:xfrm>
          <a:prstGeom prst="rect">
            <a:avLst/>
          </a:prstGeom>
          <a:noFill/>
          <a:ln>
            <a:noFill/>
          </a:ln>
        </p:spPr>
      </p:pic>
      <p:sp>
        <p:nvSpPr>
          <p:cNvPr id="328" name="Google Shape;328;p35"/>
          <p:cNvSpPr txBox="1"/>
          <p:nvPr/>
        </p:nvSpPr>
        <p:spPr>
          <a:xfrm>
            <a:off x="135450" y="4845100"/>
            <a:ext cx="1459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rgbClr val="9E9E9E"/>
                </a:solidFill>
              </a:rPr>
              <a:t>bit-tech.net</a:t>
            </a:r>
            <a:endParaRPr sz="900">
              <a:solidFill>
                <a:srgbClr val="9E9E9E"/>
              </a:solidFill>
            </a:endParaRPr>
          </a:p>
        </p:txBody>
      </p:sp>
      <p:sp>
        <p:nvSpPr>
          <p:cNvPr id="329" name="Google Shape;329;p35"/>
          <p:cNvSpPr txBox="1"/>
          <p:nvPr/>
        </p:nvSpPr>
        <p:spPr>
          <a:xfrm>
            <a:off x="55943" y="-46928"/>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
        <p:nvSpPr>
          <p:cNvPr id="330" name="Google Shape;330;p35"/>
          <p:cNvSpPr txBox="1"/>
          <p:nvPr>
            <p:ph type="ctrTitle"/>
          </p:nvPr>
        </p:nvSpPr>
        <p:spPr>
          <a:xfrm>
            <a:off x="75701" y="438500"/>
            <a:ext cx="3666000" cy="3231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200"/>
              <a:t>Psychological Factors: Psychological factors data </a:t>
            </a:r>
            <a:endParaRPr sz="12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6"/>
          <p:cNvSpPr txBox="1"/>
          <p:nvPr/>
        </p:nvSpPr>
        <p:spPr>
          <a:xfrm>
            <a:off x="59100" y="451619"/>
            <a:ext cx="9025800" cy="844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Psychology is a science; therefore, it relies upon scientific data to study behaviours and mental processes. Research in psychology is based on scientific methods that involve; conceptualizing a problem, </a:t>
            </a:r>
            <a:r>
              <a:rPr b="1" i="0" lang="en-GB" sz="1100" u="none" cap="none" strike="noStrike">
                <a:solidFill>
                  <a:srgbClr val="000000"/>
                </a:solidFill>
                <a:latin typeface="Arial"/>
                <a:ea typeface="Arial"/>
                <a:cs typeface="Arial"/>
                <a:sym typeface="Arial"/>
              </a:rPr>
              <a:t>collecting data</a:t>
            </a:r>
            <a:r>
              <a:rPr b="0" i="0" lang="en-GB" sz="1100" u="none" cap="none" strike="noStrike">
                <a:solidFill>
                  <a:srgbClr val="000000"/>
                </a:solidFill>
                <a:latin typeface="Arial"/>
                <a:ea typeface="Arial"/>
                <a:cs typeface="Arial"/>
                <a:sym typeface="Arial"/>
              </a:rPr>
              <a:t>, analysing the data and drawing </a:t>
            </a:r>
            <a:r>
              <a:rPr b="1" i="0" lang="en-GB" sz="1100" u="none" cap="none" strike="noStrike">
                <a:solidFill>
                  <a:srgbClr val="000000"/>
                </a:solidFill>
                <a:latin typeface="Arial"/>
                <a:ea typeface="Arial"/>
                <a:cs typeface="Arial"/>
                <a:sym typeface="Arial"/>
              </a:rPr>
              <a:t>conclusions</a:t>
            </a:r>
            <a:r>
              <a:rPr b="0" i="0" lang="en-GB" sz="1100" u="none" cap="none" strike="noStrike">
                <a:solidFill>
                  <a:srgbClr val="000000"/>
                </a:solidFill>
                <a:latin typeface="Arial"/>
                <a:ea typeface="Arial"/>
                <a:cs typeface="Arial"/>
                <a:sym typeface="Arial"/>
              </a:rPr>
              <a:t>. Designers can use a variety of methods to represent psychological data and these can be broken down into four main areas for representing the data; </a:t>
            </a:r>
            <a:r>
              <a:rPr b="1" i="0" lang="en-GB" sz="1100" u="none" cap="none" strike="noStrike">
                <a:solidFill>
                  <a:srgbClr val="000000"/>
                </a:solidFill>
                <a:latin typeface="Arial"/>
                <a:ea typeface="Arial"/>
                <a:cs typeface="Arial"/>
                <a:sym typeface="Arial"/>
              </a:rPr>
              <a:t>Nominal,</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Ordinal</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Interval </a:t>
            </a:r>
            <a:r>
              <a:rPr b="0" i="0" lang="en-GB" sz="1100" u="none" cap="none" strike="noStrike">
                <a:solidFill>
                  <a:srgbClr val="000000"/>
                </a:solidFill>
                <a:latin typeface="Arial"/>
                <a:ea typeface="Arial"/>
                <a:cs typeface="Arial"/>
                <a:sym typeface="Arial"/>
              </a:rPr>
              <a:t>and </a:t>
            </a:r>
            <a:r>
              <a:rPr b="1" i="0" lang="en-GB" sz="1100" u="none" cap="none" strike="noStrike">
                <a:solidFill>
                  <a:srgbClr val="000000"/>
                </a:solidFill>
                <a:latin typeface="Arial"/>
                <a:ea typeface="Arial"/>
                <a:cs typeface="Arial"/>
                <a:sym typeface="Arial"/>
              </a:rPr>
              <a:t>Ratio</a:t>
            </a:r>
            <a:r>
              <a:rPr b="0" i="0" lang="en-GB" sz="1100" u="none" cap="none" strike="noStrike">
                <a:solidFill>
                  <a:srgbClr val="000000"/>
                </a:solidFill>
                <a:latin typeface="Arial"/>
                <a:ea typeface="Arial"/>
                <a:cs typeface="Arial"/>
                <a:sym typeface="Arial"/>
              </a:rPr>
              <a:t> data scales. These are way of showing </a:t>
            </a:r>
            <a:r>
              <a:rPr b="1" i="0" lang="en-GB" sz="1100" u="none" cap="none" strike="noStrike">
                <a:solidFill>
                  <a:srgbClr val="000000"/>
                </a:solidFill>
                <a:latin typeface="Arial"/>
                <a:ea typeface="Arial"/>
                <a:cs typeface="Arial"/>
                <a:sym typeface="Arial"/>
              </a:rPr>
              <a:t>measurement variables</a:t>
            </a:r>
            <a:r>
              <a:rPr b="0" i="0" lang="en-GB" sz="1100" u="none" cap="none" strike="noStrike">
                <a:solidFill>
                  <a:srgbClr val="000000"/>
                </a:solidFill>
                <a:latin typeface="Arial"/>
                <a:ea typeface="Arial"/>
                <a:cs typeface="Arial"/>
                <a:sym typeface="Arial"/>
              </a:rPr>
              <a:t>, these are outlined below.</a:t>
            </a:r>
            <a:endParaRPr b="0" i="0" sz="1100" u="none" cap="none" strike="noStrike">
              <a:solidFill>
                <a:srgbClr val="000000"/>
              </a:solidFill>
              <a:latin typeface="Arial"/>
              <a:ea typeface="Arial"/>
              <a:cs typeface="Arial"/>
              <a:sym typeface="Arial"/>
            </a:endParaRPr>
          </a:p>
        </p:txBody>
      </p:sp>
      <p:sp>
        <p:nvSpPr>
          <p:cNvPr id="337" name="Google Shape;337;p36"/>
          <p:cNvSpPr txBox="1"/>
          <p:nvPr/>
        </p:nvSpPr>
        <p:spPr>
          <a:xfrm>
            <a:off x="2647300" y="1368868"/>
            <a:ext cx="6377700" cy="660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Nominal scales</a:t>
            </a:r>
            <a:r>
              <a:rPr b="0" i="0" lang="en-GB" sz="1200" u="none" cap="none" strike="noStrike">
                <a:solidFill>
                  <a:srgbClr val="000000"/>
                </a:solidFill>
                <a:latin typeface="Arial"/>
                <a:ea typeface="Arial"/>
                <a:cs typeface="Arial"/>
                <a:sym typeface="Arial"/>
              </a:rPr>
              <a:t>: </a:t>
            </a:r>
            <a:r>
              <a:rPr b="1" i="0" lang="en-GB" sz="1200" u="none" cap="none" strike="noStrike">
                <a:solidFill>
                  <a:srgbClr val="000000"/>
                </a:solidFill>
                <a:latin typeface="Arial"/>
                <a:ea typeface="Arial"/>
                <a:cs typeface="Arial"/>
                <a:sym typeface="Arial"/>
              </a:rPr>
              <a:t>Non numeric</a:t>
            </a:r>
            <a:r>
              <a:rPr b="0" i="0" lang="en-GB" sz="1200" u="none" cap="none" strike="noStrike">
                <a:solidFill>
                  <a:srgbClr val="000000"/>
                </a:solidFill>
                <a:latin typeface="Arial"/>
                <a:ea typeface="Arial"/>
                <a:cs typeface="Arial"/>
                <a:sym typeface="Arial"/>
              </a:rPr>
              <a:t> or where the numbers have </a:t>
            </a:r>
            <a:r>
              <a:rPr b="1" i="0" lang="en-GB" sz="1200" u="none" cap="none" strike="noStrike">
                <a:solidFill>
                  <a:srgbClr val="000000"/>
                </a:solidFill>
                <a:latin typeface="Arial"/>
                <a:ea typeface="Arial"/>
                <a:cs typeface="Arial"/>
                <a:sym typeface="Arial"/>
              </a:rPr>
              <a:t>no value</a:t>
            </a:r>
            <a:r>
              <a:rPr b="0" i="0" lang="en-GB" sz="1200" u="none" cap="none" strike="noStrike">
                <a:solidFill>
                  <a:srgbClr val="000000"/>
                </a:solidFill>
                <a:latin typeface="Arial"/>
                <a:ea typeface="Arial"/>
                <a:cs typeface="Arial"/>
                <a:sym typeface="Arial"/>
              </a:rPr>
              <a:t> - can be put in any order and it wouldn’t matter. Data represented on a nominal scale can be gender, race, location, hair colour, favourite pet etc.</a:t>
            </a:r>
            <a:endParaRPr b="0" i="0" sz="1200" u="none" cap="none" strike="noStrike">
              <a:solidFill>
                <a:srgbClr val="000000"/>
              </a:solidFill>
              <a:latin typeface="Arial"/>
              <a:ea typeface="Arial"/>
              <a:cs typeface="Arial"/>
              <a:sym typeface="Arial"/>
            </a:endParaRPr>
          </a:p>
        </p:txBody>
      </p:sp>
      <p:sp>
        <p:nvSpPr>
          <p:cNvPr id="338" name="Google Shape;338;p36"/>
          <p:cNvSpPr txBox="1"/>
          <p:nvPr/>
        </p:nvSpPr>
        <p:spPr>
          <a:xfrm>
            <a:off x="2647325" y="2029343"/>
            <a:ext cx="6377700" cy="1101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Ordinal scales</a:t>
            </a:r>
            <a:r>
              <a:rPr b="0" i="0" lang="en-GB" sz="1200" u="none" cap="none" strike="noStrike">
                <a:solidFill>
                  <a:srgbClr val="000000"/>
                </a:solidFill>
                <a:latin typeface="Arial"/>
                <a:ea typeface="Arial"/>
                <a:cs typeface="Arial"/>
                <a:sym typeface="Arial"/>
              </a:rPr>
              <a:t>: The order in which the data is show matters, but the differences between the values doesn’t - think of the word “order” - the order in which it is shown is important, like a ranking system. “Rate how awesome Design is from 1 to 10” - obviously its 10, but this is an </a:t>
            </a:r>
            <a:r>
              <a:rPr b="1" i="0" lang="en-GB" sz="1200" u="none" cap="none" strike="noStrike">
                <a:solidFill>
                  <a:srgbClr val="000000"/>
                </a:solidFill>
                <a:latin typeface="Arial"/>
                <a:ea typeface="Arial"/>
                <a:cs typeface="Arial"/>
                <a:sym typeface="Arial"/>
              </a:rPr>
              <a:t>ordinal scale</a:t>
            </a:r>
            <a:r>
              <a:rPr b="0" i="0" lang="en-GB" sz="1200" u="none" cap="none" strike="noStrike">
                <a:solidFill>
                  <a:srgbClr val="000000"/>
                </a:solidFill>
                <a:latin typeface="Arial"/>
                <a:ea typeface="Arial"/>
                <a:cs typeface="Arial"/>
                <a:sym typeface="Arial"/>
              </a:rPr>
              <a:t> of showing this data - other forms: difficult, position in a race, wellbeing (happy/sad)</a:t>
            </a:r>
            <a:endParaRPr b="0" i="0" sz="1200" u="none" cap="none" strike="noStrike">
              <a:solidFill>
                <a:srgbClr val="0000FF"/>
              </a:solidFill>
              <a:latin typeface="Arial"/>
              <a:ea typeface="Arial"/>
              <a:cs typeface="Arial"/>
              <a:sym typeface="Arial"/>
            </a:endParaRPr>
          </a:p>
        </p:txBody>
      </p:sp>
      <p:sp>
        <p:nvSpPr>
          <p:cNvPr id="339" name="Google Shape;339;p36"/>
          <p:cNvSpPr txBox="1"/>
          <p:nvPr/>
        </p:nvSpPr>
        <p:spPr>
          <a:xfrm>
            <a:off x="118950" y="3130966"/>
            <a:ext cx="4453200" cy="1170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Interval scales</a:t>
            </a:r>
            <a:r>
              <a:rPr b="0" i="0" lang="en-GB" sz="1200" u="none" cap="none" strike="noStrike">
                <a:solidFill>
                  <a:srgbClr val="000000"/>
                </a:solidFill>
                <a:latin typeface="Arial"/>
                <a:ea typeface="Arial"/>
                <a:cs typeface="Arial"/>
                <a:sym typeface="Arial"/>
              </a:rPr>
              <a:t>: The order in which the data is show </a:t>
            </a:r>
            <a:r>
              <a:rPr b="1" i="0" lang="en-GB" sz="1200" u="none" cap="none" strike="noStrike">
                <a:solidFill>
                  <a:srgbClr val="000000"/>
                </a:solidFill>
                <a:latin typeface="Arial"/>
                <a:ea typeface="Arial"/>
                <a:cs typeface="Arial"/>
                <a:sym typeface="Arial"/>
              </a:rPr>
              <a:t>now </a:t>
            </a:r>
            <a:r>
              <a:rPr b="0" i="0" lang="en-GB" sz="1200" u="none" cap="none" strike="noStrike">
                <a:solidFill>
                  <a:srgbClr val="000000"/>
                </a:solidFill>
                <a:latin typeface="Arial"/>
                <a:ea typeface="Arial"/>
                <a:cs typeface="Arial"/>
                <a:sym typeface="Arial"/>
              </a:rPr>
              <a:t>matters - or in posh words, “the order and differences between levels of a variable matter, but they are not in ration”. Interval scales are in reality the distance between values. For example, rise in temperature</a:t>
            </a:r>
            <a:r>
              <a:rPr lang="en-GB" sz="1200"/>
              <a:t>.</a:t>
            </a:r>
            <a:endParaRPr b="0" i="0" sz="1200" u="none" cap="none" strike="noStrike">
              <a:solidFill>
                <a:srgbClr val="0000FF"/>
              </a:solidFill>
              <a:latin typeface="Arial"/>
              <a:ea typeface="Arial"/>
              <a:cs typeface="Arial"/>
              <a:sym typeface="Arial"/>
            </a:endParaRPr>
          </a:p>
        </p:txBody>
      </p:sp>
      <p:sp>
        <p:nvSpPr>
          <p:cNvPr id="340" name="Google Shape;340;p36"/>
          <p:cNvSpPr txBox="1"/>
          <p:nvPr/>
        </p:nvSpPr>
        <p:spPr>
          <a:xfrm>
            <a:off x="4572000" y="3130966"/>
            <a:ext cx="4453200" cy="1170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Ratio scales</a:t>
            </a:r>
            <a:r>
              <a:rPr b="0" i="0" lang="en-GB" sz="1200" u="none" cap="none" strike="noStrike">
                <a:solidFill>
                  <a:srgbClr val="000000"/>
                </a:solidFill>
                <a:latin typeface="Arial"/>
                <a:ea typeface="Arial"/>
                <a:cs typeface="Arial"/>
                <a:sym typeface="Arial"/>
              </a:rPr>
              <a:t>: The number tell us how much of one thing we have in comparison to another thing. - with a </a:t>
            </a:r>
            <a:r>
              <a:rPr b="1" i="0" lang="en-GB" sz="1200" u="none" cap="none" strike="noStrike">
                <a:solidFill>
                  <a:srgbClr val="000000"/>
                </a:solidFill>
                <a:latin typeface="Arial"/>
                <a:ea typeface="Arial"/>
                <a:cs typeface="Arial"/>
                <a:sym typeface="Arial"/>
              </a:rPr>
              <a:t>ratio scale</a:t>
            </a:r>
            <a:r>
              <a:rPr b="0" i="0" lang="en-GB" sz="1200" u="none" cap="none" strike="noStrike">
                <a:solidFill>
                  <a:srgbClr val="000000"/>
                </a:solidFill>
                <a:latin typeface="Arial"/>
                <a:ea typeface="Arial"/>
                <a:cs typeface="Arial"/>
                <a:sym typeface="Arial"/>
              </a:rPr>
              <a:t> the order, differences, and ratio are all meaningful. For example; weight, height, length etc are all </a:t>
            </a:r>
            <a:r>
              <a:rPr b="1" i="0" lang="en-GB" sz="1200" u="none" cap="none" strike="noStrike">
                <a:solidFill>
                  <a:srgbClr val="000000"/>
                </a:solidFill>
                <a:latin typeface="Arial"/>
                <a:ea typeface="Arial"/>
                <a:cs typeface="Arial"/>
                <a:sym typeface="Arial"/>
              </a:rPr>
              <a:t>ratio scales</a:t>
            </a:r>
            <a:r>
              <a:rPr b="0" i="0" lang="en-GB" sz="1200" u="none" cap="none" strike="noStrike">
                <a:solidFill>
                  <a:srgbClr val="000000"/>
                </a:solidFill>
                <a:latin typeface="Arial"/>
                <a:ea typeface="Arial"/>
                <a:cs typeface="Arial"/>
                <a:sym typeface="Arial"/>
              </a:rPr>
              <a:t> as can directly compare them to other measurements - remember percentile ranges?</a:t>
            </a:r>
            <a:endParaRPr b="0" i="0" sz="1200" u="none" cap="none" strike="noStrike">
              <a:solidFill>
                <a:srgbClr val="0000FF"/>
              </a:solidFill>
              <a:latin typeface="Arial"/>
              <a:ea typeface="Arial"/>
              <a:cs typeface="Arial"/>
              <a:sym typeface="Arial"/>
            </a:endParaRPr>
          </a:p>
        </p:txBody>
      </p:sp>
      <p:sp>
        <p:nvSpPr>
          <p:cNvPr id="341" name="Google Shape;341;p36"/>
          <p:cNvSpPr txBox="1"/>
          <p:nvPr/>
        </p:nvSpPr>
        <p:spPr>
          <a:xfrm>
            <a:off x="124650" y="4312575"/>
            <a:ext cx="8894700" cy="769200"/>
          </a:xfrm>
          <a:prstGeom prst="rect">
            <a:avLst/>
          </a:prstGeom>
          <a:solidFill>
            <a:srgbClr val="F794B2">
              <a:alpha val="1772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dk2"/>
                </a:solidFill>
                <a:latin typeface="Arial"/>
                <a:ea typeface="Arial"/>
                <a:cs typeface="Arial"/>
                <a:sym typeface="Arial"/>
              </a:rPr>
              <a:t>Ordinal scales </a:t>
            </a:r>
            <a:r>
              <a:rPr b="0" i="0" lang="en-GB" sz="1200" u="none" cap="none" strike="noStrike">
                <a:solidFill>
                  <a:schemeClr val="dk2"/>
                </a:solidFill>
                <a:latin typeface="Arial"/>
                <a:ea typeface="Arial"/>
                <a:cs typeface="Arial"/>
                <a:sym typeface="Arial"/>
              </a:rPr>
              <a:t>are generally used for non-numeric concepts like satisfaction, happiness, comfort, likability, discomfort.</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dk2"/>
                </a:solidFill>
                <a:latin typeface="Arial"/>
                <a:ea typeface="Arial"/>
                <a:cs typeface="Arial"/>
                <a:sym typeface="Arial"/>
              </a:rPr>
              <a:t>Ordinal data</a:t>
            </a:r>
            <a:r>
              <a:rPr b="0" i="0" lang="en-GB" sz="1200" u="none" cap="none" strike="noStrike">
                <a:solidFill>
                  <a:schemeClr val="dk2"/>
                </a:solidFill>
                <a:latin typeface="Arial"/>
                <a:ea typeface="Arial"/>
                <a:cs typeface="Arial"/>
                <a:sym typeface="Arial"/>
              </a:rPr>
              <a:t> can be </a:t>
            </a:r>
            <a:r>
              <a:rPr b="1" i="0" lang="en-GB" sz="1200" u="none" cap="none" strike="noStrike">
                <a:solidFill>
                  <a:schemeClr val="dk2"/>
                </a:solidFill>
                <a:latin typeface="Arial"/>
                <a:ea typeface="Arial"/>
                <a:cs typeface="Arial"/>
                <a:sym typeface="Arial"/>
              </a:rPr>
              <a:t>qualitative </a:t>
            </a:r>
            <a:r>
              <a:rPr b="0" i="0" lang="en-GB" sz="1200" u="none" cap="none" strike="noStrike">
                <a:solidFill>
                  <a:schemeClr val="dk2"/>
                </a:solidFill>
                <a:latin typeface="Arial"/>
                <a:ea typeface="Arial"/>
                <a:cs typeface="Arial"/>
                <a:sym typeface="Arial"/>
              </a:rPr>
              <a:t>and can include: taste, smell, texture etc</a:t>
            </a:r>
            <a:endParaRPr b="0" i="0" sz="12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chemeClr val="dk2"/>
                </a:solidFill>
                <a:latin typeface="Arial"/>
                <a:ea typeface="Arial"/>
                <a:cs typeface="Arial"/>
                <a:sym typeface="Arial"/>
              </a:rPr>
              <a:t>Interval data </a:t>
            </a:r>
            <a:r>
              <a:rPr b="0" i="0" lang="en-GB" sz="1200" u="none" cap="none" strike="noStrike">
                <a:solidFill>
                  <a:schemeClr val="dk2"/>
                </a:solidFill>
                <a:latin typeface="Arial"/>
                <a:ea typeface="Arial"/>
                <a:cs typeface="Arial"/>
                <a:sym typeface="Arial"/>
              </a:rPr>
              <a:t>can be </a:t>
            </a:r>
            <a:r>
              <a:rPr b="1" i="0" lang="en-GB" sz="1200" u="none" cap="none" strike="noStrike">
                <a:solidFill>
                  <a:schemeClr val="dk2"/>
                </a:solidFill>
                <a:latin typeface="Arial"/>
                <a:ea typeface="Arial"/>
                <a:cs typeface="Arial"/>
                <a:sym typeface="Arial"/>
              </a:rPr>
              <a:t>quantitative</a:t>
            </a:r>
            <a:r>
              <a:rPr b="0" i="0" lang="en-GB" sz="1200" u="none" cap="none" strike="noStrike">
                <a:solidFill>
                  <a:schemeClr val="dk2"/>
                </a:solidFill>
                <a:latin typeface="Arial"/>
                <a:ea typeface="Arial"/>
                <a:cs typeface="Arial"/>
                <a:sym typeface="Arial"/>
              </a:rPr>
              <a:t> and include: sound, temperature, light etc.</a:t>
            </a:r>
            <a:endParaRPr b="0" i="0" sz="1200" u="none" cap="none" strike="noStrike">
              <a:solidFill>
                <a:schemeClr val="dk2"/>
              </a:solidFill>
              <a:latin typeface="Arial"/>
              <a:ea typeface="Arial"/>
              <a:cs typeface="Arial"/>
              <a:sym typeface="Arial"/>
            </a:endParaRPr>
          </a:p>
        </p:txBody>
      </p:sp>
      <p:pic>
        <p:nvPicPr>
          <p:cNvPr descr="This is the video that is shown in class.  For the purposes of this class, you will also need to remember the following:&#10;&#10;The level of measurement for scales is INTERVAL&#10;If you only have categorical variable with two values (either nominal or ordinal), the level of measurement will also be DICHOTOMOUS." id="342" name="Google Shape;342;p36" title="Unit 03 - VIDEO - Levels of Measurement">
            <a:hlinkClick r:id="rId3"/>
          </p:cNvPr>
          <p:cNvPicPr preferRelativeResize="0"/>
          <p:nvPr/>
        </p:nvPicPr>
        <p:blipFill>
          <a:blip r:embed="rId4">
            <a:alphaModFix/>
          </a:blip>
          <a:stretch>
            <a:fillRect/>
          </a:stretch>
        </p:blipFill>
        <p:spPr>
          <a:xfrm>
            <a:off x="38402" y="1380665"/>
            <a:ext cx="2571600" cy="1446525"/>
          </a:xfrm>
          <a:prstGeom prst="rect">
            <a:avLst/>
          </a:prstGeom>
          <a:noFill/>
          <a:ln>
            <a:noFill/>
          </a:ln>
        </p:spPr>
      </p:pic>
      <p:sp>
        <p:nvSpPr>
          <p:cNvPr id="343" name="Google Shape;343;p36"/>
          <p:cNvSpPr txBox="1"/>
          <p:nvPr/>
        </p:nvSpPr>
        <p:spPr>
          <a:xfrm>
            <a:off x="55943" y="-46928"/>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7"/>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37"/>
          <p:cNvSpPr txBox="1"/>
          <p:nvPr/>
        </p:nvSpPr>
        <p:spPr>
          <a:xfrm>
            <a:off x="108675" y="653088"/>
            <a:ext cx="8961000" cy="932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n-GB" sz="1100" u="none" cap="none" strike="noStrike">
                <a:solidFill>
                  <a:schemeClr val="dk1"/>
                </a:solidFill>
                <a:latin typeface="Arial"/>
                <a:ea typeface="Arial"/>
                <a:cs typeface="Arial"/>
                <a:sym typeface="Arial"/>
              </a:rPr>
              <a:t>Research in psychology is based on the scientific method of collecting data for analysis. The type of psychological data that is collected is based on the conceptualization (forming a concept or idea of something) of the design problem. The researcher selects a research method that will be appropriate to explore the issue (design problem) or design concept. An important aspect of collecting data is selecting an appropriate method and sample group that represents the target audience or user group of the population you are designing for. </a:t>
            </a:r>
            <a:endParaRPr b="0" i="0" sz="1200" u="none" cap="none" strike="noStrike">
              <a:solidFill>
                <a:srgbClr val="000000"/>
              </a:solidFill>
              <a:latin typeface="Arial"/>
              <a:ea typeface="Arial"/>
              <a:cs typeface="Arial"/>
              <a:sym typeface="Arial"/>
            </a:endParaRPr>
          </a:p>
        </p:txBody>
      </p:sp>
      <p:sp>
        <p:nvSpPr>
          <p:cNvPr id="350" name="Google Shape;350;p37"/>
          <p:cNvSpPr txBox="1"/>
          <p:nvPr/>
        </p:nvSpPr>
        <p:spPr>
          <a:xfrm>
            <a:off x="154525" y="1463125"/>
            <a:ext cx="4024800" cy="24939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Methods of collecting data</a:t>
            </a:r>
            <a:r>
              <a:rPr b="0" i="0" lang="en-GB"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Interviews</a:t>
            </a:r>
            <a:r>
              <a:rPr b="0" i="0" lang="en-GB" sz="1200" u="none" cap="none" strike="noStrike">
                <a:solidFill>
                  <a:srgbClr val="000000"/>
                </a:solidFill>
                <a:latin typeface="Arial"/>
                <a:ea typeface="Arial"/>
                <a:cs typeface="Arial"/>
                <a:sym typeface="Arial"/>
              </a:rPr>
              <a:t>: involves asking people questions to find out about their experiences and attitudes. These often require a pre written set of questions.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One problem with interviewing people is the concern that participants will not be truthful and tell the interviewer what they think is socially acceptable or desirable.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Surveys and Questionnaires</a:t>
            </a:r>
            <a:r>
              <a:rPr b="0" i="0" lang="en-GB" sz="1200" u="none" cap="none" strike="noStrike">
                <a:solidFill>
                  <a:srgbClr val="000000"/>
                </a:solidFill>
                <a:latin typeface="Arial"/>
                <a:ea typeface="Arial"/>
                <a:cs typeface="Arial"/>
                <a:sym typeface="Arial"/>
              </a:rPr>
              <a:t>: These require subjects to read </a:t>
            </a:r>
            <a:r>
              <a:rPr b="0" i="0" lang="en-GB" sz="1200" u="none" cap="none" strike="noStrike">
                <a:solidFill>
                  <a:schemeClr val="dk1"/>
                </a:solidFill>
                <a:latin typeface="Arial"/>
                <a:ea typeface="Arial"/>
                <a:cs typeface="Arial"/>
                <a:sym typeface="Arial"/>
              </a:rPr>
              <a:t>questions</a:t>
            </a:r>
            <a:r>
              <a:rPr b="0" i="0" lang="en-GB" sz="1200" u="none" cap="none" strike="noStrike">
                <a:solidFill>
                  <a:srgbClr val="000000"/>
                </a:solidFill>
                <a:latin typeface="Arial"/>
                <a:ea typeface="Arial"/>
                <a:cs typeface="Arial"/>
                <a:sym typeface="Arial"/>
              </a:rPr>
              <a:t> and mark their answers. Some psychologists observe behaviour and mental processes outside of the questions by administering standardised test.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51" name="Google Shape;351;p37"/>
          <p:cNvSpPr txBox="1"/>
          <p:nvPr/>
        </p:nvSpPr>
        <p:spPr>
          <a:xfrm>
            <a:off x="4243225" y="1463125"/>
            <a:ext cx="4900800" cy="2311500"/>
          </a:xfrm>
          <a:prstGeom prst="rect">
            <a:avLst/>
          </a:prstGeom>
          <a:solidFill>
            <a:srgbClr val="EAD1D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100" u="none" cap="none" strike="noStrike">
                <a:solidFill>
                  <a:srgbClr val="000000"/>
                </a:solidFill>
                <a:latin typeface="Arial"/>
                <a:ea typeface="Arial"/>
                <a:cs typeface="Arial"/>
                <a:sym typeface="Arial"/>
              </a:rPr>
              <a:t>Observation</a:t>
            </a:r>
            <a:r>
              <a:rPr b="0" i="0" lang="en-GB" sz="1100" u="none" cap="none" strike="noStrike">
                <a:solidFill>
                  <a:srgbClr val="000000"/>
                </a:solidFill>
                <a:latin typeface="Arial"/>
                <a:ea typeface="Arial"/>
                <a:cs typeface="Arial"/>
                <a:sym typeface="Arial"/>
              </a:rPr>
              <a:t>: In naturalistic observation, the psychologist observes behaviours in real world settings and makes no attempt to manipulate or control the situation. However many psychological observations take place in a lab or controlled environment where they can control variables. </a:t>
            </a:r>
            <a:endParaRPr b="0" i="0" sz="11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100" u="none" cap="none" strike="noStrike">
                <a:solidFill>
                  <a:srgbClr val="000000"/>
                </a:solidFill>
                <a:latin typeface="Arial"/>
                <a:ea typeface="Arial"/>
                <a:cs typeface="Arial"/>
                <a:sym typeface="Arial"/>
              </a:rPr>
              <a:t>Standardised tests</a:t>
            </a:r>
            <a:r>
              <a:rPr b="0" i="0" lang="en-GB" sz="1100" u="none" cap="none" strike="noStrike">
                <a:solidFill>
                  <a:srgbClr val="000000"/>
                </a:solidFill>
                <a:latin typeface="Arial"/>
                <a:ea typeface="Arial"/>
                <a:cs typeface="Arial"/>
                <a:sym typeface="Arial"/>
              </a:rPr>
              <a:t>: these allow the researcher to measure some aspect of the participant’s behaviour and/or mental processes, and compare each individuals results to others that have completed the same test.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100" u="none" cap="none" strike="noStrike">
                <a:solidFill>
                  <a:srgbClr val="000000"/>
                </a:solidFill>
                <a:latin typeface="Arial"/>
                <a:ea typeface="Arial"/>
                <a:cs typeface="Arial"/>
                <a:sym typeface="Arial"/>
              </a:rPr>
              <a:t>Case study</a:t>
            </a:r>
            <a:r>
              <a:rPr b="0" i="0" lang="en-GB" sz="1100" u="none" cap="none" strike="noStrike">
                <a:solidFill>
                  <a:srgbClr val="000000"/>
                </a:solidFill>
                <a:latin typeface="Arial"/>
                <a:ea typeface="Arial"/>
                <a:cs typeface="Arial"/>
                <a:sym typeface="Arial"/>
              </a:rPr>
              <a:t>: Provides and indepth examination of a single individual. This is great if you have a specific client in mind, but the results can not be generalised to the wider population. This is covered in more detail in User-centred Design.</a:t>
            </a:r>
            <a:endParaRPr b="0" i="0" sz="1100" u="none" cap="none" strike="noStrike">
              <a:solidFill>
                <a:srgbClr val="000000"/>
              </a:solidFill>
              <a:latin typeface="Arial"/>
              <a:ea typeface="Arial"/>
              <a:cs typeface="Arial"/>
              <a:sym typeface="Arial"/>
            </a:endParaRPr>
          </a:p>
        </p:txBody>
      </p:sp>
      <p:pic>
        <p:nvPicPr>
          <p:cNvPr descr="The video teaches the steps you should go through when designing a questionnaire or survey. It gives the example of Helen, who wants to increase her range of choconutties.&#10;&#10;For more help with writing good questions, see https://youtu.be/n34OnLnKzIg&#10;&#10;See https://creativemaths.net/videos/ for all of Dr Nic's videos organised by topic.&#10;&#10;#DrNicStats #Statistics" id="352" name="Google Shape;352;p37" title="Designing a Questionnaire or Survey - statistics help">
            <a:hlinkClick r:id="rId3"/>
          </p:cNvPr>
          <p:cNvPicPr preferRelativeResize="0"/>
          <p:nvPr/>
        </p:nvPicPr>
        <p:blipFill>
          <a:blip r:embed="rId4">
            <a:alphaModFix/>
          </a:blip>
          <a:stretch>
            <a:fillRect/>
          </a:stretch>
        </p:blipFill>
        <p:spPr>
          <a:xfrm>
            <a:off x="219679" y="4052575"/>
            <a:ext cx="1657077" cy="932100"/>
          </a:xfrm>
          <a:prstGeom prst="rect">
            <a:avLst/>
          </a:prstGeom>
          <a:noFill/>
          <a:ln>
            <a:noFill/>
          </a:ln>
        </p:spPr>
      </p:pic>
      <p:pic>
        <p:nvPicPr>
          <p:cNvPr descr="Good questions are necessary to get good data. There are many things to take into account when writing survey questions to avoid non-sampling error and bias. Dr Nic and Helen work on a questionnaire about chocolate, with a checklist.&#10;&#10;To find out how to develop a questionnaire, see the video https://youtu.be/FkX-t0Pgzzs&#10;&#10;#DrNicStats #Statistics" id="353" name="Google Shape;353;p37" title="Writing Good Survey Questions - Statistics Help">
            <a:hlinkClick r:id="rId5"/>
          </p:cNvPr>
          <p:cNvPicPr preferRelativeResize="0"/>
          <p:nvPr/>
        </p:nvPicPr>
        <p:blipFill>
          <a:blip r:embed="rId6">
            <a:alphaModFix/>
          </a:blip>
          <a:stretch>
            <a:fillRect/>
          </a:stretch>
        </p:blipFill>
        <p:spPr>
          <a:xfrm>
            <a:off x="2515575" y="4052575"/>
            <a:ext cx="1790225" cy="1007000"/>
          </a:xfrm>
          <a:prstGeom prst="rect">
            <a:avLst/>
          </a:prstGeom>
          <a:noFill/>
          <a:ln>
            <a:noFill/>
          </a:ln>
        </p:spPr>
      </p:pic>
      <p:pic>
        <p:nvPicPr>
          <p:cNvPr id="354" name="Google Shape;354;p37" title="Screenshot 2025-09-03 at 10.46.12 AM.png"/>
          <p:cNvPicPr preferRelativeResize="0"/>
          <p:nvPr/>
        </p:nvPicPr>
        <p:blipFill>
          <a:blip r:embed="rId7">
            <a:alphaModFix/>
          </a:blip>
          <a:stretch>
            <a:fillRect/>
          </a:stretch>
        </p:blipFill>
        <p:spPr>
          <a:xfrm>
            <a:off x="5010618" y="3986177"/>
            <a:ext cx="3656432" cy="1139800"/>
          </a:xfrm>
          <a:prstGeom prst="rect">
            <a:avLst/>
          </a:prstGeom>
          <a:noFill/>
          <a:ln>
            <a:noFill/>
          </a:ln>
        </p:spPr>
      </p:pic>
      <p:sp>
        <p:nvSpPr>
          <p:cNvPr id="355" name="Google Shape;355;p37"/>
          <p:cNvSpPr txBox="1"/>
          <p:nvPr/>
        </p:nvSpPr>
        <p:spPr>
          <a:xfrm>
            <a:off x="55943" y="-26466"/>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
        <p:nvSpPr>
          <p:cNvPr id="356" name="Google Shape;356;p37"/>
          <p:cNvSpPr txBox="1"/>
          <p:nvPr>
            <p:ph type="ctrTitle"/>
          </p:nvPr>
        </p:nvSpPr>
        <p:spPr>
          <a:xfrm>
            <a:off x="107800" y="405059"/>
            <a:ext cx="4464300" cy="3558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GB" sz="1200"/>
              <a:t>Method of collecting psychological data. </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8"/>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8"/>
          <p:cNvSpPr txBox="1"/>
          <p:nvPr/>
        </p:nvSpPr>
        <p:spPr>
          <a:xfrm>
            <a:off x="58900" y="640150"/>
            <a:ext cx="9003900" cy="53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 </a:t>
            </a:r>
            <a:r>
              <a:rPr b="1" i="0" lang="en-GB" sz="1200" u="none" cap="none" strike="noStrike">
                <a:solidFill>
                  <a:srgbClr val="000000"/>
                </a:solidFill>
                <a:highlight>
                  <a:srgbClr val="FFF2CC"/>
                </a:highlight>
                <a:latin typeface="Arial"/>
                <a:ea typeface="Arial"/>
                <a:cs typeface="Arial"/>
                <a:sym typeface="Arial"/>
              </a:rPr>
              <a:t>Human Information Processing System</a:t>
            </a:r>
            <a:r>
              <a:rPr b="0" i="0" lang="en-GB" sz="1200" u="none" cap="none" strike="noStrike">
                <a:solidFill>
                  <a:srgbClr val="000000"/>
                </a:solidFill>
                <a:latin typeface="Arial"/>
                <a:ea typeface="Arial"/>
                <a:cs typeface="Arial"/>
                <a:sym typeface="Arial"/>
              </a:rPr>
              <a:t> is related to how humans deal with all the information that surrounds them in their daily lives. The human sense of </a:t>
            </a:r>
            <a:r>
              <a:rPr b="1" i="0" lang="en-GB" sz="1200" u="none" cap="none" strike="noStrike">
                <a:solidFill>
                  <a:srgbClr val="000000"/>
                </a:solidFill>
                <a:latin typeface="Arial"/>
                <a:ea typeface="Arial"/>
                <a:cs typeface="Arial"/>
                <a:sym typeface="Arial"/>
              </a:rPr>
              <a:t>sight</a:t>
            </a:r>
            <a:r>
              <a:rPr b="0" i="0" lang="en-GB" sz="1200" u="none" cap="none" strike="noStrike">
                <a:solidFill>
                  <a:srgbClr val="000000"/>
                </a:solidFill>
                <a:latin typeface="Arial"/>
                <a:ea typeface="Arial"/>
                <a:cs typeface="Arial"/>
                <a:sym typeface="Arial"/>
              </a:rPr>
              <a:t>, </a:t>
            </a:r>
            <a:r>
              <a:rPr b="1" i="0" lang="en-GB" sz="1200" u="none" cap="none" strike="noStrike">
                <a:solidFill>
                  <a:srgbClr val="000000"/>
                </a:solidFill>
                <a:latin typeface="Arial"/>
                <a:ea typeface="Arial"/>
                <a:cs typeface="Arial"/>
                <a:sym typeface="Arial"/>
              </a:rPr>
              <a:t>hearing</a:t>
            </a:r>
            <a:r>
              <a:rPr b="0" i="0" lang="en-GB" sz="1200" u="none" cap="none" strike="noStrike">
                <a:solidFill>
                  <a:srgbClr val="000000"/>
                </a:solidFill>
                <a:latin typeface="Arial"/>
                <a:ea typeface="Arial"/>
                <a:cs typeface="Arial"/>
                <a:sym typeface="Arial"/>
              </a:rPr>
              <a:t>, </a:t>
            </a:r>
            <a:r>
              <a:rPr b="1" i="0" lang="en-GB" sz="1200" u="none" cap="none" strike="noStrike">
                <a:solidFill>
                  <a:srgbClr val="000000"/>
                </a:solidFill>
                <a:latin typeface="Arial"/>
                <a:ea typeface="Arial"/>
                <a:cs typeface="Arial"/>
                <a:sym typeface="Arial"/>
              </a:rPr>
              <a:t>touch</a:t>
            </a:r>
            <a:r>
              <a:rPr b="0" i="0" lang="en-GB" sz="1200" u="none" cap="none" strike="noStrike">
                <a:solidFill>
                  <a:srgbClr val="000000"/>
                </a:solidFill>
                <a:latin typeface="Arial"/>
                <a:ea typeface="Arial"/>
                <a:cs typeface="Arial"/>
                <a:sym typeface="Arial"/>
              </a:rPr>
              <a:t>, </a:t>
            </a:r>
            <a:r>
              <a:rPr b="1" i="0" lang="en-GB" sz="1200" u="none" cap="none" strike="noStrike">
                <a:solidFill>
                  <a:srgbClr val="000000"/>
                </a:solidFill>
                <a:latin typeface="Arial"/>
                <a:ea typeface="Arial"/>
                <a:cs typeface="Arial"/>
                <a:sym typeface="Arial"/>
              </a:rPr>
              <a:t>taste</a:t>
            </a:r>
            <a:r>
              <a:rPr b="0" i="0" lang="en-GB" sz="1200" u="none" cap="none" strike="noStrike">
                <a:solidFill>
                  <a:srgbClr val="000000"/>
                </a:solidFill>
                <a:latin typeface="Arial"/>
                <a:ea typeface="Arial"/>
                <a:cs typeface="Arial"/>
                <a:sym typeface="Arial"/>
              </a:rPr>
              <a:t> and </a:t>
            </a:r>
            <a:r>
              <a:rPr b="1" i="0" lang="en-GB" sz="1200" u="none" cap="none" strike="noStrike">
                <a:solidFill>
                  <a:srgbClr val="000000"/>
                </a:solidFill>
                <a:latin typeface="Arial"/>
                <a:ea typeface="Arial"/>
                <a:cs typeface="Arial"/>
                <a:sym typeface="Arial"/>
              </a:rPr>
              <a:t>smell </a:t>
            </a:r>
            <a:r>
              <a:rPr b="0" i="0" lang="en-GB" sz="1200" u="none" cap="none" strike="noStrike">
                <a:solidFill>
                  <a:srgbClr val="000000"/>
                </a:solidFill>
                <a:latin typeface="Arial"/>
                <a:ea typeface="Arial"/>
                <a:cs typeface="Arial"/>
                <a:sym typeface="Arial"/>
              </a:rPr>
              <a:t>all provide valuable information and feedback to humans.</a:t>
            </a:r>
            <a:endParaRPr b="0" i="0" sz="1200" u="none" cap="none" strike="noStrike">
              <a:solidFill>
                <a:srgbClr val="000000"/>
              </a:solidFill>
              <a:latin typeface="Arial"/>
              <a:ea typeface="Arial"/>
              <a:cs typeface="Arial"/>
              <a:sym typeface="Arial"/>
            </a:endParaRPr>
          </a:p>
        </p:txBody>
      </p:sp>
      <p:sp>
        <p:nvSpPr>
          <p:cNvPr id="363" name="Google Shape;363;p38"/>
          <p:cNvSpPr txBox="1"/>
          <p:nvPr/>
        </p:nvSpPr>
        <p:spPr>
          <a:xfrm>
            <a:off x="58900" y="1643725"/>
            <a:ext cx="4458300" cy="114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Human information processing systems (</a:t>
            </a:r>
            <a:r>
              <a:rPr b="1" i="0" lang="en-GB" sz="1200" u="none" cap="none" strike="noStrike">
                <a:solidFill>
                  <a:srgbClr val="000000"/>
                </a:solidFill>
                <a:latin typeface="Arial"/>
                <a:ea typeface="Arial"/>
                <a:cs typeface="Arial"/>
                <a:sym typeface="Arial"/>
              </a:rPr>
              <a:t>HIPS</a:t>
            </a:r>
            <a:r>
              <a:rPr b="0" i="0" lang="en-GB" sz="1200" u="none" cap="none" strike="noStrike">
                <a:solidFill>
                  <a:srgbClr val="000000"/>
                </a:solidFill>
                <a:latin typeface="Arial"/>
                <a:ea typeface="Arial"/>
                <a:cs typeface="Arial"/>
                <a:sym typeface="Arial"/>
              </a:rPr>
              <a:t>) theory compares the human brain to a computer, suggesting that we too are information processors, and it possible and desirable to study the internal cognitive processes in humans to find design opportunities.  </a:t>
            </a:r>
            <a:endParaRPr b="0" i="0" sz="1200" u="none" cap="none" strike="noStrike">
              <a:solidFill>
                <a:srgbClr val="000000"/>
              </a:solidFill>
              <a:latin typeface="Arial"/>
              <a:ea typeface="Arial"/>
              <a:cs typeface="Arial"/>
              <a:sym typeface="Arial"/>
            </a:endParaRPr>
          </a:p>
        </p:txBody>
      </p:sp>
      <p:sp>
        <p:nvSpPr>
          <p:cNvPr id="364" name="Google Shape;364;p38"/>
          <p:cNvSpPr txBox="1"/>
          <p:nvPr/>
        </p:nvSpPr>
        <p:spPr>
          <a:xfrm>
            <a:off x="11150" y="3656425"/>
            <a:ext cx="3071100" cy="1353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 computer gave psychologists a simple everyday object to use as a metaphor, or analogy to which they could compare human mental processing. The use of a computer as a tool for thinking and how the mind handles information is known as the </a:t>
            </a:r>
            <a:r>
              <a:rPr b="1" i="0" lang="en-GB" sz="1200" u="none" cap="none" strike="noStrike">
                <a:solidFill>
                  <a:srgbClr val="000000"/>
                </a:solidFill>
                <a:latin typeface="Arial"/>
                <a:ea typeface="Arial"/>
                <a:cs typeface="Arial"/>
                <a:sym typeface="Arial"/>
              </a:rPr>
              <a:t>Computer Analogy.</a:t>
            </a:r>
            <a:endParaRPr b="1" i="0" sz="1200" u="none" cap="none" strike="noStrike">
              <a:solidFill>
                <a:srgbClr val="000000"/>
              </a:solidFill>
              <a:latin typeface="Arial"/>
              <a:ea typeface="Arial"/>
              <a:cs typeface="Arial"/>
              <a:sym typeface="Arial"/>
            </a:endParaRPr>
          </a:p>
        </p:txBody>
      </p:sp>
      <p:sp>
        <p:nvSpPr>
          <p:cNvPr id="365" name="Google Shape;365;p38"/>
          <p:cNvSpPr txBox="1"/>
          <p:nvPr/>
        </p:nvSpPr>
        <p:spPr>
          <a:xfrm>
            <a:off x="4633975" y="2625450"/>
            <a:ext cx="4362000" cy="1353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 </a:t>
            </a:r>
            <a:r>
              <a:rPr b="1" i="0" lang="en-GB" sz="1200" u="none" cap="none" strike="noStrike">
                <a:solidFill>
                  <a:srgbClr val="000000"/>
                </a:solidFill>
                <a:latin typeface="Arial"/>
                <a:ea typeface="Arial"/>
                <a:cs typeface="Arial"/>
                <a:sym typeface="Arial"/>
              </a:rPr>
              <a:t>Information Processing</a:t>
            </a:r>
            <a:r>
              <a:rPr b="0" i="0" lang="en-GB" sz="1200" u="none" cap="none" strike="noStrike">
                <a:solidFill>
                  <a:srgbClr val="000000"/>
                </a:solidFill>
                <a:latin typeface="Arial"/>
                <a:ea typeface="Arial"/>
                <a:cs typeface="Arial"/>
                <a:sym typeface="Arial"/>
              </a:rPr>
              <a:t> approach characterises thinking as “the environment providing data, which is then transformed by our senses. The information can be stored, retrieved and transformed using “mental programmes”, with the result being behaviour responses”.  </a:t>
            </a:r>
            <a:r>
              <a:rPr b="0" i="0" lang="en-GB" sz="1200" u="none" cap="none" strike="noStrike">
                <a:solidFill>
                  <a:srgbClr val="0000FF"/>
                </a:solidFill>
                <a:latin typeface="Arial"/>
                <a:ea typeface="Arial"/>
                <a:cs typeface="Arial"/>
                <a:sym typeface="Arial"/>
              </a:rPr>
              <a:t>Why would a designer need to understand this process, and what use would it be for the designer? </a:t>
            </a:r>
            <a:endParaRPr b="0" i="0" sz="1200" u="none" cap="none" strike="noStrike">
              <a:solidFill>
                <a:srgbClr val="0000FF"/>
              </a:solidFill>
              <a:latin typeface="Arial"/>
              <a:ea typeface="Arial"/>
              <a:cs typeface="Arial"/>
              <a:sym typeface="Arial"/>
            </a:endParaRPr>
          </a:p>
        </p:txBody>
      </p:sp>
      <p:sp>
        <p:nvSpPr>
          <p:cNvPr id="366" name="Google Shape;366;p38"/>
          <p:cNvSpPr txBox="1"/>
          <p:nvPr/>
        </p:nvSpPr>
        <p:spPr>
          <a:xfrm>
            <a:off x="4711600" y="4124100"/>
            <a:ext cx="4302300" cy="894000"/>
          </a:xfrm>
          <a:prstGeom prst="rect">
            <a:avLst/>
          </a:prstGeom>
          <a:solidFill>
            <a:srgbClr val="741B4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Arial"/>
                <a:ea typeface="Arial"/>
                <a:cs typeface="Arial"/>
                <a:sym typeface="Arial"/>
              </a:rPr>
              <a:t>The Human Information Processing </a:t>
            </a:r>
            <a:r>
              <a:rPr b="0" i="0" lang="en-GB" sz="1200" u="none" cap="none" strike="noStrike">
                <a:solidFill>
                  <a:srgbClr val="FFFFFF"/>
                </a:solidFill>
                <a:latin typeface="Arial"/>
                <a:ea typeface="Arial"/>
                <a:cs typeface="Arial"/>
                <a:sym typeface="Arial"/>
              </a:rPr>
              <a:t>system is an automatic system that a person uses to interpret and react to stimuli. It normally comprises of inputs, processes (sensory, central, or motor) and outputs</a:t>
            </a:r>
            <a:endParaRPr b="0" i="0" sz="1200" u="none" cap="none" strike="noStrike">
              <a:solidFill>
                <a:srgbClr val="FFFFFF"/>
              </a:solidFill>
              <a:latin typeface="Arial"/>
              <a:ea typeface="Arial"/>
              <a:cs typeface="Arial"/>
              <a:sym typeface="Arial"/>
            </a:endParaRPr>
          </a:p>
        </p:txBody>
      </p:sp>
      <p:cxnSp>
        <p:nvCxnSpPr>
          <p:cNvPr id="367" name="Google Shape;367;p38"/>
          <p:cNvCxnSpPr/>
          <p:nvPr/>
        </p:nvCxnSpPr>
        <p:spPr>
          <a:xfrm>
            <a:off x="4616050" y="1485800"/>
            <a:ext cx="0" cy="3652200"/>
          </a:xfrm>
          <a:prstGeom prst="straightConnector1">
            <a:avLst/>
          </a:prstGeom>
          <a:noFill/>
          <a:ln cap="flat" cmpd="sng" w="9525">
            <a:solidFill>
              <a:schemeClr val="dk2"/>
            </a:solidFill>
            <a:prstDash val="solid"/>
            <a:round/>
            <a:headEnd len="sm" w="sm" type="none"/>
            <a:tailEnd len="sm" w="sm" type="none"/>
          </a:ln>
        </p:spPr>
      </p:cxnSp>
      <p:pic>
        <p:nvPicPr>
          <p:cNvPr id="368" name="Google Shape;368;p38" title="Screenshot 2025-09-03 at 10.46.51 AM.png"/>
          <p:cNvPicPr preferRelativeResize="0"/>
          <p:nvPr/>
        </p:nvPicPr>
        <p:blipFill>
          <a:blip r:embed="rId3">
            <a:alphaModFix/>
          </a:blip>
          <a:stretch>
            <a:fillRect/>
          </a:stretch>
        </p:blipFill>
        <p:spPr>
          <a:xfrm>
            <a:off x="214898" y="1211200"/>
            <a:ext cx="4302301" cy="515482"/>
          </a:xfrm>
          <a:prstGeom prst="rect">
            <a:avLst/>
          </a:prstGeom>
          <a:noFill/>
          <a:ln>
            <a:noFill/>
          </a:ln>
        </p:spPr>
      </p:pic>
      <p:pic>
        <p:nvPicPr>
          <p:cNvPr id="369" name="Google Shape;369;p38" title="Screenshot 2025-09-03 at 10.47.36 AM.png"/>
          <p:cNvPicPr preferRelativeResize="0"/>
          <p:nvPr/>
        </p:nvPicPr>
        <p:blipFill>
          <a:blip r:embed="rId4">
            <a:alphaModFix/>
          </a:blip>
          <a:stretch>
            <a:fillRect/>
          </a:stretch>
        </p:blipFill>
        <p:spPr>
          <a:xfrm>
            <a:off x="214899" y="2722800"/>
            <a:ext cx="4115517" cy="1009825"/>
          </a:xfrm>
          <a:prstGeom prst="rect">
            <a:avLst/>
          </a:prstGeom>
          <a:noFill/>
          <a:ln>
            <a:noFill/>
          </a:ln>
        </p:spPr>
      </p:pic>
      <p:sp>
        <p:nvSpPr>
          <p:cNvPr id="370" name="Google Shape;370;p38"/>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9"/>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9"/>
          <p:cNvSpPr txBox="1"/>
          <p:nvPr/>
        </p:nvSpPr>
        <p:spPr>
          <a:xfrm>
            <a:off x="130150" y="525300"/>
            <a:ext cx="8839200" cy="35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Scenario 1</a:t>
            </a:r>
            <a:r>
              <a:rPr b="0" i="0" lang="en-GB" sz="1200" u="none" cap="none" strike="noStrike">
                <a:solidFill>
                  <a:srgbClr val="000000"/>
                </a:solidFill>
                <a:latin typeface="Arial"/>
                <a:ea typeface="Arial"/>
                <a:cs typeface="Arial"/>
                <a:sym typeface="Arial"/>
              </a:rPr>
              <a:t>: Using a Mobile phone. Below is the information flow diagram for making a call on the mobile.</a:t>
            </a:r>
            <a:endParaRPr b="0" i="0" sz="1200" u="none" cap="none" strike="noStrike">
              <a:solidFill>
                <a:srgbClr val="000000"/>
              </a:solidFill>
              <a:latin typeface="Arial"/>
              <a:ea typeface="Arial"/>
              <a:cs typeface="Arial"/>
              <a:sym typeface="Arial"/>
            </a:endParaRPr>
          </a:p>
        </p:txBody>
      </p:sp>
      <p:sp>
        <p:nvSpPr>
          <p:cNvPr id="377" name="Google Shape;377;p39"/>
          <p:cNvSpPr txBox="1"/>
          <p:nvPr/>
        </p:nvSpPr>
        <p:spPr>
          <a:xfrm>
            <a:off x="130150" y="2400800"/>
            <a:ext cx="8839200" cy="35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Scenario 2</a:t>
            </a:r>
            <a:r>
              <a:rPr b="0" i="0" lang="en-GB" sz="1200" u="none" cap="none" strike="noStrike">
                <a:solidFill>
                  <a:srgbClr val="000000"/>
                </a:solidFill>
                <a:latin typeface="Arial"/>
                <a:ea typeface="Arial"/>
                <a:cs typeface="Arial"/>
                <a:sym typeface="Arial"/>
              </a:rPr>
              <a:t>: Driving a manual car. Below is the information flow diagram for slowing down in a manual transmission car.</a:t>
            </a:r>
            <a:endParaRPr b="0" i="0" sz="1200" u="none" cap="none" strike="noStrike">
              <a:solidFill>
                <a:srgbClr val="000000"/>
              </a:solidFill>
              <a:latin typeface="Arial"/>
              <a:ea typeface="Arial"/>
              <a:cs typeface="Arial"/>
              <a:sym typeface="Arial"/>
            </a:endParaRPr>
          </a:p>
        </p:txBody>
      </p:sp>
      <p:sp>
        <p:nvSpPr>
          <p:cNvPr id="378" name="Google Shape;378;p39"/>
          <p:cNvSpPr txBox="1"/>
          <p:nvPr/>
        </p:nvSpPr>
        <p:spPr>
          <a:xfrm>
            <a:off x="180900" y="4421850"/>
            <a:ext cx="8839200" cy="459900"/>
          </a:xfrm>
          <a:prstGeom prst="rect">
            <a:avLst/>
          </a:prstGeom>
          <a:solidFill>
            <a:srgbClr val="07376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FFFFFF"/>
                </a:solidFill>
                <a:latin typeface="Arial"/>
                <a:ea typeface="Arial"/>
                <a:cs typeface="Arial"/>
                <a:sym typeface="Arial"/>
              </a:rPr>
              <a:t>What scenarios can you think of? Writing them out in information flow diagrams.</a:t>
            </a:r>
            <a:endParaRPr b="0" i="0" sz="1400" u="none" cap="none" strike="noStrike">
              <a:solidFill>
                <a:srgbClr val="FFFFFF"/>
              </a:solidFill>
              <a:latin typeface="Arial"/>
              <a:ea typeface="Arial"/>
              <a:cs typeface="Arial"/>
              <a:sym typeface="Arial"/>
            </a:endParaRPr>
          </a:p>
        </p:txBody>
      </p:sp>
      <p:pic>
        <p:nvPicPr>
          <p:cNvPr id="379" name="Google Shape;379;p39" title="Screenshot 2025-09-03 at 10.48.54 AM.png"/>
          <p:cNvPicPr preferRelativeResize="0"/>
          <p:nvPr/>
        </p:nvPicPr>
        <p:blipFill>
          <a:blip r:embed="rId3">
            <a:alphaModFix/>
          </a:blip>
          <a:stretch>
            <a:fillRect/>
          </a:stretch>
        </p:blipFill>
        <p:spPr>
          <a:xfrm>
            <a:off x="266225" y="881100"/>
            <a:ext cx="8441683" cy="1519700"/>
          </a:xfrm>
          <a:prstGeom prst="rect">
            <a:avLst/>
          </a:prstGeom>
          <a:noFill/>
          <a:ln>
            <a:noFill/>
          </a:ln>
        </p:spPr>
      </p:pic>
      <p:pic>
        <p:nvPicPr>
          <p:cNvPr id="380" name="Google Shape;380;p39" title="Screenshot 2025-09-03 at 10.49.12 AM.png"/>
          <p:cNvPicPr preferRelativeResize="0"/>
          <p:nvPr/>
        </p:nvPicPr>
        <p:blipFill>
          <a:blip r:embed="rId4">
            <a:alphaModFix/>
          </a:blip>
          <a:stretch>
            <a:fillRect/>
          </a:stretch>
        </p:blipFill>
        <p:spPr>
          <a:xfrm>
            <a:off x="266225" y="2731100"/>
            <a:ext cx="8426545" cy="1519700"/>
          </a:xfrm>
          <a:prstGeom prst="rect">
            <a:avLst/>
          </a:prstGeom>
          <a:noFill/>
          <a:ln>
            <a:noFill/>
          </a:ln>
        </p:spPr>
      </p:pic>
      <p:sp>
        <p:nvSpPr>
          <p:cNvPr id="381" name="Google Shape;381;p39"/>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0"/>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0"/>
          <p:cNvSpPr txBox="1"/>
          <p:nvPr/>
        </p:nvSpPr>
        <p:spPr>
          <a:xfrm>
            <a:off x="80800" y="476650"/>
            <a:ext cx="8971200" cy="10533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Uncomfortable working environments can affect productivity and impact upon physical and mental health. </a:t>
            </a:r>
            <a:r>
              <a:rPr b="0" i="0" lang="en-GB" sz="1100" u="none" cap="none" strike="noStrike">
                <a:solidFill>
                  <a:srgbClr val="0000FF"/>
                </a:solidFill>
                <a:latin typeface="Arial"/>
                <a:ea typeface="Arial"/>
                <a:cs typeface="Arial"/>
                <a:sym typeface="Arial"/>
              </a:rPr>
              <a:t>As designers, why would you want to improve or reduced these conditions?</a:t>
            </a:r>
            <a:r>
              <a:rPr b="0" i="0" lang="en-GB" sz="1100" u="none" cap="none" strike="noStrike">
                <a:solidFill>
                  <a:srgbClr val="000000"/>
                </a:solidFill>
                <a:latin typeface="Arial"/>
                <a:ea typeface="Arial"/>
                <a:cs typeface="Arial"/>
                <a:sym typeface="Arial"/>
              </a:rPr>
              <a:t> Incorporating psychological, physiological and cognitive ergonomic theories into the workplace can remedy any uncomfortable environments. A few simple changes to the working environment can decrease stress levels, improve employee performance, reduce absenteeism  and contribute to the well being and moral of individuals.   </a:t>
            </a:r>
            <a:endParaRPr b="0" i="0" sz="1100" u="none" cap="none" strike="noStrike">
              <a:solidFill>
                <a:srgbClr val="000000"/>
              </a:solidFill>
              <a:latin typeface="Arial"/>
              <a:ea typeface="Arial"/>
              <a:cs typeface="Arial"/>
              <a:sym typeface="Arial"/>
            </a:endParaRPr>
          </a:p>
        </p:txBody>
      </p:sp>
      <p:sp>
        <p:nvSpPr>
          <p:cNvPr id="388" name="Google Shape;388;p40"/>
          <p:cNvSpPr txBox="1"/>
          <p:nvPr/>
        </p:nvSpPr>
        <p:spPr>
          <a:xfrm>
            <a:off x="70050" y="4633675"/>
            <a:ext cx="9003900" cy="5097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chemeClr val="dk1"/>
                </a:solidFill>
                <a:latin typeface="Arial"/>
                <a:ea typeface="Arial"/>
                <a:cs typeface="Arial"/>
                <a:sym typeface="Arial"/>
              </a:rPr>
              <a:t>Environment factors</a:t>
            </a:r>
            <a:r>
              <a:rPr b="0" i="0" lang="en-GB" sz="1100" u="none" cap="none" strike="noStrike">
                <a:solidFill>
                  <a:schemeClr val="dk1"/>
                </a:solidFill>
                <a:latin typeface="Arial"/>
                <a:ea typeface="Arial"/>
                <a:cs typeface="Arial"/>
                <a:sym typeface="Arial"/>
              </a:rPr>
              <a:t>: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Arial"/>
                <a:ea typeface="Arial"/>
                <a:cs typeface="Arial"/>
                <a:sym typeface="Arial"/>
              </a:rPr>
              <a:t>A set of psychological factors that can affect the performance of an individual that came from the environment that the individual is situated in.</a:t>
            </a:r>
            <a:endParaRPr b="0" i="0" sz="1100" u="none" cap="none" strike="noStrike">
              <a:solidFill>
                <a:schemeClr val="dk1"/>
              </a:solidFill>
              <a:latin typeface="Arial"/>
              <a:ea typeface="Arial"/>
              <a:cs typeface="Arial"/>
              <a:sym typeface="Arial"/>
            </a:endParaRPr>
          </a:p>
        </p:txBody>
      </p:sp>
      <p:sp>
        <p:nvSpPr>
          <p:cNvPr id="389" name="Google Shape;389;p40"/>
          <p:cNvSpPr txBox="1"/>
          <p:nvPr/>
        </p:nvSpPr>
        <p:spPr>
          <a:xfrm>
            <a:off x="53950" y="1343575"/>
            <a:ext cx="2981100" cy="3203700"/>
          </a:xfrm>
          <a:prstGeom prst="rect">
            <a:avLst/>
          </a:prstGeom>
          <a:solidFill>
            <a:srgbClr val="D9EAD3"/>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Light</a:t>
            </a:r>
            <a:r>
              <a:rPr b="0" i="0" lang="en-GB" sz="1200" u="none" cap="none" strike="noStrike">
                <a:solidFill>
                  <a:srgbClr val="000000"/>
                </a:solidFill>
                <a:latin typeface="Arial"/>
                <a:ea typeface="Arial"/>
                <a:cs typeface="Arial"/>
                <a:sym typeface="Arial"/>
              </a:rPr>
              <a:t>: Lighting can determine the visual sharpness that objects can be seen at. There are obvious safety issues associated with this. Alertness, productivity and performance can be affected by the light and particularly the source of that light.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Noise</a:t>
            </a:r>
            <a:r>
              <a:rPr b="0" i="0" lang="en-GB" sz="1200" u="none" cap="none" strike="noStrike">
                <a:solidFill>
                  <a:srgbClr val="000000"/>
                </a:solidFill>
                <a:latin typeface="Arial"/>
                <a:ea typeface="Arial"/>
                <a:cs typeface="Arial"/>
                <a:sym typeface="Arial"/>
              </a:rPr>
              <a:t>:  Excessive noise in the workplace can cause a number of issues for the employees. Tinnitus (permanent ringing) is a particularly nasty problem. The level at which an employer must assess the risk to their workers from noise, and provide information, PPE and training is 80dB in the UK. </a:t>
            </a:r>
            <a:r>
              <a:rPr b="0" i="0" lang="en-GB" sz="1200" u="none" cap="none" strike="noStrike">
                <a:solidFill>
                  <a:srgbClr val="0000FF"/>
                </a:solidFill>
                <a:latin typeface="Arial"/>
                <a:ea typeface="Arial"/>
                <a:cs typeface="Arial"/>
                <a:sym typeface="Arial"/>
              </a:rPr>
              <a:t>How loud is 80dB?</a:t>
            </a:r>
            <a:endParaRPr b="0" i="0" sz="1200" u="none" cap="none" strike="noStrike">
              <a:solidFill>
                <a:srgbClr val="0000FF"/>
              </a:solidFill>
              <a:latin typeface="Arial"/>
              <a:ea typeface="Arial"/>
              <a:cs typeface="Arial"/>
              <a:sym typeface="Arial"/>
            </a:endParaRPr>
          </a:p>
        </p:txBody>
      </p:sp>
      <p:sp>
        <p:nvSpPr>
          <p:cNvPr id="390" name="Google Shape;390;p40"/>
          <p:cNvSpPr txBox="1"/>
          <p:nvPr/>
        </p:nvSpPr>
        <p:spPr>
          <a:xfrm>
            <a:off x="3105350" y="1343575"/>
            <a:ext cx="2917200" cy="3203700"/>
          </a:xfrm>
          <a:prstGeom prst="rect">
            <a:avLst/>
          </a:prstGeom>
          <a:solidFill>
            <a:srgbClr val="D0E0E3"/>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Air quality</a:t>
            </a:r>
            <a:r>
              <a:rPr b="0" i="0" lang="en-GB" sz="1200" u="none" cap="none" strike="noStrike">
                <a:solidFill>
                  <a:srgbClr val="000000"/>
                </a:solidFill>
                <a:latin typeface="Arial"/>
                <a:ea typeface="Arial"/>
                <a:cs typeface="Arial"/>
                <a:sym typeface="Arial"/>
              </a:rPr>
              <a:t>: </a:t>
            </a:r>
            <a:r>
              <a:rPr b="0" i="0" lang="en-GB" sz="1200" u="none" cap="none" strike="noStrike">
                <a:solidFill>
                  <a:srgbClr val="666666"/>
                </a:solidFill>
                <a:latin typeface="Arial"/>
                <a:ea typeface="Arial"/>
                <a:cs typeface="Arial"/>
                <a:sym typeface="Arial"/>
              </a:rPr>
              <a:t>Temperature and humidity</a:t>
            </a:r>
            <a:r>
              <a:rPr b="0" i="0" lang="en-GB"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Thermal comfort describes a person’s psychological state of mind and involves a range of environmental factors which contribute to the thermal comfort of the workplace:</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Air temperature</a:t>
            </a:r>
            <a:r>
              <a:rPr b="0" i="0" lang="en-GB" sz="1200" u="none" cap="none" strike="noStrike">
                <a:solidFill>
                  <a:srgbClr val="000000"/>
                </a:solidFill>
                <a:latin typeface="Arial"/>
                <a:ea typeface="Arial"/>
                <a:cs typeface="Arial"/>
                <a:sym typeface="Arial"/>
              </a:rPr>
              <a:t> - The heat from the sun or radiating from heat sources.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Radiant temperature</a:t>
            </a:r>
            <a:r>
              <a:rPr b="0" i="0" lang="en-GB" sz="1200" u="none" cap="none" strike="noStrike">
                <a:solidFill>
                  <a:srgbClr val="000000"/>
                </a:solidFill>
                <a:latin typeface="Arial"/>
                <a:ea typeface="Arial"/>
                <a:cs typeface="Arial"/>
                <a:sym typeface="Arial"/>
              </a:rPr>
              <a:t> - the heat transferred from human bodies.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Air velocity</a:t>
            </a:r>
            <a:r>
              <a:rPr b="0" i="0" lang="en-GB" sz="1200" u="none" cap="none" strike="noStrike">
                <a:solidFill>
                  <a:srgbClr val="000000"/>
                </a:solidFill>
                <a:latin typeface="Arial"/>
                <a:ea typeface="Arial"/>
                <a:cs typeface="Arial"/>
                <a:sym typeface="Arial"/>
              </a:rPr>
              <a:t> -  The movement of air and the rate it moves at. Still air makes people feel stuffy. Moving air increases heat loss.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Humidity</a:t>
            </a:r>
            <a:r>
              <a:rPr b="0" i="0" lang="en-GB" sz="1200" u="none" cap="none" strike="noStrike">
                <a:solidFill>
                  <a:srgbClr val="000000"/>
                </a:solidFill>
                <a:latin typeface="Arial"/>
                <a:ea typeface="Arial"/>
                <a:cs typeface="Arial"/>
                <a:sym typeface="Arial"/>
              </a:rPr>
              <a:t> -  The moisture level of the air.</a:t>
            </a:r>
            <a:endParaRPr b="0" i="0" sz="1200" u="none" cap="none" strike="noStrike">
              <a:solidFill>
                <a:srgbClr val="000000"/>
              </a:solidFill>
              <a:latin typeface="Arial"/>
              <a:ea typeface="Arial"/>
              <a:cs typeface="Arial"/>
              <a:sym typeface="Arial"/>
            </a:endParaRPr>
          </a:p>
        </p:txBody>
      </p:sp>
      <p:sp>
        <p:nvSpPr>
          <p:cNvPr id="391" name="Google Shape;391;p40"/>
          <p:cNvSpPr txBox="1"/>
          <p:nvPr/>
        </p:nvSpPr>
        <p:spPr>
          <a:xfrm>
            <a:off x="6092850" y="1343575"/>
            <a:ext cx="2981100" cy="2167500"/>
          </a:xfrm>
          <a:prstGeom prst="rect">
            <a:avLst/>
          </a:prstGeom>
          <a:solidFill>
            <a:srgbClr val="D9D2E9"/>
          </a:solidFill>
          <a:ln cap="flat" cmpd="sng" w="9525">
            <a:solidFill>
              <a:srgbClr val="99999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Spatial issues</a:t>
            </a:r>
            <a:r>
              <a:rPr b="0" i="0" lang="en-GB" sz="1200" u="none" cap="none" strike="noStrike">
                <a:solidFill>
                  <a:srgbClr val="000000"/>
                </a:solidFill>
                <a:latin typeface="Arial"/>
                <a:ea typeface="Arial"/>
                <a:cs typeface="Arial"/>
                <a:sym typeface="Arial"/>
              </a:rPr>
              <a:t>: The space, colour and even the smell of the working environment can affect personal productivity and performance. Colour is be related to personal and aesthetic preference, while neutral smells are preferable.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Open plan offices encourages collaboration and communication, while “defensible spaces” are required for focused thinking - </a:t>
            </a:r>
            <a:r>
              <a:rPr b="0" i="0" lang="en-GB" sz="1200" u="none" cap="none" strike="noStrike">
                <a:solidFill>
                  <a:srgbClr val="0000FF"/>
                </a:solidFill>
                <a:latin typeface="Arial"/>
                <a:ea typeface="Arial"/>
                <a:cs typeface="Arial"/>
                <a:sym typeface="Arial"/>
              </a:rPr>
              <a:t>which do you prefer?</a:t>
            </a:r>
            <a:endParaRPr b="0" i="0" sz="1200" u="none" cap="none" strike="noStrike">
              <a:solidFill>
                <a:srgbClr val="0000FF"/>
              </a:solidFill>
              <a:latin typeface="Arial"/>
              <a:ea typeface="Arial"/>
              <a:cs typeface="Arial"/>
              <a:sym typeface="Arial"/>
            </a:endParaRPr>
          </a:p>
        </p:txBody>
      </p:sp>
      <p:pic>
        <p:nvPicPr>
          <p:cNvPr id="392" name="Google Shape;392;p40" title="Screenshot 2025-09-03 at 10.49.51 AM.png"/>
          <p:cNvPicPr preferRelativeResize="0"/>
          <p:nvPr/>
        </p:nvPicPr>
        <p:blipFill>
          <a:blip r:embed="rId3">
            <a:alphaModFix/>
          </a:blip>
          <a:stretch>
            <a:fillRect/>
          </a:stretch>
        </p:blipFill>
        <p:spPr>
          <a:xfrm>
            <a:off x="6092850" y="3534557"/>
            <a:ext cx="2981100" cy="1075644"/>
          </a:xfrm>
          <a:prstGeom prst="rect">
            <a:avLst/>
          </a:prstGeom>
          <a:noFill/>
          <a:ln>
            <a:noFill/>
          </a:ln>
        </p:spPr>
      </p:pic>
      <p:sp>
        <p:nvSpPr>
          <p:cNvPr id="393" name="Google Shape;393;p40"/>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1"/>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1"/>
          <p:cNvSpPr txBox="1"/>
          <p:nvPr/>
        </p:nvSpPr>
        <p:spPr>
          <a:xfrm>
            <a:off x="114000" y="510467"/>
            <a:ext cx="8916000" cy="899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It is worth considering the causes, effects and reasons for a breakdown in the </a:t>
            </a:r>
            <a:r>
              <a:rPr b="1" i="0" lang="en-GB" sz="1200" u="none" cap="none" strike="noStrike">
                <a:solidFill>
                  <a:srgbClr val="000000"/>
                </a:solidFill>
                <a:latin typeface="Arial"/>
                <a:ea typeface="Arial"/>
                <a:cs typeface="Arial"/>
                <a:sym typeface="Arial"/>
              </a:rPr>
              <a:t>human information processing system</a:t>
            </a:r>
            <a:r>
              <a:rPr b="0" i="0" lang="en-GB" sz="1200" u="none" cap="none" strike="noStrike">
                <a:solidFill>
                  <a:srgbClr val="000000"/>
                </a:solidFill>
                <a:latin typeface="Arial"/>
                <a:ea typeface="Arial"/>
                <a:cs typeface="Arial"/>
                <a:sym typeface="Arial"/>
              </a:rPr>
              <a:t>. The flow process may break down when the information inputs may be incompatible with the sensory receptors. At the </a:t>
            </a:r>
            <a:r>
              <a:rPr b="1" i="0" lang="en-GB" sz="1200" u="none" cap="none" strike="noStrike">
                <a:solidFill>
                  <a:srgbClr val="000000"/>
                </a:solidFill>
                <a:latin typeface="Arial"/>
                <a:ea typeface="Arial"/>
                <a:cs typeface="Arial"/>
                <a:sym typeface="Arial"/>
              </a:rPr>
              <a:t>process stage</a:t>
            </a:r>
            <a:r>
              <a:rPr b="0" i="0" lang="en-GB" sz="1200" u="none" cap="none" strike="noStrike">
                <a:solidFill>
                  <a:srgbClr val="000000"/>
                </a:solidFill>
                <a:latin typeface="Arial"/>
                <a:ea typeface="Arial"/>
                <a:cs typeface="Arial"/>
                <a:sym typeface="Arial"/>
              </a:rPr>
              <a:t>, the incoming information (</a:t>
            </a:r>
            <a:r>
              <a:rPr b="1" i="0" lang="en-GB" sz="1200" u="none" cap="none" strike="noStrike">
                <a:solidFill>
                  <a:srgbClr val="000000"/>
                </a:solidFill>
                <a:latin typeface="Arial"/>
                <a:ea typeface="Arial"/>
                <a:cs typeface="Arial"/>
                <a:sym typeface="Arial"/>
              </a:rPr>
              <a:t>input</a:t>
            </a:r>
            <a:r>
              <a:rPr b="0" i="0" lang="en-GB" sz="1200" u="none" cap="none" strike="noStrike">
                <a:solidFill>
                  <a:srgbClr val="000000"/>
                </a:solidFill>
                <a:latin typeface="Arial"/>
                <a:ea typeface="Arial"/>
                <a:cs typeface="Arial"/>
                <a:sym typeface="Arial"/>
              </a:rPr>
              <a:t>) may be incorrect, corrupted or a suitable response to the input may not be available. The </a:t>
            </a:r>
            <a:r>
              <a:rPr b="1" i="0" lang="en-GB" sz="1200" u="none" cap="none" strike="noStrike">
                <a:solidFill>
                  <a:srgbClr val="000000"/>
                </a:solidFill>
                <a:latin typeface="Arial"/>
                <a:ea typeface="Arial"/>
                <a:cs typeface="Arial"/>
                <a:sym typeface="Arial"/>
              </a:rPr>
              <a:t>output stage</a:t>
            </a:r>
            <a:r>
              <a:rPr b="0" i="0" lang="en-GB" sz="1200" u="none" cap="none" strike="noStrike">
                <a:solidFill>
                  <a:srgbClr val="000000"/>
                </a:solidFill>
                <a:latin typeface="Arial"/>
                <a:ea typeface="Arial"/>
                <a:cs typeface="Arial"/>
                <a:sym typeface="Arial"/>
              </a:rPr>
              <a:t> may be unable to perform the actions required by the central processing unit.</a:t>
            </a:r>
            <a:endParaRPr b="0" i="0" sz="1200" u="none" cap="none" strike="noStrike">
              <a:solidFill>
                <a:srgbClr val="000000"/>
              </a:solidFill>
              <a:latin typeface="Arial"/>
              <a:ea typeface="Arial"/>
              <a:cs typeface="Arial"/>
              <a:sym typeface="Arial"/>
            </a:endParaRPr>
          </a:p>
        </p:txBody>
      </p:sp>
      <p:sp>
        <p:nvSpPr>
          <p:cNvPr id="400" name="Google Shape;400;p41"/>
          <p:cNvSpPr txBox="1"/>
          <p:nvPr/>
        </p:nvSpPr>
        <p:spPr>
          <a:xfrm>
            <a:off x="722400" y="1297517"/>
            <a:ext cx="3039600" cy="4329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FF"/>
                </a:solidFill>
                <a:latin typeface="Arial"/>
                <a:ea typeface="Arial"/>
                <a:cs typeface="Arial"/>
                <a:sym typeface="Arial"/>
              </a:rPr>
              <a:t>Can you give some real world examples?</a:t>
            </a:r>
            <a:endParaRPr b="0" i="0" sz="1200" u="none" cap="none" strike="noStrike">
              <a:solidFill>
                <a:srgbClr val="0000FF"/>
              </a:solidFill>
              <a:latin typeface="Arial"/>
              <a:ea typeface="Arial"/>
              <a:cs typeface="Arial"/>
              <a:sym typeface="Arial"/>
            </a:endParaRPr>
          </a:p>
        </p:txBody>
      </p:sp>
      <p:sp>
        <p:nvSpPr>
          <p:cNvPr id="401" name="Google Shape;401;p41"/>
          <p:cNvSpPr txBox="1"/>
          <p:nvPr/>
        </p:nvSpPr>
        <p:spPr>
          <a:xfrm>
            <a:off x="0" y="3235300"/>
            <a:ext cx="5065800" cy="197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Psychological and Physiological</a:t>
            </a:r>
            <a:r>
              <a:rPr b="0" i="0" lang="en-GB" sz="1100" u="none" cap="none" strike="noStrike">
                <a:solidFill>
                  <a:srgbClr val="000000"/>
                </a:solidFill>
                <a:latin typeface="Arial"/>
                <a:ea typeface="Arial"/>
                <a:cs typeface="Arial"/>
                <a:sym typeface="Arial"/>
              </a:rPr>
              <a:t>: </a:t>
            </a:r>
            <a:r>
              <a:rPr b="0" i="0" lang="en-GB" sz="1100" u="none" cap="none" strike="noStrike">
                <a:solidFill>
                  <a:srgbClr val="666666"/>
                </a:solidFill>
                <a:highlight>
                  <a:srgbClr val="FFF2CC"/>
                </a:highlight>
                <a:latin typeface="Arial"/>
                <a:ea typeface="Arial"/>
                <a:cs typeface="Arial"/>
                <a:sym typeface="Arial"/>
              </a:rPr>
              <a:t>Breakdown</a:t>
            </a:r>
            <a:r>
              <a:rPr b="0" i="0" lang="en-GB"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Breakdown at the psychological and physiological level can be attributed to the ability a human to adequately process sensory information. For example this may be due to a change in the humans ability to recognise and quickly process a particular sound or visual alarm, especially if this warning signal is not regularly seen or heard.</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300"/>
              <a:buFont typeface="Arial"/>
              <a:buNone/>
            </a:pPr>
            <a:r>
              <a:t/>
            </a:r>
            <a:endParaRPr b="0" i="0" sz="3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If the information is compromised coming into the central processing stage, a suitable or timely response may be lost, and at the output stage the well fail at the psychological level, therefore affect the physical response may not be adequate to complete the task.</a:t>
            </a:r>
            <a:endParaRPr b="0" i="0" sz="1100" u="none" cap="none" strike="noStrike">
              <a:solidFill>
                <a:srgbClr val="000000"/>
              </a:solidFill>
              <a:latin typeface="Arial"/>
              <a:ea typeface="Arial"/>
              <a:cs typeface="Arial"/>
              <a:sym typeface="Arial"/>
            </a:endParaRPr>
          </a:p>
        </p:txBody>
      </p:sp>
      <p:sp>
        <p:nvSpPr>
          <p:cNvPr id="402" name="Google Shape;402;p41"/>
          <p:cNvSpPr txBox="1"/>
          <p:nvPr/>
        </p:nvSpPr>
        <p:spPr>
          <a:xfrm>
            <a:off x="5065700" y="1329750"/>
            <a:ext cx="3964200" cy="3742800"/>
          </a:xfrm>
          <a:prstGeom prst="rect">
            <a:avLst/>
          </a:prstGeom>
          <a:solidFill>
            <a:srgbClr val="A4C2F4"/>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Human Error</a:t>
            </a:r>
            <a:r>
              <a:rPr b="0" i="0" lang="en-GB"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Human error has been cited as a primary cause or contributing factor in numerous disasters and accidents. </a:t>
            </a:r>
            <a:r>
              <a:rPr b="1" i="0" lang="en-GB" sz="1100" u="none" cap="none" strike="noStrike">
                <a:solidFill>
                  <a:srgbClr val="FFFFFF"/>
                </a:solidFill>
                <a:latin typeface="Arial"/>
                <a:ea typeface="Arial"/>
                <a:cs typeface="Arial"/>
                <a:sym typeface="Arial"/>
              </a:rPr>
              <a:t>We will go into more detail with some examples on the next slide.</a:t>
            </a:r>
            <a:endParaRPr b="1" i="0" sz="11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Possible causes of the flow process breakdown</a:t>
            </a:r>
            <a:r>
              <a:rPr b="0" i="0" lang="en-GB"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n-GB" sz="1100" u="none" cap="none" strike="noStrike">
                <a:solidFill>
                  <a:srgbClr val="000000"/>
                </a:solidFill>
                <a:latin typeface="Arial"/>
                <a:ea typeface="Arial"/>
                <a:cs typeface="Arial"/>
                <a:sym typeface="Arial"/>
              </a:rPr>
              <a:t>Age</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skill level</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disability</a:t>
            </a:r>
            <a:r>
              <a:rPr b="0" i="0" lang="en-GB" sz="1100" u="none" cap="none" strike="noStrike">
                <a:solidFill>
                  <a:srgbClr val="000000"/>
                </a:solidFill>
                <a:latin typeface="Arial"/>
                <a:ea typeface="Arial"/>
                <a:cs typeface="Arial"/>
                <a:sym typeface="Arial"/>
              </a:rPr>
              <a:t>, </a:t>
            </a:r>
            <a:r>
              <a:rPr b="1" i="0" lang="en-GB" sz="1100" u="none" cap="none" strike="noStrike">
                <a:solidFill>
                  <a:srgbClr val="000000"/>
                </a:solidFill>
                <a:latin typeface="Arial"/>
                <a:ea typeface="Arial"/>
                <a:cs typeface="Arial"/>
                <a:sym typeface="Arial"/>
              </a:rPr>
              <a:t>infirmity</a:t>
            </a:r>
            <a:r>
              <a:rPr b="0" i="0" lang="en-GB" sz="1100" u="none" cap="none" strike="noStrike">
                <a:solidFill>
                  <a:srgbClr val="000000"/>
                </a:solidFill>
                <a:latin typeface="Arial"/>
                <a:ea typeface="Arial"/>
                <a:cs typeface="Arial"/>
                <a:sym typeface="Arial"/>
              </a:rPr>
              <a:t> or </a:t>
            </a:r>
            <a:r>
              <a:rPr b="1" i="0" lang="en-GB" sz="1100" u="none" cap="none" strike="noStrike">
                <a:solidFill>
                  <a:srgbClr val="000000"/>
                </a:solidFill>
                <a:latin typeface="Arial"/>
                <a:ea typeface="Arial"/>
                <a:cs typeface="Arial"/>
                <a:sym typeface="Arial"/>
              </a:rPr>
              <a:t>frailty</a:t>
            </a:r>
            <a:r>
              <a:rPr b="0" i="0" lang="en-GB"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 Young children may not have the size, strength or fine motor skills to perform the task.</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 Older people may not have the strength, manoeuvrability or flexibility to perform the task.</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 People with disabilities such as arthritis or Parkinson’s disease may not have the fine motor skills to perform the task quickly or accurately.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 Physical condition of the human - lack of hearing, sight, inquiry, pre existing condition can contribute to the breakdown of the process.</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03" name="Google Shape;403;p41" title="Screenshot 2025-09-03 at 10.50.20 AM.png"/>
          <p:cNvPicPr preferRelativeResize="0"/>
          <p:nvPr/>
        </p:nvPicPr>
        <p:blipFill>
          <a:blip r:embed="rId3">
            <a:alphaModFix/>
          </a:blip>
          <a:stretch>
            <a:fillRect/>
          </a:stretch>
        </p:blipFill>
        <p:spPr>
          <a:xfrm>
            <a:off x="333825" y="1654617"/>
            <a:ext cx="3683955" cy="1660800"/>
          </a:xfrm>
          <a:prstGeom prst="rect">
            <a:avLst/>
          </a:prstGeom>
          <a:noFill/>
          <a:ln>
            <a:noFill/>
          </a:ln>
        </p:spPr>
      </p:pic>
      <p:sp>
        <p:nvSpPr>
          <p:cNvPr id="404" name="Google Shape;404;p41"/>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2"/>
          <p:cNvSpPr txBox="1"/>
          <p:nvPr/>
        </p:nvSpPr>
        <p:spPr>
          <a:xfrm>
            <a:off x="53625" y="4570350"/>
            <a:ext cx="9031200" cy="526500"/>
          </a:xfrm>
          <a:prstGeom prst="rect">
            <a:avLst/>
          </a:prstGeom>
          <a:solidFill>
            <a:srgbClr val="38761D"/>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FFFFFF"/>
                </a:solidFill>
                <a:latin typeface="Arial"/>
                <a:ea typeface="Arial"/>
                <a:cs typeface="Arial"/>
                <a:sym typeface="Arial"/>
              </a:rPr>
              <a:t>Mistakes made by users (humans) are considered key contributors to major accidents or disasters. These can result in catastrophic consequences for people, property, and the environment. This would be considered a breakdown in the human information processing system.  </a:t>
            </a:r>
            <a:endParaRPr b="0" i="0" sz="1100" u="none" cap="none" strike="noStrike">
              <a:solidFill>
                <a:srgbClr val="FFFFFF"/>
              </a:solidFill>
              <a:latin typeface="Arial"/>
              <a:ea typeface="Arial"/>
              <a:cs typeface="Arial"/>
              <a:sym typeface="Arial"/>
            </a:endParaRPr>
          </a:p>
        </p:txBody>
      </p:sp>
      <p:sp>
        <p:nvSpPr>
          <p:cNvPr id="410" name="Google Shape;410;p42"/>
          <p:cNvSpPr txBox="1"/>
          <p:nvPr/>
        </p:nvSpPr>
        <p:spPr>
          <a:xfrm>
            <a:off x="13125" y="491092"/>
            <a:ext cx="9106200" cy="634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Human error has been seen as a key factor and associated with almost every major accident. Some of these has had huge catastrophic consequences for the people, property or environments where the incident occurred. </a:t>
            </a:r>
            <a:r>
              <a:rPr b="0" i="0" lang="en-GB" sz="1100" u="none" cap="none" strike="noStrike">
                <a:solidFill>
                  <a:srgbClr val="0000FF"/>
                </a:solidFill>
                <a:latin typeface="Arial"/>
                <a:ea typeface="Arial"/>
                <a:cs typeface="Arial"/>
                <a:sym typeface="Arial"/>
              </a:rPr>
              <a:t>As designers is it possible to design out human error with our products or systems?</a:t>
            </a:r>
            <a:endParaRPr b="0" i="0" sz="1100" u="none" cap="none" strike="noStrike">
              <a:solidFill>
                <a:srgbClr val="0000FF"/>
              </a:solidFill>
              <a:latin typeface="Arial"/>
              <a:ea typeface="Arial"/>
              <a:cs typeface="Arial"/>
              <a:sym typeface="Arial"/>
            </a:endParaRPr>
          </a:p>
        </p:txBody>
      </p:sp>
      <p:sp>
        <p:nvSpPr>
          <p:cNvPr id="411" name="Google Shape;411;p42"/>
          <p:cNvSpPr txBox="1"/>
          <p:nvPr/>
        </p:nvSpPr>
        <p:spPr>
          <a:xfrm>
            <a:off x="31775" y="1091807"/>
            <a:ext cx="9112200" cy="415800"/>
          </a:xfrm>
          <a:prstGeom prst="rect">
            <a:avLst/>
          </a:prstGeom>
          <a:noFill/>
          <a:ln>
            <a:noFill/>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Accidents that humans have contributed towards are not limited to any part of the world, or any particular industry. There are examples to be found from all over the world and history, here are a few examples:</a:t>
            </a:r>
            <a:endParaRPr b="0" i="0" sz="1100" u="none" cap="none" strike="noStrike">
              <a:solidFill>
                <a:srgbClr val="000000"/>
              </a:solidFill>
              <a:latin typeface="Arial"/>
              <a:ea typeface="Arial"/>
              <a:cs typeface="Arial"/>
              <a:sym typeface="Arial"/>
            </a:endParaRPr>
          </a:p>
        </p:txBody>
      </p:sp>
      <p:sp>
        <p:nvSpPr>
          <p:cNvPr id="412" name="Google Shape;412;p42"/>
          <p:cNvSpPr txBox="1"/>
          <p:nvPr/>
        </p:nvSpPr>
        <p:spPr>
          <a:xfrm>
            <a:off x="31775" y="2457000"/>
            <a:ext cx="2867100" cy="2045700"/>
          </a:xfrm>
          <a:prstGeom prst="rect">
            <a:avLst/>
          </a:prstGeom>
          <a:solidFill>
            <a:srgbClr val="E6B8A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The Bhopal disaster, also known as the Union Carbide disaster, was a major gas leak in India, and is considered the world’s worst industrial accident.</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It occured over night on 2nd of December 1984 at the Union Carbide Pesticide plant in Bhopal. Union Carbide is an American company. Over 500,000 people were exposed to methyl isocyanate (MIC) gas and other chemicals.</a:t>
            </a:r>
            <a:endParaRPr b="0" i="0" sz="1100" u="none" cap="none" strike="noStrike">
              <a:solidFill>
                <a:srgbClr val="000000"/>
              </a:solidFill>
              <a:latin typeface="Arial"/>
              <a:ea typeface="Arial"/>
              <a:cs typeface="Arial"/>
              <a:sym typeface="Arial"/>
            </a:endParaRPr>
          </a:p>
        </p:txBody>
      </p:sp>
      <p:sp>
        <p:nvSpPr>
          <p:cNvPr id="413" name="Google Shape;413;p42"/>
          <p:cNvSpPr txBox="1"/>
          <p:nvPr/>
        </p:nvSpPr>
        <p:spPr>
          <a:xfrm>
            <a:off x="3124750" y="2456975"/>
            <a:ext cx="2867100" cy="20457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The Chernobyl disaster was considered worst nuclear power plant accident in history in terms of monetary cost and casualties. This event is widely attributed to human error.</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It is one of only two events classified as a level 7 event (7 is the max) on the National Event Scale. The other being the Fukushima disaster in 2011. </a:t>
            </a:r>
            <a:endParaRPr b="0" i="0" sz="1100" u="none" cap="none" strike="noStrike">
              <a:solidFill>
                <a:srgbClr val="000000"/>
              </a:solidFill>
              <a:latin typeface="Arial"/>
              <a:ea typeface="Arial"/>
              <a:cs typeface="Arial"/>
              <a:sym typeface="Arial"/>
            </a:endParaRPr>
          </a:p>
        </p:txBody>
      </p:sp>
      <p:sp>
        <p:nvSpPr>
          <p:cNvPr id="414" name="Google Shape;414;p42"/>
          <p:cNvSpPr txBox="1"/>
          <p:nvPr/>
        </p:nvSpPr>
        <p:spPr>
          <a:xfrm>
            <a:off x="6217725" y="2457000"/>
            <a:ext cx="2867100" cy="2045700"/>
          </a:xfrm>
          <a:prstGeom prst="rect">
            <a:avLst/>
          </a:prstGeom>
          <a:solidFill>
            <a:srgbClr val="D0E0E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While the Southall train disaster is by no means the worst train accident ever, its link to human error and how this accident could have easily been avoided is well documented.</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Out of the 212 passengers on the train 139 were seriously injured and 7 people tragically died.</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400"/>
              <a:buFont typeface="Arial"/>
              <a:buNone/>
            </a:pPr>
            <a:r>
              <a:t/>
            </a:r>
            <a:endParaRPr b="0" i="0" sz="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n-GB" sz="1100" u="none" cap="none" strike="noStrike">
                <a:solidFill>
                  <a:srgbClr val="000000"/>
                </a:solidFill>
                <a:latin typeface="Arial"/>
                <a:ea typeface="Arial"/>
                <a:cs typeface="Arial"/>
                <a:sym typeface="Arial"/>
              </a:rPr>
              <a:t>More incidents from around the world can be seen here - </a:t>
            </a:r>
            <a:r>
              <a:rPr b="0" i="0" lang="en-GB" sz="800" u="sng" cap="none" strike="noStrike">
                <a:solidFill>
                  <a:schemeClr val="hlink"/>
                </a:solidFill>
                <a:latin typeface="Arial"/>
                <a:ea typeface="Arial"/>
                <a:cs typeface="Arial"/>
                <a:sym typeface="Arial"/>
                <a:hlinkClick r:id="rId3"/>
              </a:rPr>
              <a:t>LINK</a:t>
            </a:r>
            <a:endParaRPr b="0" i="0" sz="800" u="none" cap="none" strike="noStrike">
              <a:solidFill>
                <a:srgbClr val="000000"/>
              </a:solidFill>
              <a:latin typeface="Arial"/>
              <a:ea typeface="Arial"/>
              <a:cs typeface="Arial"/>
              <a:sym typeface="Arial"/>
            </a:endParaRPr>
          </a:p>
        </p:txBody>
      </p:sp>
      <p:pic>
        <p:nvPicPr>
          <p:cNvPr id="415" name="Google Shape;415;p42" title="1997 Southall train disaster 22 years later.mp4">
            <a:hlinkClick r:id="rId4"/>
          </p:cNvPr>
          <p:cNvPicPr preferRelativeResize="0"/>
          <p:nvPr/>
        </p:nvPicPr>
        <p:blipFill>
          <a:blip r:embed="rId5">
            <a:alphaModFix/>
          </a:blip>
          <a:stretch>
            <a:fillRect/>
          </a:stretch>
        </p:blipFill>
        <p:spPr>
          <a:xfrm>
            <a:off x="6722225" y="1441913"/>
            <a:ext cx="1858090" cy="1045175"/>
          </a:xfrm>
          <a:prstGeom prst="rect">
            <a:avLst/>
          </a:prstGeom>
          <a:noFill/>
          <a:ln>
            <a:noFill/>
          </a:ln>
        </p:spPr>
      </p:pic>
      <p:pic>
        <p:nvPicPr>
          <p:cNvPr id="416" name="Google Shape;416;p42" title="Chernobyl Disaster 1986- What really happened.mp4">
            <a:hlinkClick r:id="rId6"/>
          </p:cNvPr>
          <p:cNvPicPr preferRelativeResize="0"/>
          <p:nvPr/>
        </p:nvPicPr>
        <p:blipFill>
          <a:blip r:embed="rId7">
            <a:alphaModFix/>
          </a:blip>
          <a:stretch>
            <a:fillRect/>
          </a:stretch>
        </p:blipFill>
        <p:spPr>
          <a:xfrm>
            <a:off x="3646025" y="1511988"/>
            <a:ext cx="1608874" cy="905000"/>
          </a:xfrm>
          <a:prstGeom prst="rect">
            <a:avLst/>
          </a:prstGeom>
          <a:noFill/>
          <a:ln>
            <a:noFill/>
          </a:ln>
        </p:spPr>
      </p:pic>
      <p:pic>
        <p:nvPicPr>
          <p:cNvPr id="417" name="Google Shape;417;p42" title="Union Carbide disaster in Bhopal, India - December 3, 1984.mp4">
            <a:hlinkClick r:id="rId8"/>
          </p:cNvPr>
          <p:cNvPicPr preferRelativeResize="0"/>
          <p:nvPr/>
        </p:nvPicPr>
        <p:blipFill>
          <a:blip r:embed="rId9">
            <a:alphaModFix/>
          </a:blip>
          <a:stretch>
            <a:fillRect/>
          </a:stretch>
        </p:blipFill>
        <p:spPr>
          <a:xfrm>
            <a:off x="699400" y="1507532"/>
            <a:ext cx="1608874" cy="904999"/>
          </a:xfrm>
          <a:prstGeom prst="rect">
            <a:avLst/>
          </a:prstGeom>
          <a:noFill/>
          <a:ln>
            <a:noFill/>
          </a:ln>
        </p:spPr>
      </p:pic>
      <p:sp>
        <p:nvSpPr>
          <p:cNvPr id="418" name="Google Shape;418;p42"/>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3"/>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3"/>
          <p:cNvSpPr txBox="1"/>
          <p:nvPr/>
        </p:nvSpPr>
        <p:spPr>
          <a:xfrm>
            <a:off x="109250" y="4656650"/>
            <a:ext cx="8961900" cy="4161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Alertness: The level of vigilance, readiness, or caution of an individual.  </a:t>
            </a:r>
            <a:endParaRPr b="1" sz="1100">
              <a:solidFill>
                <a:schemeClr val="dk1"/>
              </a:solidFill>
            </a:endParaRPr>
          </a:p>
        </p:txBody>
      </p:sp>
      <p:sp>
        <p:nvSpPr>
          <p:cNvPr id="425" name="Google Shape;425;p43"/>
          <p:cNvSpPr txBox="1"/>
          <p:nvPr/>
        </p:nvSpPr>
        <p:spPr>
          <a:xfrm>
            <a:off x="101950" y="714825"/>
            <a:ext cx="8973600" cy="963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highlight>
                  <a:srgbClr val="FFF2CC"/>
                </a:highlight>
                <a:latin typeface="Arial"/>
                <a:ea typeface="Arial"/>
                <a:cs typeface="Arial"/>
                <a:sym typeface="Arial"/>
              </a:rPr>
              <a:t>Alertness</a:t>
            </a:r>
            <a:r>
              <a:rPr b="0" i="0" lang="en-GB" sz="1200" u="none" cap="none" strike="noStrike">
                <a:solidFill>
                  <a:srgbClr val="000000"/>
                </a:solidFill>
                <a:latin typeface="Arial"/>
                <a:ea typeface="Arial"/>
                <a:cs typeface="Arial"/>
                <a:sym typeface="Arial"/>
              </a:rPr>
              <a:t> has been recognised critical, foundation for successful </a:t>
            </a:r>
            <a:r>
              <a:rPr b="1" i="0" lang="en-GB" sz="1200" u="none" cap="none" strike="noStrike">
                <a:solidFill>
                  <a:srgbClr val="000000"/>
                </a:solidFill>
                <a:latin typeface="Arial"/>
                <a:ea typeface="Arial"/>
                <a:cs typeface="Arial"/>
                <a:sym typeface="Arial"/>
              </a:rPr>
              <a:t>decision </a:t>
            </a:r>
            <a:r>
              <a:rPr b="0" i="0" lang="en-GB" sz="1200" u="none" cap="none" strike="noStrike">
                <a:solidFill>
                  <a:srgbClr val="000000"/>
                </a:solidFill>
                <a:latin typeface="Arial"/>
                <a:ea typeface="Arial"/>
                <a:cs typeface="Arial"/>
                <a:sym typeface="Arial"/>
              </a:rPr>
              <a:t>making. </a:t>
            </a:r>
            <a:r>
              <a:rPr b="1" i="0" lang="en-GB" sz="1200" u="none" cap="none" strike="noStrike">
                <a:solidFill>
                  <a:srgbClr val="000000"/>
                </a:solidFill>
                <a:latin typeface="Arial"/>
                <a:ea typeface="Arial"/>
                <a:cs typeface="Arial"/>
                <a:sym typeface="Arial"/>
              </a:rPr>
              <a:t>Alertness </a:t>
            </a:r>
            <a:r>
              <a:rPr b="0" i="0" lang="en-GB" sz="1200" u="none" cap="none" strike="noStrike">
                <a:solidFill>
                  <a:srgbClr val="000000"/>
                </a:solidFill>
                <a:latin typeface="Arial"/>
                <a:ea typeface="Arial"/>
                <a:cs typeface="Arial"/>
                <a:sym typeface="Arial"/>
              </a:rPr>
              <a:t>is particularly important in complex and time sensitive activities such as air traffic control, health care, aviation, emergency response, military and police command etc. However, </a:t>
            </a:r>
            <a:r>
              <a:rPr b="1" i="0" lang="en-GB" sz="1200" u="none" cap="none" strike="noStrike">
                <a:solidFill>
                  <a:srgbClr val="000000"/>
                </a:solidFill>
                <a:latin typeface="Arial"/>
                <a:ea typeface="Arial"/>
                <a:cs typeface="Arial"/>
                <a:sym typeface="Arial"/>
              </a:rPr>
              <a:t>alertness</a:t>
            </a:r>
            <a:r>
              <a:rPr b="0" i="0" lang="en-GB" sz="1200" u="none" cap="none" strike="noStrike">
                <a:solidFill>
                  <a:srgbClr val="000000"/>
                </a:solidFill>
                <a:latin typeface="Arial"/>
                <a:ea typeface="Arial"/>
                <a:cs typeface="Arial"/>
                <a:sym typeface="Arial"/>
              </a:rPr>
              <a:t> is also a very important factor is less “high pressure” situation, but still complex difficult tasks such as driving a car or riding a bicycle - </a:t>
            </a:r>
            <a:r>
              <a:rPr b="0" i="0" lang="en-GB" sz="1200" u="none" cap="none" strike="noStrike">
                <a:solidFill>
                  <a:srgbClr val="0000FF"/>
                </a:solidFill>
                <a:latin typeface="Arial"/>
                <a:ea typeface="Arial"/>
                <a:cs typeface="Arial"/>
                <a:sym typeface="Arial"/>
              </a:rPr>
              <a:t>what other tasks can you think of?</a:t>
            </a:r>
            <a:endParaRPr b="0" i="0" sz="1200" u="none" cap="none" strike="noStrike">
              <a:solidFill>
                <a:srgbClr val="0000FF"/>
              </a:solidFill>
              <a:latin typeface="Arial"/>
              <a:ea typeface="Arial"/>
              <a:cs typeface="Arial"/>
              <a:sym typeface="Arial"/>
            </a:endParaRPr>
          </a:p>
        </p:txBody>
      </p:sp>
      <p:sp>
        <p:nvSpPr>
          <p:cNvPr id="426" name="Google Shape;426;p43"/>
          <p:cNvSpPr txBox="1"/>
          <p:nvPr/>
        </p:nvSpPr>
        <p:spPr>
          <a:xfrm>
            <a:off x="109175" y="1752500"/>
            <a:ext cx="3799500" cy="1391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In its basic form </a:t>
            </a:r>
            <a:r>
              <a:rPr b="1" i="0" lang="en-GB" sz="1200" u="none" cap="none" strike="noStrike">
                <a:solidFill>
                  <a:srgbClr val="000000"/>
                </a:solidFill>
                <a:latin typeface="Arial"/>
                <a:ea typeface="Arial"/>
                <a:cs typeface="Arial"/>
                <a:sym typeface="Arial"/>
              </a:rPr>
              <a:t>alertness</a:t>
            </a:r>
            <a:r>
              <a:rPr b="0" i="0" lang="en-GB" sz="1200" u="none" cap="none" strike="noStrike">
                <a:solidFill>
                  <a:srgbClr val="000000"/>
                </a:solidFill>
                <a:latin typeface="Arial"/>
                <a:ea typeface="Arial"/>
                <a:cs typeface="Arial"/>
                <a:sym typeface="Arial"/>
              </a:rPr>
              <a:t> means “being aware of what is happening in your vicinity, recognising any potential threats or dangers, in order to understand how information, events and one’s own actions will impact goals and objectives, both immediately and in the near future” - </a:t>
            </a:r>
            <a:r>
              <a:rPr b="0" i="0" lang="en-GB" sz="1200" u="none" cap="none" strike="noStrike">
                <a:solidFill>
                  <a:srgbClr val="0000FF"/>
                </a:solidFill>
                <a:latin typeface="Arial"/>
                <a:ea typeface="Arial"/>
                <a:cs typeface="Arial"/>
                <a:sym typeface="Arial"/>
              </a:rPr>
              <a:t>but what does this mean in the real world?</a:t>
            </a:r>
            <a:endParaRPr b="0" i="0" sz="12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FF"/>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27" name="Google Shape;427;p43"/>
          <p:cNvSpPr txBox="1"/>
          <p:nvPr/>
        </p:nvSpPr>
        <p:spPr>
          <a:xfrm>
            <a:off x="109250" y="3170925"/>
            <a:ext cx="8961900" cy="13914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People with a high level of </a:t>
            </a:r>
            <a:r>
              <a:rPr b="1" i="0" lang="en-GB" sz="1200" u="none" cap="none" strike="noStrike">
                <a:solidFill>
                  <a:srgbClr val="000000"/>
                </a:solidFill>
                <a:latin typeface="Arial"/>
                <a:ea typeface="Arial"/>
                <a:cs typeface="Arial"/>
                <a:sym typeface="Arial"/>
              </a:rPr>
              <a:t>alertness </a:t>
            </a:r>
            <a:r>
              <a:rPr b="0" i="0" lang="en-GB" sz="1200" u="none" cap="none" strike="noStrike">
                <a:solidFill>
                  <a:srgbClr val="000000"/>
                </a:solidFill>
                <a:latin typeface="Arial"/>
                <a:ea typeface="Arial"/>
                <a:cs typeface="Arial"/>
                <a:sym typeface="Arial"/>
              </a:rPr>
              <a:t>could be described as having an adept situational awareness, generally has a high degree of knowledge and understand of the information system they need to respond to (the inputs and outputs of the system), and is able to respond to a situation in a controlled and timely manner. This type of </a:t>
            </a:r>
            <a:r>
              <a:rPr b="1" i="0" lang="en-GB" sz="1200" u="none" cap="none" strike="noStrike">
                <a:solidFill>
                  <a:srgbClr val="000000"/>
                </a:solidFill>
                <a:latin typeface="Arial"/>
                <a:ea typeface="Arial"/>
                <a:cs typeface="Arial"/>
                <a:sym typeface="Arial"/>
              </a:rPr>
              <a:t>alertness</a:t>
            </a:r>
            <a:r>
              <a:rPr b="0" i="0" lang="en-GB" sz="1200" u="none" cap="none" strike="noStrike">
                <a:solidFill>
                  <a:srgbClr val="000000"/>
                </a:solidFill>
                <a:latin typeface="Arial"/>
                <a:ea typeface="Arial"/>
                <a:cs typeface="Arial"/>
                <a:sym typeface="Arial"/>
              </a:rPr>
              <a:t> does not have to describe working in high stress dangerous situations but can also be used to describe how humans live their everyday lives.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Lacking in adequate alertness has been identified as one of the primary factors in accidents attributed to human error. </a:t>
            </a:r>
            <a:r>
              <a:rPr b="0" i="0" lang="en-GB" sz="1200" u="none" cap="none" strike="noStrike">
                <a:solidFill>
                  <a:srgbClr val="0000FF"/>
                </a:solidFill>
                <a:latin typeface="Arial"/>
                <a:ea typeface="Arial"/>
                <a:cs typeface="Arial"/>
                <a:sym typeface="Arial"/>
              </a:rPr>
              <a:t>Can you think of a situation you have been in that alertness or lack of it has caused you problems?</a:t>
            </a:r>
            <a:endParaRPr b="0" i="0" sz="1200" u="none" cap="none" strike="noStrike">
              <a:solidFill>
                <a:srgbClr val="0000FF"/>
              </a:solidFill>
              <a:latin typeface="Arial"/>
              <a:ea typeface="Arial"/>
              <a:cs typeface="Arial"/>
              <a:sym typeface="Arial"/>
            </a:endParaRPr>
          </a:p>
        </p:txBody>
      </p:sp>
      <p:pic>
        <p:nvPicPr>
          <p:cNvPr id="428" name="Google Shape;428;p43" title="Screenshot 2025-09-02 at 12.55.52 PM.png"/>
          <p:cNvPicPr preferRelativeResize="0"/>
          <p:nvPr/>
        </p:nvPicPr>
        <p:blipFill>
          <a:blip r:embed="rId3">
            <a:alphaModFix/>
          </a:blip>
          <a:stretch>
            <a:fillRect/>
          </a:stretch>
        </p:blipFill>
        <p:spPr>
          <a:xfrm>
            <a:off x="3908679" y="1593425"/>
            <a:ext cx="4935921" cy="1635575"/>
          </a:xfrm>
          <a:prstGeom prst="rect">
            <a:avLst/>
          </a:prstGeom>
          <a:noFill/>
          <a:ln>
            <a:noFill/>
          </a:ln>
        </p:spPr>
      </p:pic>
      <p:sp>
        <p:nvSpPr>
          <p:cNvPr id="429" name="Google Shape;429;p43"/>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4"/>
          <p:cNvSpPr txBox="1"/>
          <p:nvPr>
            <p:ph type="ctrTitle"/>
          </p:nvPr>
        </p:nvSpPr>
        <p:spPr>
          <a:xfrm>
            <a:off x="202000" y="589150"/>
            <a:ext cx="1423200" cy="355800"/>
          </a:xfrm>
          <a:prstGeom prst="rect">
            <a:avLst/>
          </a:prstGeom>
          <a:solidFill>
            <a:srgbClr val="FFF2CC"/>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GB" sz="1400"/>
              <a:t>Perception. </a:t>
            </a:r>
            <a:endParaRPr sz="1400"/>
          </a:p>
        </p:txBody>
      </p:sp>
      <p:sp>
        <p:nvSpPr>
          <p:cNvPr id="435" name="Google Shape;435;p44"/>
          <p:cNvSpPr txBox="1"/>
          <p:nvPr/>
        </p:nvSpPr>
        <p:spPr>
          <a:xfrm>
            <a:off x="333825" y="881100"/>
            <a:ext cx="1278900" cy="76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44"/>
          <p:cNvSpPr txBox="1"/>
          <p:nvPr/>
        </p:nvSpPr>
        <p:spPr>
          <a:xfrm>
            <a:off x="49600" y="4859700"/>
            <a:ext cx="8988300" cy="283800"/>
          </a:xfrm>
          <a:prstGeom prst="rect">
            <a:avLst/>
          </a:prstGeom>
          <a:solidFill>
            <a:srgbClr val="FCE5C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GB" sz="1100">
                <a:solidFill>
                  <a:schemeClr val="dk1"/>
                </a:solidFill>
              </a:rPr>
              <a:t>Perception: The way in which something is regarded, understood or interpreted. </a:t>
            </a:r>
            <a:endParaRPr b="1" sz="1100">
              <a:solidFill>
                <a:schemeClr val="dk1"/>
              </a:solidFill>
            </a:endParaRPr>
          </a:p>
        </p:txBody>
      </p:sp>
      <p:sp>
        <p:nvSpPr>
          <p:cNvPr id="437" name="Google Shape;437;p44"/>
          <p:cNvSpPr txBox="1"/>
          <p:nvPr/>
        </p:nvSpPr>
        <p:spPr>
          <a:xfrm>
            <a:off x="4568425" y="573475"/>
            <a:ext cx="4472700" cy="1845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Perception</a:t>
            </a:r>
            <a:r>
              <a:rPr b="0" i="0" lang="en-GB" sz="1200" u="none" cap="none" strike="noStrike">
                <a:solidFill>
                  <a:srgbClr val="000000"/>
                </a:solidFill>
                <a:latin typeface="Arial"/>
                <a:ea typeface="Arial"/>
                <a:cs typeface="Arial"/>
                <a:sym typeface="Arial"/>
              </a:rPr>
              <a:t> differs from alertness as it relates to physical environment  of a situation and how you prioritise and order the information you receive from it. </a:t>
            </a:r>
            <a:r>
              <a:rPr b="1" i="0" lang="en-GB" sz="1200" u="none" cap="none" strike="noStrike">
                <a:solidFill>
                  <a:srgbClr val="000000"/>
                </a:solidFill>
                <a:latin typeface="Arial"/>
                <a:ea typeface="Arial"/>
                <a:cs typeface="Arial"/>
                <a:sym typeface="Arial"/>
              </a:rPr>
              <a:t>Alertness</a:t>
            </a:r>
            <a:r>
              <a:rPr b="0" i="0" lang="en-GB" sz="1200" u="none" cap="none" strike="noStrike">
                <a:solidFill>
                  <a:srgbClr val="000000"/>
                </a:solidFill>
                <a:latin typeface="Arial"/>
                <a:ea typeface="Arial"/>
                <a:cs typeface="Arial"/>
                <a:sym typeface="Arial"/>
              </a:rPr>
              <a:t> is how aware you are of what is going in in these situations.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 official definition of perception is, “Perception is the organization, identification, and interpretation of sensory information in order to represent and understand the presented information or environment”.</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38" name="Google Shape;438;p44"/>
          <p:cNvSpPr txBox="1"/>
          <p:nvPr/>
        </p:nvSpPr>
        <p:spPr>
          <a:xfrm>
            <a:off x="0" y="2484550"/>
            <a:ext cx="4548300" cy="2246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The mind is programmed and designed to create order when confronted with many objects or obstacles. The consequences of this is that human beings when using a product or service generally do not focus on the product itself, but see classes, groups or patterns of control and feedback when they are comfortable with the task.</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Arial"/>
                <a:ea typeface="Arial"/>
                <a:cs typeface="Arial"/>
                <a:sym typeface="Arial"/>
              </a:rPr>
              <a:t>Professional drivers, air traffic controllers, firefighters are required to have total and accurate situational awareness. They need to know what is going on in that environment and understand what to do in all circumstances. This means they have a high level of perception for the situations they are in.</a:t>
            </a:r>
            <a:endParaRPr b="0" i="0" sz="1200" u="none" cap="none" strike="noStrike">
              <a:solidFill>
                <a:srgbClr val="000000"/>
              </a:solidFill>
              <a:latin typeface="Arial"/>
              <a:ea typeface="Arial"/>
              <a:cs typeface="Arial"/>
              <a:sym typeface="Arial"/>
            </a:endParaRPr>
          </a:p>
        </p:txBody>
      </p:sp>
      <p:sp>
        <p:nvSpPr>
          <p:cNvPr id="439" name="Google Shape;439;p44"/>
          <p:cNvSpPr txBox="1"/>
          <p:nvPr/>
        </p:nvSpPr>
        <p:spPr>
          <a:xfrm>
            <a:off x="4617900" y="2413225"/>
            <a:ext cx="4472700" cy="2319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Perception </a:t>
            </a:r>
            <a:r>
              <a:rPr b="0" i="0" lang="en-GB" sz="1200" u="none" cap="none" strike="noStrike">
                <a:solidFill>
                  <a:srgbClr val="000000"/>
                </a:solidFill>
                <a:latin typeface="Arial"/>
                <a:ea typeface="Arial"/>
                <a:cs typeface="Arial"/>
                <a:sym typeface="Arial"/>
              </a:rPr>
              <a:t>has </a:t>
            </a:r>
            <a:r>
              <a:rPr b="1" i="0" lang="en-GB" sz="1200" u="none" cap="none" strike="noStrike">
                <a:solidFill>
                  <a:srgbClr val="000000"/>
                </a:solidFill>
                <a:latin typeface="Arial"/>
                <a:ea typeface="Arial"/>
                <a:cs typeface="Arial"/>
                <a:sym typeface="Arial"/>
              </a:rPr>
              <a:t>three</a:t>
            </a:r>
            <a:r>
              <a:rPr b="0" i="0" lang="en-GB" sz="1200" u="none" cap="none" strike="noStrike">
                <a:solidFill>
                  <a:srgbClr val="000000"/>
                </a:solidFill>
                <a:latin typeface="Arial"/>
                <a:ea typeface="Arial"/>
                <a:cs typeface="Arial"/>
                <a:sym typeface="Arial"/>
              </a:rPr>
              <a:t> levels of situational awareness: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Perception</a:t>
            </a:r>
            <a:r>
              <a:rPr b="0" i="0" lang="en-GB" sz="1200" u="none" cap="none" strike="noStrike">
                <a:solidFill>
                  <a:srgbClr val="000000"/>
                </a:solidFill>
                <a:latin typeface="Arial"/>
                <a:ea typeface="Arial"/>
                <a:cs typeface="Arial"/>
                <a:sym typeface="Arial"/>
              </a:rPr>
              <a:t> - refers to the awareness of relevant objects, people, systems or other environmental factors.</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Comprehension</a:t>
            </a:r>
            <a:r>
              <a:rPr b="0" i="0" lang="en-GB" sz="1200" u="none" cap="none" strike="noStrike">
                <a:solidFill>
                  <a:srgbClr val="000000"/>
                </a:solidFill>
                <a:latin typeface="Arial"/>
                <a:ea typeface="Arial"/>
                <a:cs typeface="Arial"/>
                <a:sym typeface="Arial"/>
              </a:rPr>
              <a:t> - understanding the meaning of what was perceived: recognising, interpreting and evaluating the significance of that information. </a:t>
            </a: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200"/>
              <a:buFont typeface="Arial"/>
              <a:buNone/>
            </a:pPr>
            <a:r>
              <a:rPr b="1" i="0" lang="en-GB" sz="1200" u="none" cap="none" strike="noStrike">
                <a:solidFill>
                  <a:srgbClr val="000000"/>
                </a:solidFill>
                <a:latin typeface="Arial"/>
                <a:ea typeface="Arial"/>
                <a:cs typeface="Arial"/>
                <a:sym typeface="Arial"/>
              </a:rPr>
              <a:t>Projection</a:t>
            </a:r>
            <a:r>
              <a:rPr b="0" i="0" lang="en-GB" sz="1200" u="none" cap="none" strike="noStrike">
                <a:solidFill>
                  <a:srgbClr val="000000"/>
                </a:solidFill>
                <a:latin typeface="Arial"/>
                <a:ea typeface="Arial"/>
                <a:cs typeface="Arial"/>
                <a:sym typeface="Arial"/>
              </a:rPr>
              <a:t> - the ability to predict what will happen in the near future, based on past experience, knowledge and understanding the dynamic elements of the situation or environment. Situational awareness is a complex phenomenon that depends on several basic and higher level cognitive processes.</a:t>
            </a:r>
            <a:endParaRPr b="0" i="0" sz="1200" u="none" cap="none" strike="noStrike">
              <a:solidFill>
                <a:srgbClr val="000000"/>
              </a:solidFill>
              <a:latin typeface="Arial"/>
              <a:ea typeface="Arial"/>
              <a:cs typeface="Arial"/>
              <a:sym typeface="Arial"/>
            </a:endParaRPr>
          </a:p>
        </p:txBody>
      </p:sp>
      <p:pic>
        <p:nvPicPr>
          <p:cNvPr id="440" name="Google Shape;440;p44" title="Screenshot 2025-09-03 at 10.50.47 AM.png"/>
          <p:cNvPicPr preferRelativeResize="0"/>
          <p:nvPr/>
        </p:nvPicPr>
        <p:blipFill rotWithShape="1">
          <a:blip r:embed="rId3">
            <a:alphaModFix/>
          </a:blip>
          <a:srcRect b="3908" l="0" r="0" t="6253"/>
          <a:stretch/>
        </p:blipFill>
        <p:spPr>
          <a:xfrm>
            <a:off x="136550" y="960575"/>
            <a:ext cx="4239025" cy="1611175"/>
          </a:xfrm>
          <a:prstGeom prst="rect">
            <a:avLst/>
          </a:prstGeom>
          <a:noFill/>
          <a:ln>
            <a:noFill/>
          </a:ln>
        </p:spPr>
      </p:pic>
      <p:sp>
        <p:nvSpPr>
          <p:cNvPr id="441" name="Google Shape;441;p44"/>
          <p:cNvSpPr txBox="1"/>
          <p:nvPr/>
        </p:nvSpPr>
        <p:spPr>
          <a:xfrm>
            <a:off x="47041" y="18043"/>
            <a:ext cx="8916900" cy="504000"/>
          </a:xfrm>
          <a:prstGeom prst="rect">
            <a:avLst/>
          </a:prstGeom>
          <a:solidFill>
            <a:srgbClr val="EAD1DC"/>
          </a:solid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GB" sz="1100">
                <a:solidFill>
                  <a:srgbClr val="351C75"/>
                </a:solidFill>
              </a:rPr>
              <a:t>A 1.1.7 Psychology is concerned with the study of the human mind and involves the study of all the human senses that may be involved in sending information to the brain</a:t>
            </a:r>
            <a:endParaRPr b="1" sz="1100">
              <a:solidFill>
                <a:srgbClr val="351C75"/>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45" title="Screenshot 2026-04-27 at 11.17.01 AM.png"/>
          <p:cNvPicPr preferRelativeResize="0"/>
          <p:nvPr/>
        </p:nvPicPr>
        <p:blipFill>
          <a:blip r:embed="rId3">
            <a:alphaModFix/>
          </a:blip>
          <a:stretch>
            <a:fillRect/>
          </a:stretch>
        </p:blipFill>
        <p:spPr>
          <a:xfrm>
            <a:off x="152400" y="339325"/>
            <a:ext cx="8839201" cy="18370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